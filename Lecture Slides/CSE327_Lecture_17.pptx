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2" autoAdjust="0"/>
    <p:restoredTop sz="94660"/>
  </p:normalViewPr>
  <p:slideViewPr>
    <p:cSldViewPr snapToGrid="0">
      <p:cViewPr varScale="1">
        <p:scale>
          <a:sx n="92" d="100"/>
          <a:sy n="92" d="100"/>
        </p:scale>
        <p:origin x="72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75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2350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769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187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20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9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47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8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756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79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630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60F38BAF-C250-4BB9-822C-A069F41A5FE5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E26CFC3C-79A1-4539-8A2E-DA7B928CC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830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CSE327 </a:t>
            </a:r>
            <a:b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Engineering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AKM Iqtidar Newaz [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IqN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</a:p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Lecture – 17</a:t>
            </a:r>
          </a:p>
          <a:p>
            <a:pPr algn="ctr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673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Regression Testing?</a:t>
            </a:r>
            <a:endParaRPr lang="en-US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Regression testing verifies that recent code changes (bug fixes, enhancements, or new features) haven’t adversely affected the existing functionality.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software quality and ensure stability across continuous updates.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772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430" y="62068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Where is Regression Testing Used?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17807"/>
            <a:ext cx="10515600" cy="4921537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Lifecycle: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Performed after bug fixes, refactoring, or adding new features.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into continuous integration (CI) pipelines for automated test runs.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Domains: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Critical systems like banking, healthcare, and e-commerce.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Large-scale software (operating systems, cloud services) where even minor regressions can be costly.</a:t>
            </a:r>
          </a:p>
          <a:p>
            <a:pPr lvl="1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/>
              <a:t>Rapid detection of issues.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/>
              <a:t>Ensuring that legacy features remain functional after updates.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/>
              <a:t>Increased developer confidence during iterative development.</a:t>
            </a:r>
            <a:endParaRPr lang="en-US" sz="20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025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6704"/>
            <a:ext cx="10058400" cy="1609344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 for Regression Testing in C++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8411"/>
          </a:xfrm>
        </p:spPr>
        <p:txBody>
          <a:bodyPr>
            <a:normAutofit/>
          </a:bodyPr>
          <a:lstStyle/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 Test (gtest):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Widely used, feature-rich testing framework.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assertions, fixtures, and parameterized tests.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CppUnit: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port of JUnit for C++, useful for those familiar with Java testing practices.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Boost.Test: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Part of the Boost library suite; integrates well with projects already using Boost.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Catch2: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modern, header-only testing framework that is easy to integrate and use.</a:t>
            </a:r>
          </a:p>
          <a:p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Continuous Integration Tools: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Jenkins, Travis CI, </a:t>
            </a:r>
            <a:r>
              <a:rPr lang="en-US" sz="2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GitLab</a:t>
            </a:r>
            <a:r>
              <a:rPr lang="en-US" sz="2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CI/CD, and others to automatically run regression tests after every code commit.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2943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4376" y="157544"/>
            <a:ext cx="10058400" cy="1609344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Code Example: Regression Testing with Google Test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766888"/>
            <a:ext cx="9351818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4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#include &lt;string&gt;</a:t>
            </a:r>
          </a:p>
          <a:p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struct Item {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double price;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int quantity;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};</a:t>
            </a:r>
          </a:p>
          <a:p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double </a:t>
            </a:r>
            <a:r>
              <a:rPr lang="en-US" sz="14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400" dirty="0" smtClean="0">
                <a:latin typeface="Consolas" panose="020B0609020204030204" pitchFamily="49" charset="0"/>
              </a:rPr>
              <a:t>(const std::vector&lt;Item&gt;&amp; cart, double discount = 0.0) {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double total = 0;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for (const auto&amp; item : cart) {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    total += </a:t>
            </a:r>
            <a:r>
              <a:rPr lang="en-US" sz="1400" dirty="0" err="1" smtClean="0">
                <a:latin typeface="Consolas" panose="020B0609020204030204" pitchFamily="49" charset="0"/>
              </a:rPr>
              <a:t>item.price</a:t>
            </a:r>
            <a:r>
              <a:rPr lang="en-US" sz="1400" dirty="0" smtClean="0">
                <a:latin typeface="Consolas" panose="020B0609020204030204" pitchFamily="49" charset="0"/>
              </a:rPr>
              <a:t> * </a:t>
            </a:r>
            <a:r>
              <a:rPr lang="en-US" sz="1400" dirty="0" err="1" smtClean="0">
                <a:latin typeface="Consolas" panose="020B0609020204030204" pitchFamily="49" charset="0"/>
              </a:rPr>
              <a:t>item.quantity</a:t>
            </a:r>
            <a:r>
              <a:rPr lang="en-US" sz="14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}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double </a:t>
            </a:r>
            <a:r>
              <a:rPr lang="en-US" sz="1400" dirty="0" err="1" smtClean="0">
                <a:latin typeface="Consolas" panose="020B0609020204030204" pitchFamily="49" charset="0"/>
              </a:rPr>
              <a:t>discountAmount</a:t>
            </a:r>
            <a:r>
              <a:rPr lang="en-US" sz="1400" dirty="0" smtClean="0">
                <a:latin typeface="Consolas" panose="020B0609020204030204" pitchFamily="49" charset="0"/>
              </a:rPr>
              <a:t> = total * discount / 100;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return total - </a:t>
            </a:r>
            <a:r>
              <a:rPr lang="en-US" sz="1400" dirty="0" err="1" smtClean="0">
                <a:latin typeface="Consolas" panose="020B0609020204030204" pitchFamily="49" charset="0"/>
              </a:rPr>
              <a:t>discountAmount</a:t>
            </a:r>
            <a:r>
              <a:rPr lang="en-US" sz="14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5057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3687"/>
            <a:ext cx="10058400" cy="1609344"/>
          </a:xfrm>
        </p:spPr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C++ Code Example: Regression Testing with Google Test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1690688"/>
            <a:ext cx="6096000" cy="526297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#include &lt;gtest/</a:t>
            </a:r>
            <a:r>
              <a:rPr lang="en-US" sz="1200" dirty="0" err="1" smtClean="0">
                <a:solidFill>
                  <a:srgbClr val="002060"/>
                </a:solidFill>
                <a:latin typeface="Consolas" panose="020B0609020204030204" pitchFamily="49" charset="0"/>
              </a:rPr>
              <a:t>gtest.h</a:t>
            </a:r>
            <a:r>
              <a:rPr lang="en-US" sz="12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&gt;</a:t>
            </a:r>
          </a:p>
          <a:p>
            <a:r>
              <a:rPr lang="en-US" sz="12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2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#include &lt;string&gt;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// Reuse the Item structure and </a:t>
            </a:r>
            <a:r>
              <a:rPr lang="en-US" sz="12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200" dirty="0" smtClean="0">
                <a:latin typeface="Consolas" panose="020B0609020204030204" pitchFamily="49" charset="0"/>
              </a:rPr>
              <a:t> function from above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TEST(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CalculateTotalTest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WithoutDiscount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std::vector&lt;Item&gt; cart =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{"Item A", 100, 2},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{"Item B", 50, 1}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// Expected total: 100*2 + 50*1 = 250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2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200" dirty="0" smtClean="0">
                <a:latin typeface="Consolas" panose="020B0609020204030204" pitchFamily="49" charset="0"/>
              </a:rPr>
              <a:t>(cart), 250.0);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TEST(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CalculateTotalTest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sz="12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WithDiscount</a:t>
            </a:r>
            <a:r>
              <a:rPr lang="en-US" sz="12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</a:t>
            </a:r>
            <a:r>
              <a:rPr lang="en-US" sz="12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std::vector&lt;Item&gt; cart =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{"Item A", 100, 2},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{"Item B", 50, 1}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// Expected total with 10% discount: 250 - 25 = 225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2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200" dirty="0" smtClean="0">
                <a:latin typeface="Consolas" panose="020B0609020204030204" pitchFamily="49" charset="0"/>
              </a:rPr>
              <a:t>(cart, 10), 225.0);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int main(int </a:t>
            </a:r>
            <a:r>
              <a:rPr lang="en-US" sz="1200" dirty="0" err="1" smtClean="0">
                <a:latin typeface="Consolas" panose="020B0609020204030204" pitchFamily="49" charset="0"/>
              </a:rPr>
              <a:t>argc</a:t>
            </a:r>
            <a:r>
              <a:rPr lang="en-US" sz="1200" dirty="0" smtClean="0">
                <a:latin typeface="Consolas" panose="020B0609020204030204" pitchFamily="49" charset="0"/>
              </a:rPr>
              <a:t>, char **</a:t>
            </a:r>
            <a:r>
              <a:rPr lang="en-US" sz="1200" dirty="0" err="1" smtClean="0">
                <a:latin typeface="Consolas" panose="020B0609020204030204" pitchFamily="49" charset="0"/>
              </a:rPr>
              <a:t>argv</a:t>
            </a:r>
            <a:r>
              <a:rPr lang="en-US" sz="1200" dirty="0" smtClean="0">
                <a:latin typeface="Consolas" panose="020B0609020204030204" pitchFamily="49" charset="0"/>
              </a:rPr>
              <a:t>)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::testing::</a:t>
            </a:r>
            <a:r>
              <a:rPr lang="en-US" sz="1200" dirty="0" err="1" smtClean="0">
                <a:latin typeface="Consolas" panose="020B0609020204030204" pitchFamily="49" charset="0"/>
              </a:rPr>
              <a:t>InitGoogleTest</a:t>
            </a:r>
            <a:r>
              <a:rPr lang="en-US" sz="1200" dirty="0" smtClean="0">
                <a:latin typeface="Consolas" panose="020B0609020204030204" pitchFamily="49" charset="0"/>
              </a:rPr>
              <a:t>(&amp;</a:t>
            </a:r>
            <a:r>
              <a:rPr lang="en-US" sz="1200" dirty="0" err="1" smtClean="0">
                <a:latin typeface="Consolas" panose="020B0609020204030204" pitchFamily="49" charset="0"/>
              </a:rPr>
              <a:t>argc</a:t>
            </a:r>
            <a:r>
              <a:rPr lang="en-US" sz="1200" dirty="0" smtClean="0">
                <a:latin typeface="Consolas" panose="020B0609020204030204" pitchFamily="49" charset="0"/>
              </a:rPr>
              <a:t>, </a:t>
            </a:r>
            <a:r>
              <a:rPr lang="en-US" sz="1200" dirty="0" err="1" smtClean="0">
                <a:latin typeface="Consolas" panose="020B0609020204030204" pitchFamily="49" charset="0"/>
              </a:rPr>
              <a:t>argv</a:t>
            </a:r>
            <a:r>
              <a:rPr lang="en-US" sz="12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return RUN_ALL_TESTS();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</a:t>
            </a: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190509" y="2995469"/>
            <a:ext cx="5001491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7030A0"/>
                </a:solidFill>
                <a:latin typeface="Consolas" panose="020B0609020204030204" pitchFamily="49" charset="0"/>
              </a:rPr>
              <a:t>Output:</a:t>
            </a:r>
          </a:p>
          <a:p>
            <a:endParaRPr lang="en-US" sz="1100" dirty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[==========] Running 2 tests from 1 test suite.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[----------] Global test environment set-up.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[----------] 2 tests from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</a:t>
            </a:r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[ RUN      ]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CalculateTotalTest.WithoutDiscount</a:t>
            </a:r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[       OK ]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CalculateTotalTest.WithoutDiscount</a:t>
            </a:r>
            <a:r>
              <a:rPr lang="en-US" sz="1100" dirty="0" smtClean="0">
                <a:latin typeface="Consolas" panose="020B0609020204030204" pitchFamily="49" charset="0"/>
              </a:rPr>
              <a:t> (0 </a:t>
            </a:r>
            <a:r>
              <a:rPr lang="en-US" sz="1100" dirty="0" err="1" smtClean="0">
                <a:latin typeface="Consolas" panose="020B0609020204030204" pitchFamily="49" charset="0"/>
              </a:rPr>
              <a:t>ms</a:t>
            </a:r>
            <a:r>
              <a:rPr lang="en-US" sz="11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 RUN      ]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CalculateTotalTest.WithDiscount</a:t>
            </a:r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[       OK ]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CalculateTotalTest.WithDiscount</a:t>
            </a:r>
            <a:r>
              <a:rPr lang="en-US" sz="1100" dirty="0" smtClean="0">
                <a:latin typeface="Consolas" panose="020B0609020204030204" pitchFamily="49" charset="0"/>
              </a:rPr>
              <a:t> (0 </a:t>
            </a:r>
            <a:r>
              <a:rPr lang="en-US" sz="1100" dirty="0" err="1" smtClean="0">
                <a:latin typeface="Consolas" panose="020B0609020204030204" pitchFamily="49" charset="0"/>
              </a:rPr>
              <a:t>ms</a:t>
            </a:r>
            <a:r>
              <a:rPr lang="en-US" sz="11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[----------] 2 tests from </a:t>
            </a:r>
            <a:r>
              <a:rPr lang="en-US" sz="1100" dirty="0" err="1" smtClean="0">
                <a:latin typeface="Consolas" panose="020B0609020204030204" pitchFamily="49" charset="0"/>
              </a:rPr>
              <a:t>CalculateTotalTest</a:t>
            </a:r>
            <a:r>
              <a:rPr lang="en-US" sz="1100" dirty="0" smtClean="0">
                <a:latin typeface="Consolas" panose="020B0609020204030204" pitchFamily="49" charset="0"/>
              </a:rPr>
              <a:t> (0 </a:t>
            </a:r>
            <a:r>
              <a:rPr lang="en-US" sz="1100" dirty="0" err="1" smtClean="0">
                <a:latin typeface="Consolas" panose="020B0609020204030204" pitchFamily="49" charset="0"/>
              </a:rPr>
              <a:t>ms</a:t>
            </a:r>
            <a:r>
              <a:rPr lang="en-US" sz="1100" dirty="0" smtClean="0">
                <a:latin typeface="Consolas" panose="020B0609020204030204" pitchFamily="49" charset="0"/>
              </a:rPr>
              <a:t> total)</a:t>
            </a:r>
          </a:p>
          <a:p>
            <a:endParaRPr lang="en-US" sz="1100" dirty="0" smtClean="0">
              <a:latin typeface="Consolas" panose="020B0609020204030204" pitchFamily="49" charset="0"/>
            </a:endParaRPr>
          </a:p>
          <a:p>
            <a:r>
              <a:rPr lang="en-US" sz="1100" dirty="0" smtClean="0">
                <a:latin typeface="Consolas" panose="020B0609020204030204" pitchFamily="49" charset="0"/>
              </a:rPr>
              <a:t>[----------] Global test environment tear-down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[==========] 2 tests from 1 test suite ran. (0 </a:t>
            </a:r>
            <a:r>
              <a:rPr lang="en-US" sz="1100" dirty="0" err="1" smtClean="0">
                <a:latin typeface="Consolas" panose="020B0609020204030204" pitchFamily="49" charset="0"/>
              </a:rPr>
              <a:t>ms</a:t>
            </a:r>
            <a:r>
              <a:rPr lang="en-US" sz="1100" dirty="0" smtClean="0">
                <a:latin typeface="Consolas" panose="020B0609020204030204" pitchFamily="49" charset="0"/>
              </a:rPr>
              <a:t> total)</a:t>
            </a:r>
          </a:p>
          <a:p>
            <a:r>
              <a:rPr lang="en-US" sz="1100" dirty="0" smtClean="0">
                <a:latin typeface="Consolas" panose="020B0609020204030204" pitchFamily="49" charset="0"/>
              </a:rPr>
              <a:t>[  PASSED  ] 2 tests.</a:t>
            </a:r>
            <a:endParaRPr lang="en-US" sz="1100" dirty="0">
              <a:latin typeface="Consolas" panose="020B0609020204030204" pitchFamily="49" charset="0"/>
            </a:endParaRPr>
          </a:p>
        </p:txBody>
      </p:sp>
      <p:cxnSp>
        <p:nvCxnSpPr>
          <p:cNvPr id="10" name="Straight Connector 9"/>
          <p:cNvCxnSpPr/>
          <p:nvPr/>
        </p:nvCxnSpPr>
        <p:spPr>
          <a:xfrm>
            <a:off x="6871855" y="2348345"/>
            <a:ext cx="13854" cy="3775364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51341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4291" y="111397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Example: OOP-Based Shopping Cart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25581" y="1436960"/>
            <a:ext cx="6096000" cy="332398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>
                <a:latin typeface="Consolas" panose="020B0609020204030204" pitchFamily="49" charset="0"/>
              </a:rPr>
              <a:t>#include &lt;gtest/</a:t>
            </a:r>
            <a:r>
              <a:rPr lang="en-US" sz="1400" dirty="0" err="1" smtClean="0">
                <a:latin typeface="Consolas" panose="020B0609020204030204" pitchFamily="49" charset="0"/>
              </a:rPr>
              <a:t>gtest.h</a:t>
            </a:r>
            <a:r>
              <a:rPr lang="en-US" sz="1400" dirty="0" smtClean="0">
                <a:latin typeface="Consolas" panose="020B0609020204030204" pitchFamily="49" charset="0"/>
              </a:rPr>
              <a:t>&gt;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#include &lt;vector&gt;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#include &lt;string&gt;</a:t>
            </a:r>
          </a:p>
          <a:p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// Class representing an individual item.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class Item {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public: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std::string name;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double price;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int quantity;</a:t>
            </a:r>
          </a:p>
          <a:p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    // Constructor initializes the item's properties.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Item(const std::string &amp;n, double p, int q)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    : name(n), price(p), quantity(q) {}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};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0" y="1436960"/>
            <a:ext cx="6096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 smtClean="0">
                <a:latin typeface="Consolas" panose="020B0609020204030204" pitchFamily="49" charset="0"/>
              </a:rPr>
              <a:t>// Class representing a shopping cart.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class </a:t>
            </a:r>
            <a:r>
              <a:rPr lang="en-US" sz="1200" dirty="0" err="1" smtClean="0">
                <a:latin typeface="Consolas" panose="020B0609020204030204" pitchFamily="49" charset="0"/>
              </a:rPr>
              <a:t>ShoppingCart</a:t>
            </a:r>
            <a:r>
              <a:rPr lang="en-US" sz="1200" dirty="0" smtClean="0">
                <a:latin typeface="Consolas" panose="020B0609020204030204" pitchFamily="49" charset="0"/>
              </a:rPr>
              <a:t>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private: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std::vector&lt;Item&gt; items;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public: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// Add an item to the cart.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void </a:t>
            </a:r>
            <a:r>
              <a:rPr lang="en-US" sz="1200" dirty="0" err="1" smtClean="0">
                <a:latin typeface="Consolas" panose="020B0609020204030204" pitchFamily="49" charset="0"/>
              </a:rPr>
              <a:t>addItem</a:t>
            </a:r>
            <a:r>
              <a:rPr lang="en-US" sz="1200" dirty="0" smtClean="0">
                <a:latin typeface="Consolas" panose="020B0609020204030204" pitchFamily="49" charset="0"/>
              </a:rPr>
              <a:t>(const Item &amp;item)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</a:t>
            </a:r>
            <a:r>
              <a:rPr lang="en-US" sz="1200" dirty="0" err="1" smtClean="0">
                <a:latin typeface="Consolas" panose="020B0609020204030204" pitchFamily="49" charset="0"/>
              </a:rPr>
              <a:t>items.push_back</a:t>
            </a:r>
            <a:r>
              <a:rPr lang="en-US" sz="1200" dirty="0" smtClean="0">
                <a:latin typeface="Consolas" panose="020B0609020204030204" pitchFamily="49" charset="0"/>
              </a:rPr>
              <a:t>(item);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// Calculate the total cost of all items in the cart.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double </a:t>
            </a:r>
            <a:r>
              <a:rPr lang="en-US" sz="12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200" dirty="0" smtClean="0">
                <a:latin typeface="Consolas" panose="020B0609020204030204" pitchFamily="49" charset="0"/>
              </a:rPr>
              <a:t>() const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double total = 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for (const auto &amp;item : items)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    total += </a:t>
            </a:r>
            <a:r>
              <a:rPr lang="en-US" sz="1200" dirty="0" err="1" smtClean="0">
                <a:latin typeface="Consolas" panose="020B0609020204030204" pitchFamily="49" charset="0"/>
              </a:rPr>
              <a:t>item.price</a:t>
            </a:r>
            <a:r>
              <a:rPr lang="en-US" sz="1200" dirty="0" smtClean="0">
                <a:latin typeface="Consolas" panose="020B0609020204030204" pitchFamily="49" charset="0"/>
              </a:rPr>
              <a:t> * </a:t>
            </a:r>
            <a:r>
              <a:rPr lang="en-US" sz="1200" dirty="0" err="1" smtClean="0">
                <a:latin typeface="Consolas" panose="020B0609020204030204" pitchFamily="49" charset="0"/>
              </a:rPr>
              <a:t>item.quantity</a:t>
            </a:r>
            <a:r>
              <a:rPr lang="en-US" sz="12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return total;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</a:p>
          <a:p>
            <a:endParaRPr lang="en-US" sz="1200" dirty="0" smtClean="0">
              <a:latin typeface="Consolas" panose="020B0609020204030204" pitchFamily="49" charset="0"/>
            </a:endParaRPr>
          </a:p>
          <a:p>
            <a:r>
              <a:rPr lang="en-US" sz="1200" dirty="0" smtClean="0">
                <a:latin typeface="Consolas" panose="020B0609020204030204" pitchFamily="49" charset="0"/>
              </a:rPr>
              <a:t>    // Apply a discount (in percentage) to the total.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double </a:t>
            </a:r>
            <a:r>
              <a:rPr lang="en-US" sz="1200" dirty="0" err="1" smtClean="0">
                <a:latin typeface="Consolas" panose="020B0609020204030204" pitchFamily="49" charset="0"/>
              </a:rPr>
              <a:t>applyDiscount</a:t>
            </a:r>
            <a:r>
              <a:rPr lang="en-US" sz="1200" dirty="0" smtClean="0">
                <a:latin typeface="Consolas" panose="020B0609020204030204" pitchFamily="49" charset="0"/>
              </a:rPr>
              <a:t>(double </a:t>
            </a:r>
            <a:r>
              <a:rPr lang="en-US" sz="1200" dirty="0" err="1" smtClean="0">
                <a:latin typeface="Consolas" panose="020B0609020204030204" pitchFamily="49" charset="0"/>
              </a:rPr>
              <a:t>discountPercent</a:t>
            </a:r>
            <a:r>
              <a:rPr lang="en-US" sz="1200" dirty="0" smtClean="0">
                <a:latin typeface="Consolas" panose="020B0609020204030204" pitchFamily="49" charset="0"/>
              </a:rPr>
              <a:t>) const {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double total = </a:t>
            </a:r>
            <a:r>
              <a:rPr lang="en-US" sz="1200" dirty="0" err="1" smtClean="0">
                <a:latin typeface="Consolas" panose="020B0609020204030204" pitchFamily="49" charset="0"/>
              </a:rPr>
              <a:t>calculateTotal</a:t>
            </a:r>
            <a:r>
              <a:rPr lang="en-US" sz="1200" dirty="0" smtClean="0">
                <a:latin typeface="Consolas" panose="020B0609020204030204" pitchFamily="49" charset="0"/>
              </a:rPr>
              <a:t>();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double </a:t>
            </a:r>
            <a:r>
              <a:rPr lang="en-US" sz="1200" dirty="0" err="1" smtClean="0">
                <a:latin typeface="Consolas" panose="020B0609020204030204" pitchFamily="49" charset="0"/>
              </a:rPr>
              <a:t>discountAmount</a:t>
            </a:r>
            <a:r>
              <a:rPr lang="en-US" sz="1200" dirty="0" smtClean="0">
                <a:latin typeface="Consolas" panose="020B0609020204030204" pitchFamily="49" charset="0"/>
              </a:rPr>
              <a:t> = total * </a:t>
            </a:r>
            <a:r>
              <a:rPr lang="en-US" sz="1200" dirty="0" err="1" smtClean="0">
                <a:latin typeface="Consolas" panose="020B0609020204030204" pitchFamily="49" charset="0"/>
              </a:rPr>
              <a:t>discountPercent</a:t>
            </a:r>
            <a:r>
              <a:rPr lang="en-US" sz="1200" dirty="0" smtClean="0">
                <a:latin typeface="Consolas" panose="020B0609020204030204" pitchFamily="49" charset="0"/>
              </a:rPr>
              <a:t> / 100;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    return total - </a:t>
            </a:r>
            <a:r>
              <a:rPr lang="en-US" sz="1200" dirty="0" err="1" smtClean="0">
                <a:latin typeface="Consolas" panose="020B0609020204030204" pitchFamily="49" charset="0"/>
              </a:rPr>
              <a:t>discountAmount</a:t>
            </a:r>
            <a:r>
              <a:rPr lang="en-US" sz="1200" dirty="0" smtClean="0">
                <a:latin typeface="Consolas" panose="020B0609020204030204" pitchFamily="49" charset="0"/>
              </a:rPr>
              <a:t>;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    }</a:t>
            </a:r>
          </a:p>
          <a:p>
            <a:r>
              <a:rPr lang="en-US" sz="1200" dirty="0" smtClean="0">
                <a:latin typeface="Consolas" panose="020B0609020204030204" pitchFamily="49" charset="0"/>
              </a:rPr>
              <a:t>};</a:t>
            </a:r>
            <a:endParaRPr lang="en-US" sz="1200" dirty="0">
              <a:latin typeface="Consolas" panose="020B0609020204030204" pitchFamily="49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5853545" y="2112818"/>
            <a:ext cx="34637" cy="380307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586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9709" y="136525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Example: OOP-Based Shopping Cart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838200" y="1690688"/>
            <a:ext cx="8409709" cy="54938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300" dirty="0" smtClean="0">
                <a:latin typeface="Consolas" panose="020B0609020204030204" pitchFamily="49" charset="0"/>
              </a:rPr>
              <a:t>// Google Test Cases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// Test that verifies the total calculation without discount.</a:t>
            </a:r>
          </a:p>
          <a:p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TEST(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ShoppingCartTest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TotalCalculation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 </a:t>
            </a:r>
            <a:r>
              <a:rPr lang="en-US" sz="13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ShoppingCart</a:t>
            </a:r>
            <a:r>
              <a:rPr lang="en-US" sz="1300" dirty="0" smtClean="0">
                <a:latin typeface="Consolas" panose="020B0609020204030204" pitchFamily="49" charset="0"/>
              </a:rPr>
              <a:t> cart;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cart.addItem</a:t>
            </a:r>
            <a:r>
              <a:rPr lang="en-US" sz="1300" dirty="0" smtClean="0">
                <a:latin typeface="Consolas" panose="020B0609020204030204" pitchFamily="49" charset="0"/>
              </a:rPr>
              <a:t>(Item("Apple", 2.5, 4));   // 4 * 2.5 = 10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cart.addItem</a:t>
            </a:r>
            <a:r>
              <a:rPr lang="en-US" sz="1300" dirty="0" smtClean="0">
                <a:latin typeface="Consolas" panose="020B0609020204030204" pitchFamily="49" charset="0"/>
              </a:rPr>
              <a:t>(Item("Banana", 1.2, 5));  // 5 * 1.2 = 6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// Expected total: 10 + 6 = 16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300" dirty="0" err="1" smtClean="0">
                <a:latin typeface="Consolas" panose="020B0609020204030204" pitchFamily="49" charset="0"/>
              </a:rPr>
              <a:t>cart.calculateTotal</a:t>
            </a:r>
            <a:r>
              <a:rPr lang="en-US" sz="1300" dirty="0" smtClean="0">
                <a:latin typeface="Consolas" panose="020B0609020204030204" pitchFamily="49" charset="0"/>
              </a:rPr>
              <a:t>(), 16.0);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300" dirty="0" smtClean="0">
              <a:latin typeface="Consolas" panose="020B0609020204030204" pitchFamily="49" charset="0"/>
            </a:endParaRPr>
          </a:p>
          <a:p>
            <a:r>
              <a:rPr lang="en-US" sz="1300" dirty="0" smtClean="0">
                <a:latin typeface="Consolas" panose="020B0609020204030204" pitchFamily="49" charset="0"/>
              </a:rPr>
              <a:t>// Test that verifies discount application.</a:t>
            </a:r>
          </a:p>
          <a:p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TEST(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ShoppingCartTest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DiscountApplication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 </a:t>
            </a:r>
            <a:r>
              <a:rPr lang="en-US" sz="13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ShoppingCart</a:t>
            </a:r>
            <a:r>
              <a:rPr lang="en-US" sz="1300" dirty="0" smtClean="0">
                <a:latin typeface="Consolas" panose="020B0609020204030204" pitchFamily="49" charset="0"/>
              </a:rPr>
              <a:t> cart;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cart.addItem</a:t>
            </a:r>
            <a:r>
              <a:rPr lang="en-US" sz="1300" dirty="0" smtClean="0">
                <a:latin typeface="Consolas" panose="020B0609020204030204" pitchFamily="49" charset="0"/>
              </a:rPr>
              <a:t>(Item("Laptop", 1000, 1)); // 1000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cart.addItem</a:t>
            </a:r>
            <a:r>
              <a:rPr lang="en-US" sz="1300" dirty="0" smtClean="0">
                <a:latin typeface="Consolas" panose="020B0609020204030204" pitchFamily="49" charset="0"/>
              </a:rPr>
              <a:t>(Item("Mouse", 50, 2));    // 2 * 50 = 100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// Total = 1100, and with a 10% discount, expected value = 1100 - 110 = 990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300" dirty="0" err="1" smtClean="0">
                <a:latin typeface="Consolas" panose="020B0609020204030204" pitchFamily="49" charset="0"/>
              </a:rPr>
              <a:t>cart.applyDiscount</a:t>
            </a:r>
            <a:r>
              <a:rPr lang="en-US" sz="1300" dirty="0" smtClean="0">
                <a:latin typeface="Consolas" panose="020B0609020204030204" pitchFamily="49" charset="0"/>
              </a:rPr>
              <a:t>(10), 990.0);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}</a:t>
            </a:r>
          </a:p>
          <a:p>
            <a:endParaRPr lang="en-US" sz="1300" dirty="0" smtClean="0">
              <a:latin typeface="Consolas" panose="020B0609020204030204" pitchFamily="49" charset="0"/>
            </a:endParaRPr>
          </a:p>
          <a:p>
            <a:r>
              <a:rPr lang="en-US" sz="1300" dirty="0" smtClean="0">
                <a:latin typeface="Consolas" panose="020B0609020204030204" pitchFamily="49" charset="0"/>
              </a:rPr>
              <a:t>// Test the behavior of an empty cart.</a:t>
            </a:r>
          </a:p>
          <a:p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TEST(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ShoppingCartTest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, </a:t>
            </a:r>
            <a:r>
              <a:rPr lang="en-US" sz="1300" dirty="0" err="1" smtClean="0">
                <a:solidFill>
                  <a:srgbClr val="7030A0"/>
                </a:solidFill>
                <a:latin typeface="Consolas" panose="020B0609020204030204" pitchFamily="49" charset="0"/>
              </a:rPr>
              <a:t>EmptyCart</a:t>
            </a:r>
            <a:r>
              <a:rPr lang="en-US" sz="1300" dirty="0" smtClean="0">
                <a:solidFill>
                  <a:srgbClr val="7030A0"/>
                </a:solidFill>
                <a:latin typeface="Consolas" panose="020B0609020204030204" pitchFamily="49" charset="0"/>
              </a:rPr>
              <a:t>) </a:t>
            </a:r>
            <a:r>
              <a:rPr lang="en-US" sz="1300" dirty="0" smtClean="0">
                <a:latin typeface="Consolas" panose="020B0609020204030204" pitchFamily="49" charset="0"/>
              </a:rPr>
              <a:t>{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</a:t>
            </a:r>
            <a:r>
              <a:rPr lang="en-US" sz="1300" dirty="0" err="1" smtClean="0">
                <a:latin typeface="Consolas" panose="020B0609020204030204" pitchFamily="49" charset="0"/>
              </a:rPr>
              <a:t>ShoppingCart</a:t>
            </a:r>
            <a:r>
              <a:rPr lang="en-US" sz="1300" dirty="0" smtClean="0">
                <a:latin typeface="Consolas" panose="020B0609020204030204" pitchFamily="49" charset="0"/>
              </a:rPr>
              <a:t> cart;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300" dirty="0" err="1" smtClean="0">
                <a:latin typeface="Consolas" panose="020B0609020204030204" pitchFamily="49" charset="0"/>
              </a:rPr>
              <a:t>cart.calculateTotal</a:t>
            </a:r>
            <a:r>
              <a:rPr lang="en-US" sz="1300" dirty="0" smtClean="0">
                <a:latin typeface="Consolas" panose="020B0609020204030204" pitchFamily="49" charset="0"/>
              </a:rPr>
              <a:t>(), 0.0);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// Discount on 0 should remain 0.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    EXPECT_DOUBLE_EQ(</a:t>
            </a:r>
            <a:r>
              <a:rPr lang="en-US" sz="1300" dirty="0" err="1" smtClean="0">
                <a:latin typeface="Consolas" panose="020B0609020204030204" pitchFamily="49" charset="0"/>
              </a:rPr>
              <a:t>cart.applyDiscount</a:t>
            </a:r>
            <a:r>
              <a:rPr lang="en-US" sz="1300" dirty="0" smtClean="0">
                <a:latin typeface="Consolas" panose="020B0609020204030204" pitchFamily="49" charset="0"/>
              </a:rPr>
              <a:t>(10), 0.0);</a:t>
            </a:r>
          </a:p>
          <a:p>
            <a:r>
              <a:rPr lang="en-US" sz="1300" dirty="0" smtClean="0">
                <a:latin typeface="Consolas" panose="020B0609020204030204" pitchFamily="49" charset="0"/>
              </a:rPr>
              <a:t>}</a:t>
            </a:r>
            <a:endParaRPr lang="en-US" sz="13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97120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691" y="164234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Code Example: OOP-Based Shopping Cart</a:t>
            </a:r>
            <a:endParaRPr lang="en-US" sz="3200" dirty="0"/>
          </a:p>
        </p:txBody>
      </p:sp>
      <p:sp>
        <p:nvSpPr>
          <p:cNvPr id="4" name="Rectangle 3"/>
          <p:cNvSpPr/>
          <p:nvPr/>
        </p:nvSpPr>
        <p:spPr>
          <a:xfrm>
            <a:off x="741217" y="2184645"/>
            <a:ext cx="6580909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>
                <a:latin typeface="Consolas" panose="020B0609020204030204" pitchFamily="49" charset="0"/>
              </a:rPr>
              <a:t>// Main function that initializes Google Test and runs all tests.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int main(int </a:t>
            </a:r>
            <a:r>
              <a:rPr lang="en-US" sz="1400" dirty="0" err="1" smtClean="0">
                <a:latin typeface="Consolas" panose="020B0609020204030204" pitchFamily="49" charset="0"/>
              </a:rPr>
              <a:t>argc</a:t>
            </a:r>
            <a:r>
              <a:rPr lang="en-US" sz="1400" dirty="0" smtClean="0">
                <a:latin typeface="Consolas" panose="020B0609020204030204" pitchFamily="49" charset="0"/>
              </a:rPr>
              <a:t>, char **</a:t>
            </a:r>
            <a:r>
              <a:rPr lang="en-US" sz="1400" dirty="0" err="1" smtClean="0">
                <a:latin typeface="Consolas" panose="020B0609020204030204" pitchFamily="49" charset="0"/>
              </a:rPr>
              <a:t>argv</a:t>
            </a:r>
            <a:r>
              <a:rPr lang="en-US" sz="1400" dirty="0" smtClean="0">
                <a:latin typeface="Consolas" panose="020B0609020204030204" pitchFamily="49" charset="0"/>
              </a:rPr>
              <a:t>) {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::testing::</a:t>
            </a:r>
            <a:r>
              <a:rPr lang="en-US" sz="1400" dirty="0" err="1" smtClean="0">
                <a:latin typeface="Consolas" panose="020B0609020204030204" pitchFamily="49" charset="0"/>
              </a:rPr>
              <a:t>InitGoogleTest</a:t>
            </a:r>
            <a:r>
              <a:rPr lang="en-US" sz="1400" dirty="0" smtClean="0">
                <a:latin typeface="Consolas" panose="020B0609020204030204" pitchFamily="49" charset="0"/>
              </a:rPr>
              <a:t>(&amp;</a:t>
            </a:r>
            <a:r>
              <a:rPr lang="en-US" sz="1400" dirty="0" err="1" smtClean="0">
                <a:latin typeface="Consolas" panose="020B0609020204030204" pitchFamily="49" charset="0"/>
              </a:rPr>
              <a:t>argc</a:t>
            </a:r>
            <a:r>
              <a:rPr lang="en-US" sz="1400" dirty="0" smtClean="0">
                <a:latin typeface="Consolas" panose="020B0609020204030204" pitchFamily="49" charset="0"/>
              </a:rPr>
              <a:t>, </a:t>
            </a:r>
            <a:r>
              <a:rPr lang="en-US" sz="1400" dirty="0" err="1" smtClean="0">
                <a:latin typeface="Consolas" panose="020B0609020204030204" pitchFamily="49" charset="0"/>
              </a:rPr>
              <a:t>argv</a:t>
            </a:r>
            <a:r>
              <a:rPr lang="en-US" sz="1400" dirty="0" smtClean="0">
                <a:latin typeface="Consolas" panose="020B0609020204030204" pitchFamily="49" charset="0"/>
              </a:rPr>
              <a:t>);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    return RUN_ALL_TESTS();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}</a:t>
            </a:r>
            <a:endParaRPr lang="en-US" sz="1400" dirty="0">
              <a:latin typeface="Consolas" panose="020B06090202040302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96345" y="3354196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b="1" dirty="0" smtClean="0">
                <a:solidFill>
                  <a:srgbClr val="7030A0"/>
                </a:solidFill>
                <a:latin typeface="Consolas" panose="020B0609020204030204" pitchFamily="49" charset="0"/>
              </a:rPr>
              <a:t>Output: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[==========] Running 3 tests from 1 test suite.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[----------] Global test environment set-up.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[----------] 3 tests from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</a:t>
            </a:r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[ RUN     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ShoppingCartTest.TotalCalculation</a:t>
            </a:r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[       OK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ShoppingCartTest.TotalCalculation</a:t>
            </a:r>
            <a:r>
              <a:rPr lang="en-US" sz="1400" dirty="0" smtClean="0">
                <a:latin typeface="Consolas" panose="020B0609020204030204" pitchFamily="49" charset="0"/>
              </a:rPr>
              <a:t> (0 </a:t>
            </a:r>
            <a:r>
              <a:rPr lang="en-US" sz="1400" dirty="0" err="1" smtClean="0">
                <a:latin typeface="Consolas" panose="020B0609020204030204" pitchFamily="49" charset="0"/>
              </a:rPr>
              <a:t>ms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 RUN     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ShoppingCartTest.DiscountApplication</a:t>
            </a:r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[       OK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ShoppingCartTest.DiscountApplication</a:t>
            </a:r>
            <a:r>
              <a:rPr lang="en-US" sz="1400" dirty="0" smtClean="0">
                <a:latin typeface="Consolas" panose="020B0609020204030204" pitchFamily="49" charset="0"/>
              </a:rPr>
              <a:t> (0 </a:t>
            </a:r>
            <a:r>
              <a:rPr lang="en-US" sz="1400" dirty="0" err="1" smtClean="0">
                <a:latin typeface="Consolas" panose="020B0609020204030204" pitchFamily="49" charset="0"/>
              </a:rPr>
              <a:t>ms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 RUN     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ShoppingCartTest.EmptyCart</a:t>
            </a:r>
            <a:endParaRPr lang="en-US" sz="1400" dirty="0" smtClean="0">
              <a:latin typeface="Consolas" panose="020B0609020204030204" pitchFamily="49" charset="0"/>
            </a:endParaRPr>
          </a:p>
          <a:p>
            <a:r>
              <a:rPr lang="en-US" sz="1400" dirty="0" smtClean="0">
                <a:latin typeface="Consolas" panose="020B0609020204030204" pitchFamily="49" charset="0"/>
              </a:rPr>
              <a:t>[       OK ]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ShoppingCartTest.EmptyCart</a:t>
            </a:r>
            <a:r>
              <a:rPr lang="en-US" sz="1400" dirty="0" smtClean="0">
                <a:latin typeface="Consolas" panose="020B0609020204030204" pitchFamily="49" charset="0"/>
              </a:rPr>
              <a:t> (0 </a:t>
            </a:r>
            <a:r>
              <a:rPr lang="en-US" sz="1400" dirty="0" err="1" smtClean="0">
                <a:latin typeface="Consolas" panose="020B0609020204030204" pitchFamily="49" charset="0"/>
              </a:rPr>
              <a:t>ms</a:t>
            </a:r>
            <a:r>
              <a:rPr lang="en-US" sz="1400" dirty="0" smtClean="0">
                <a:latin typeface="Consolas" panose="020B0609020204030204" pitchFamily="49" charset="0"/>
              </a:rPr>
              <a:t>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[----------] 3 tests from </a:t>
            </a:r>
            <a:r>
              <a:rPr lang="en-US" sz="1400" dirty="0" err="1" smtClean="0">
                <a:latin typeface="Consolas" panose="020B0609020204030204" pitchFamily="49" charset="0"/>
              </a:rPr>
              <a:t>ShoppingCartTest</a:t>
            </a:r>
            <a:r>
              <a:rPr lang="en-US" sz="1400" dirty="0" smtClean="0">
                <a:latin typeface="Consolas" panose="020B0609020204030204" pitchFamily="49" charset="0"/>
              </a:rPr>
              <a:t> (0 </a:t>
            </a:r>
            <a:r>
              <a:rPr lang="en-US" sz="1400" dirty="0" err="1" smtClean="0">
                <a:latin typeface="Consolas" panose="020B0609020204030204" pitchFamily="49" charset="0"/>
              </a:rPr>
              <a:t>ms</a:t>
            </a:r>
            <a:r>
              <a:rPr lang="en-US" sz="1400" dirty="0" smtClean="0">
                <a:latin typeface="Consolas" panose="020B0609020204030204" pitchFamily="49" charset="0"/>
              </a:rPr>
              <a:t> total)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[----------] Global test environment tear-down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[==========] 3 tests from 1 test suite ran. (0 </a:t>
            </a:r>
            <a:r>
              <a:rPr lang="en-US" sz="1400" dirty="0" err="1" smtClean="0">
                <a:latin typeface="Consolas" panose="020B0609020204030204" pitchFamily="49" charset="0"/>
              </a:rPr>
              <a:t>ms</a:t>
            </a:r>
            <a:r>
              <a:rPr lang="en-US" sz="1400" dirty="0" smtClean="0">
                <a:latin typeface="Consolas" panose="020B0609020204030204" pitchFamily="49" charset="0"/>
              </a:rPr>
              <a:t> total)</a:t>
            </a:r>
          </a:p>
          <a:p>
            <a:r>
              <a:rPr lang="en-US" sz="1400" dirty="0" smtClean="0">
                <a:latin typeface="Consolas" panose="020B0609020204030204" pitchFamily="49" charset="0"/>
              </a:rPr>
              <a:t>[  PASSED  ] 3 tests.</a:t>
            </a:r>
            <a:endParaRPr lang="en-US" sz="1400" dirty="0">
              <a:latin typeface="Consolas" panose="020B0609020204030204" pitchFamily="49" charset="0"/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5361708" y="2542309"/>
            <a:ext cx="34637" cy="3803073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40017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Wood Type</Template>
  <TotalTime>32</TotalTime>
  <Words>1091</Words>
  <Application>Microsoft Office PowerPoint</Application>
  <PresentationFormat>Widescreen</PresentationFormat>
  <Paragraphs>184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Consolas</vt:lpstr>
      <vt:lpstr>Courier New</vt:lpstr>
      <vt:lpstr>Rockwell</vt:lpstr>
      <vt:lpstr>Rockwell Condensed</vt:lpstr>
      <vt:lpstr>Times New Roman</vt:lpstr>
      <vt:lpstr>Wingdings</vt:lpstr>
      <vt:lpstr>Wood Type</vt:lpstr>
      <vt:lpstr>CSE327  Software Engineering</vt:lpstr>
      <vt:lpstr>What is Regression Testing?</vt:lpstr>
      <vt:lpstr>Where is Regression Testing Used?</vt:lpstr>
      <vt:lpstr>Tools for Regression Testing in C++</vt:lpstr>
      <vt:lpstr>C++ Code Example: Regression Testing with Google Test</vt:lpstr>
      <vt:lpstr>C++ Code Example: Regression Testing with Google Test</vt:lpstr>
      <vt:lpstr>Code Example: OOP-Based Shopping Cart</vt:lpstr>
      <vt:lpstr>Code Example: OOP-Based Shopping Cart</vt:lpstr>
      <vt:lpstr>Code Example: OOP-Based Shopping Cart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CSE327  Software Engineering</dc:title>
  <dc:creator>A K M Iqtidar Newaz</dc:creator>
  <cp:lastModifiedBy>A K M Iqtidar Newaz</cp:lastModifiedBy>
  <cp:revision>10</cp:revision>
  <dcterms:created xsi:type="dcterms:W3CDTF">2025-04-04T12:52:04Z</dcterms:created>
  <dcterms:modified xsi:type="dcterms:W3CDTF">2025-04-04T13:24:24Z</dcterms:modified>
</cp:coreProperties>
</file>