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2" d="100"/>
          <a:sy n="112" d="100"/>
        </p:scale>
        <p:origin x="540" y="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B138E2-06CA-40E7-8112-53AB9C1A064D}"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FAD22-4BCA-407E-A4E7-7B22AA86807E}" type="slidenum">
              <a:rPr lang="en-US" smtClean="0"/>
              <a:t>‹#›</a:t>
            </a:fld>
            <a:endParaRPr lang="en-US"/>
          </a:p>
        </p:txBody>
      </p:sp>
    </p:spTree>
    <p:extLst>
      <p:ext uri="{BB962C8B-B14F-4D97-AF65-F5344CB8AC3E}">
        <p14:creationId xmlns:p14="http://schemas.microsoft.com/office/powerpoint/2010/main" val="417328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EFAD22-4BCA-407E-A4E7-7B22AA86807E}" type="slidenum">
              <a:rPr lang="en-US" smtClean="0"/>
              <a:t>15</a:t>
            </a:fld>
            <a:endParaRPr lang="en-US"/>
          </a:p>
        </p:txBody>
      </p:sp>
    </p:spTree>
    <p:extLst>
      <p:ext uri="{BB962C8B-B14F-4D97-AF65-F5344CB8AC3E}">
        <p14:creationId xmlns:p14="http://schemas.microsoft.com/office/powerpoint/2010/main" val="2126236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168047-9368-4A48-BA08-9602F7153F8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8AD34F-9667-4536-AA06-83BD8B85C86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059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168047-9368-4A48-BA08-9602F7153F8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134615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168047-9368-4A48-BA08-9602F7153F8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8AD34F-9667-4536-AA06-83BD8B85C86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544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168047-9368-4A48-BA08-9602F7153F8C}"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1673300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68047-9368-4A48-BA08-9602F7153F8C}"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4147964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168047-9368-4A48-BA08-9602F7153F8C}"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1622749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5168047-9368-4A48-BA08-9602F7153F8C}" type="datetimeFigureOut">
              <a:rPr lang="en-US" smtClean="0"/>
              <a:t>1/28/2025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208483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5168047-9368-4A48-BA08-9602F7153F8C}" type="datetimeFigureOut">
              <a:rPr lang="en-US" smtClean="0"/>
              <a:t>1/28/2025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8AD34F-9667-4536-AA06-83BD8B85C867}" type="slidenum">
              <a:rPr lang="en-US" smtClean="0"/>
              <a:t>‹#›</a:t>
            </a:fld>
            <a:endParaRPr lang="en-US"/>
          </a:p>
        </p:txBody>
      </p:sp>
    </p:spTree>
    <p:extLst>
      <p:ext uri="{BB962C8B-B14F-4D97-AF65-F5344CB8AC3E}">
        <p14:creationId xmlns:p14="http://schemas.microsoft.com/office/powerpoint/2010/main" val="3331842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168047-9368-4A48-BA08-9602F7153F8C}"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3152450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168047-9368-4A48-BA08-9602F7153F8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1472931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168047-9368-4A48-BA08-9602F7153F8C}"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8AD34F-9667-4536-AA06-83BD8B85C867}" type="slidenum">
              <a:rPr lang="en-US" smtClean="0"/>
              <a:t>‹#›</a:t>
            </a:fld>
            <a:endParaRPr lang="en-US"/>
          </a:p>
        </p:txBody>
      </p:sp>
    </p:spTree>
    <p:extLst>
      <p:ext uri="{BB962C8B-B14F-4D97-AF65-F5344CB8AC3E}">
        <p14:creationId xmlns:p14="http://schemas.microsoft.com/office/powerpoint/2010/main" val="2080931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5168047-9368-4A48-BA08-9602F7153F8C}" type="datetimeFigureOut">
              <a:rPr lang="en-US" smtClean="0"/>
              <a:t>1/28/2025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8AD34F-9667-4536-AA06-83BD8B85C86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794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B7283F-7396-F4B0-663B-240784538CFA}"/>
              </a:ext>
            </a:extLst>
          </p:cNvPr>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CSE327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Engineering</a:t>
            </a:r>
            <a:endParaRPr lang="en-US" dirty="0"/>
          </a:p>
        </p:txBody>
      </p:sp>
      <p:sp>
        <p:nvSpPr>
          <p:cNvPr id="3" name="Subtitle 2">
            <a:extLst>
              <a:ext uri="{FF2B5EF4-FFF2-40B4-BE49-F238E27FC236}">
                <a16:creationId xmlns:a16="http://schemas.microsoft.com/office/drawing/2014/main" xmlns="" id="{D6127436-0F31-2A7F-F22E-8FB098459E34}"/>
              </a:ext>
            </a:extLst>
          </p:cNvPr>
          <p:cNvSpPr>
            <a:spLocks noGrp="1"/>
          </p:cNvSpPr>
          <p:nvPr>
            <p:ph type="subTitle" idx="1"/>
          </p:nvPr>
        </p:nvSpPr>
        <p:spPr/>
        <p:txBody>
          <a:bodyPr/>
          <a:lstStyle/>
          <a:p>
            <a:pPr algn="ctr"/>
            <a:r>
              <a:rPr lang="en-US" dirty="0">
                <a:latin typeface="Times New Roman" panose="02020603050405020304" pitchFamily="18" charset="0"/>
                <a:cs typeface="Times New Roman" panose="02020603050405020304" pitchFamily="18" charset="0"/>
              </a:rPr>
              <a:t>AKM iqtidar Newaz [</a:t>
            </a:r>
            <a:r>
              <a:rPr lang="en-US" dirty="0" err="1">
                <a:latin typeface="Times New Roman" panose="02020603050405020304" pitchFamily="18" charset="0"/>
                <a:cs typeface="Times New Roman" panose="02020603050405020304" pitchFamily="18" charset="0"/>
              </a:rPr>
              <a:t>IqN</a:t>
            </a:r>
            <a:r>
              <a:rPr lang="en-US" dirty="0">
                <a:latin typeface="Times New Roman" panose="02020603050405020304" pitchFamily="18" charset="0"/>
                <a:cs typeface="Times New Roman" panose="02020603050405020304" pitchFamily="18" charset="0"/>
              </a:rPr>
              <a:t>]</a:t>
            </a:r>
          </a:p>
          <a:p>
            <a:pPr algn="ctr"/>
            <a:r>
              <a:rPr lang="en-US" dirty="0">
                <a:latin typeface="Times New Roman" panose="02020603050405020304" pitchFamily="18" charset="0"/>
                <a:cs typeface="Times New Roman" panose="02020603050405020304" pitchFamily="18" charset="0"/>
              </a:rPr>
              <a:t>Lecture - 5</a:t>
            </a:r>
          </a:p>
        </p:txBody>
      </p:sp>
    </p:spTree>
    <p:extLst>
      <p:ext uri="{BB962C8B-B14F-4D97-AF65-F5344CB8AC3E}">
        <p14:creationId xmlns:p14="http://schemas.microsoft.com/office/powerpoint/2010/main" val="202231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CB62A9-62E0-DBED-5A56-2F3679B9C864}"/>
              </a:ext>
            </a:extLst>
          </p:cNvPr>
          <p:cNvSpPr>
            <a:spLocks noGrp="1"/>
          </p:cNvSpPr>
          <p:nvPr>
            <p:ph type="title"/>
          </p:nvPr>
        </p:nvSpPr>
        <p:spPr>
          <a:xfrm>
            <a:off x="445293" y="127000"/>
            <a:ext cx="10515600" cy="1325563"/>
          </a:xfrm>
        </p:spPr>
        <p:txBody>
          <a:bodyPr/>
          <a:lstStyle/>
          <a:p>
            <a:r>
              <a:rPr lang="en-US" dirty="0">
                <a:latin typeface="Times New Roman" panose="02020603050405020304" pitchFamily="18" charset="0"/>
                <a:cs typeface="Times New Roman" panose="02020603050405020304" pitchFamily="18" charset="0"/>
              </a:rPr>
              <a:t>Non-functional Requirements</a:t>
            </a:r>
          </a:p>
        </p:txBody>
      </p:sp>
      <p:pic>
        <p:nvPicPr>
          <p:cNvPr id="5" name="Picture 4" descr="A diagram of a non-functional requirements&#10;&#10;Description automatically generated">
            <a:extLst>
              <a:ext uri="{FF2B5EF4-FFF2-40B4-BE49-F238E27FC236}">
                <a16:creationId xmlns:a16="http://schemas.microsoft.com/office/drawing/2014/main" xmlns="" id="{E924839C-376C-536B-99A5-16BE1DB0B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93" y="1566206"/>
            <a:ext cx="11301413" cy="5078621"/>
          </a:xfrm>
          <a:prstGeom prst="rect">
            <a:avLst/>
          </a:prstGeom>
        </p:spPr>
      </p:pic>
    </p:spTree>
    <p:extLst>
      <p:ext uri="{BB962C8B-B14F-4D97-AF65-F5344CB8AC3E}">
        <p14:creationId xmlns:p14="http://schemas.microsoft.com/office/powerpoint/2010/main" val="3894754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71960B-A31E-785B-7BC4-94AFD859F5D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Non-functional Requirements</a:t>
            </a:r>
            <a:endParaRPr lang="en-US" b="1" dirty="0"/>
          </a:p>
        </p:txBody>
      </p:sp>
      <p:sp>
        <p:nvSpPr>
          <p:cNvPr id="3" name="Content Placeholder 2">
            <a:extLst>
              <a:ext uri="{FF2B5EF4-FFF2-40B4-BE49-F238E27FC236}">
                <a16:creationId xmlns:a16="http://schemas.microsoft.com/office/drawing/2014/main" xmlns="" id="{51D731B7-A3DA-6A37-6945-E2BE79C849D0}"/>
              </a:ext>
            </a:extLst>
          </p:cNvPr>
          <p:cNvSpPr>
            <a:spLocks noGrp="1"/>
          </p:cNvSpPr>
          <p:nvPr>
            <p:ph idx="1"/>
          </p:nvPr>
        </p:nvSpPr>
        <p:spPr/>
        <p:txBody>
          <a:bodyPr>
            <a:normAutofit/>
          </a:bodyPr>
          <a:lstStyle/>
          <a:p>
            <a:pPr marL="0" indent="0">
              <a:buNone/>
            </a:pPr>
            <a:r>
              <a:rPr lang="en-US" dirty="0">
                <a:solidFill>
                  <a:srgbClr val="131313"/>
                </a:solidFill>
                <a:effectLst/>
                <a:latin typeface="Times New Roman" panose="02020603050405020304" pitchFamily="18" charset="0"/>
                <a:cs typeface="Times New Roman" panose="02020603050405020304" pitchFamily="18" charset="0"/>
              </a:rPr>
              <a:t>The types of non-functional requirements are:</a:t>
            </a:r>
          </a:p>
          <a:p>
            <a:r>
              <a:rPr lang="en-US" b="1" dirty="0">
                <a:latin typeface="Times New Roman" panose="02020603050405020304" pitchFamily="18" charset="0"/>
                <a:cs typeface="Times New Roman" panose="02020603050405020304" pitchFamily="18" charset="0"/>
              </a:rPr>
              <a:t>Product Requirements: </a:t>
            </a:r>
            <a:r>
              <a:rPr lang="en-US" dirty="0">
                <a:solidFill>
                  <a:srgbClr val="131313"/>
                </a:solidFill>
                <a:effectLst/>
                <a:latin typeface="Times New Roman" panose="02020603050405020304" pitchFamily="18" charset="0"/>
                <a:cs typeface="Times New Roman" panose="02020603050405020304" pitchFamily="18" charset="0"/>
              </a:rPr>
              <a:t>These requirements specify product behavior. Examples include performance requirements on how fast the system must execute and how much memory it requires; reliability requirements that set out the acceptable failure rate; portability requirements; and usability requirements.</a:t>
            </a:r>
          </a:p>
          <a:p>
            <a:r>
              <a:rPr lang="en-US" b="1" dirty="0">
                <a:solidFill>
                  <a:srgbClr val="131313"/>
                </a:solidFill>
                <a:latin typeface="Times New Roman" panose="02020603050405020304" pitchFamily="18" charset="0"/>
                <a:cs typeface="Times New Roman" panose="02020603050405020304" pitchFamily="18" charset="0"/>
              </a:rPr>
              <a:t>Organizational Requirements: </a:t>
            </a:r>
            <a:r>
              <a:rPr lang="en-US" dirty="0">
                <a:solidFill>
                  <a:srgbClr val="131313"/>
                </a:solidFill>
                <a:latin typeface="Times New Roman" panose="02020603050405020304" pitchFamily="18" charset="0"/>
                <a:cs typeface="Times New Roman" panose="02020603050405020304" pitchFamily="18" charset="0"/>
              </a:rPr>
              <a:t>These requirements are derived from policies and procedures in the customer s and developer’s organization. Examples include process standards that must be used; implementation Requirements such as the programming language or design method used; and delivery requirements that specify when the product and its documentation are to be delivered.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8084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E9C8C5-00C4-41C1-8BAA-FEA08F8C96A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Non-functional Requirements</a:t>
            </a:r>
            <a:endParaRPr lang="en-US" b="1" dirty="0"/>
          </a:p>
        </p:txBody>
      </p:sp>
      <p:sp>
        <p:nvSpPr>
          <p:cNvPr id="3" name="Content Placeholder 2">
            <a:extLst>
              <a:ext uri="{FF2B5EF4-FFF2-40B4-BE49-F238E27FC236}">
                <a16:creationId xmlns:a16="http://schemas.microsoft.com/office/drawing/2014/main" xmlns="" id="{EE88A60A-8B1E-8835-7F8C-A277C79188CB}"/>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External Requirements: </a:t>
            </a:r>
            <a:r>
              <a:rPr lang="en-US" dirty="0">
                <a:solidFill>
                  <a:srgbClr val="131313"/>
                </a:solidFill>
                <a:effectLst/>
              </a:rPr>
              <a:t>This broad heading covers all requirements that are derived from factors external to the system and its development process. These may include interoperability requirements that define how the system interacts with systems in other organizations. There are other subcategories in legislative requirements that must be followed to ensure that the system operates within the law; and ethical requirements. Ethical requirements are requirements placed on a system to ensure that it will be acceptable to its users and the general public.</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974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6AA060-4E7B-1873-7171-9E9C911011C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xmlns="" id="{2E60C55E-924B-1B1B-B2A0-30D5C874459D}"/>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After requirement specification, we go for system design. Designing means:</a:t>
            </a:r>
          </a:p>
          <a:p>
            <a:r>
              <a:rPr lang="en-US" sz="2400" dirty="0">
                <a:latin typeface="Times New Roman" panose="02020603050405020304" pitchFamily="18" charset="0"/>
                <a:cs typeface="Times New Roman" panose="02020603050405020304" pitchFamily="18" charset="0"/>
              </a:rPr>
              <a:t>Visualizing the internal system.</a:t>
            </a:r>
          </a:p>
          <a:p>
            <a:r>
              <a:rPr lang="en-US" sz="2400" dirty="0">
                <a:latin typeface="Times New Roman" panose="02020603050405020304" pitchFamily="18" charset="0"/>
                <a:cs typeface="Times New Roman" panose="02020603050405020304" pitchFamily="18" charset="0"/>
              </a:rPr>
              <a:t>Blueprint of the system.</a:t>
            </a:r>
          </a:p>
          <a:p>
            <a:r>
              <a:rPr lang="en-US" sz="2400" dirty="0">
                <a:latin typeface="Times New Roman" panose="02020603050405020304" pitchFamily="18" charset="0"/>
                <a:cs typeface="Times New Roman" panose="02020603050405020304" pitchFamily="18" charset="0"/>
              </a:rPr>
              <a:t>Deriving a solution.</a:t>
            </a:r>
          </a:p>
          <a:p>
            <a:r>
              <a:rPr lang="en-US" sz="2400" dirty="0">
                <a:latin typeface="Times New Roman" panose="02020603050405020304" pitchFamily="18" charset="0"/>
                <a:cs typeface="Times New Roman" panose="02020603050405020304" pitchFamily="18" charset="0"/>
              </a:rPr>
              <a:t>Traced client’s requirements.</a:t>
            </a:r>
          </a:p>
          <a:p>
            <a:r>
              <a:rPr lang="en-US" sz="2400" dirty="0">
                <a:latin typeface="Times New Roman" panose="02020603050405020304" pitchFamily="18" charset="0"/>
                <a:cs typeface="Times New Roman" panose="02020603050405020304" pitchFamily="18" charset="0"/>
              </a:rPr>
              <a:t>Iterative process.</a:t>
            </a:r>
          </a:p>
          <a:p>
            <a:pPr marL="0" indent="0">
              <a:buNone/>
            </a:pPr>
            <a:r>
              <a:rPr lang="en-US" sz="2400" dirty="0">
                <a:latin typeface="Times New Roman" panose="02020603050405020304" pitchFamily="18" charset="0"/>
                <a:cs typeface="Times New Roman" panose="02020603050405020304" pitchFamily="18" charset="0"/>
              </a:rPr>
              <a:t>We start the design from high level overview, and it can be in object-oriented approach. Next, we will show how a use case diagram can be used to show the functionality of a system from the user perspective.</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650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7AD5A4-841D-2A4D-2476-0A650879F28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Use-Case Modeling</a:t>
            </a:r>
          </a:p>
        </p:txBody>
      </p:sp>
      <p:sp>
        <p:nvSpPr>
          <p:cNvPr id="3" name="Content Placeholder 2">
            <a:extLst>
              <a:ext uri="{FF2B5EF4-FFF2-40B4-BE49-F238E27FC236}">
                <a16:creationId xmlns:a16="http://schemas.microsoft.com/office/drawing/2014/main" xmlns="" id="{30B596D5-E181-B7AE-E2DF-CC39C26BA280}"/>
              </a:ext>
            </a:extLst>
          </p:cNvPr>
          <p:cNvSpPr>
            <a:spLocks noGrp="1"/>
          </p:cNvSpPr>
          <p:nvPr>
            <p:ph idx="1"/>
          </p:nvPr>
        </p:nvSpPr>
        <p:spPr/>
        <p:txBody>
          <a:bodyPr>
            <a:normAutofit fontScale="92500" lnSpcReduction="10000"/>
          </a:bodyPr>
          <a:lstStyle/>
          <a:p>
            <a:pPr>
              <a:lnSpc>
                <a:spcPct val="90000"/>
              </a:lnSpc>
            </a:pPr>
            <a:r>
              <a:rPr lang="en-US" altLang="en-US" sz="2800" dirty="0"/>
              <a:t>In use-case modeling, the system is looked upon as a black box whose boundaries are defined by its functionality to external stimuli.</a:t>
            </a:r>
          </a:p>
          <a:p>
            <a:pPr>
              <a:lnSpc>
                <a:spcPct val="90000"/>
              </a:lnSpc>
            </a:pPr>
            <a:r>
              <a:rPr lang="en-US" altLang="en-US" sz="2800" dirty="0"/>
              <a:t>The actual description of the use-case is usually given in plain text.</a:t>
            </a:r>
          </a:p>
          <a:p>
            <a:pPr>
              <a:lnSpc>
                <a:spcPct val="90000"/>
              </a:lnSpc>
            </a:pPr>
            <a:r>
              <a:rPr lang="en-US" altLang="en-US" sz="2800" dirty="0"/>
              <a:t>We will look into the details of text representation later. Both visual and text representation are needed for a complete view.</a:t>
            </a:r>
          </a:p>
          <a:p>
            <a:pPr>
              <a:lnSpc>
                <a:spcPct val="90000"/>
              </a:lnSpc>
            </a:pPr>
            <a:r>
              <a:rPr lang="en-US" altLang="en-US" sz="2800" dirty="0"/>
              <a:t>A use-case model represents the use-case view of the system. A use-case view of a system may consist of many Use-case diagrams.</a:t>
            </a:r>
          </a:p>
          <a:p>
            <a:pPr>
              <a:lnSpc>
                <a:spcPct val="90000"/>
              </a:lnSpc>
            </a:pPr>
            <a:r>
              <a:rPr lang="en-US" altLang="en-US" sz="2800" dirty="0"/>
              <a:t>A use-case diagram shows </a:t>
            </a:r>
            <a:r>
              <a:rPr lang="en-US" altLang="en-US" sz="2800" dirty="0">
                <a:solidFill>
                  <a:srgbClr val="C00000"/>
                </a:solidFill>
              </a:rPr>
              <a:t>(the system), the actors, the use-cases and the relationship among them</a:t>
            </a:r>
            <a:r>
              <a:rPr lang="en-US" altLang="en-US" sz="2800" dirty="0"/>
              <a:t>.</a:t>
            </a:r>
          </a:p>
          <a:p>
            <a:pPr>
              <a:lnSpc>
                <a:spcPct val="90000"/>
              </a:lnSpc>
              <a:buFont typeface="Wingdings" panose="05000000000000000000" pitchFamily="2" charset="2"/>
              <a:buNone/>
            </a:pPr>
            <a:endParaRPr lang="en-US" altLang="en-US" sz="3600" dirty="0"/>
          </a:p>
          <a:p>
            <a:endParaRPr lang="en-US" dirty="0"/>
          </a:p>
        </p:txBody>
      </p:sp>
    </p:spTree>
    <p:extLst>
      <p:ext uri="{BB962C8B-B14F-4D97-AF65-F5344CB8AC3E}">
        <p14:creationId xmlns:p14="http://schemas.microsoft.com/office/powerpoint/2010/main" val="1733132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C7FB91-A0AE-E4CD-E8D8-6C7F1E673B8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Components of Use-Case Model</a:t>
            </a:r>
          </a:p>
        </p:txBody>
      </p:sp>
      <p:sp>
        <p:nvSpPr>
          <p:cNvPr id="4" name="Content Placeholder 3" descr="Rectangle: Click to edit Master text styles&#10;Second level&#10;Third level&#10;Fourth level&#10;Fifth level">
            <a:extLst>
              <a:ext uri="{FF2B5EF4-FFF2-40B4-BE49-F238E27FC236}">
                <a16:creationId xmlns:a16="http://schemas.microsoft.com/office/drawing/2014/main" xmlns="" id="{A24254A0-A66E-F433-40A4-2C29C1F4F0E7}"/>
              </a:ext>
            </a:extLst>
          </p:cNvPr>
          <p:cNvSpPr>
            <a:spLocks noGrp="1" noChangeArrowheads="1"/>
          </p:cNvSpPr>
          <p:nvPr>
            <p:ph idx="1"/>
          </p:nvPr>
        </p:nvSpPr>
        <p:spPr bwMode="auto">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latin typeface="Times New Roman" panose="02020603050405020304" pitchFamily="18" charset="0"/>
                <a:cs typeface="Times New Roman" panose="02020603050405020304" pitchFamily="18" charset="0"/>
              </a:rPr>
              <a:t>The components of a Use-case model are:</a:t>
            </a:r>
          </a:p>
          <a:p>
            <a:pPr lvl="1"/>
            <a:r>
              <a:rPr lang="en-US" altLang="en-US" dirty="0">
                <a:latin typeface="Times New Roman" panose="02020603050405020304" pitchFamily="18" charset="0"/>
                <a:cs typeface="Times New Roman" panose="02020603050405020304" pitchFamily="18" charset="0"/>
              </a:rPr>
              <a:t>System Modeled</a:t>
            </a:r>
          </a:p>
          <a:p>
            <a:pPr lvl="1"/>
            <a:r>
              <a:rPr lang="en-US" altLang="en-US" dirty="0">
                <a:latin typeface="Times New Roman" panose="02020603050405020304" pitchFamily="18" charset="0"/>
                <a:cs typeface="Times New Roman" panose="02020603050405020304" pitchFamily="18" charset="0"/>
              </a:rPr>
              <a:t>Actors </a:t>
            </a:r>
          </a:p>
          <a:p>
            <a:pPr lvl="1"/>
            <a:r>
              <a:rPr lang="en-US" altLang="en-US" dirty="0">
                <a:latin typeface="Times New Roman" panose="02020603050405020304" pitchFamily="18" charset="0"/>
                <a:cs typeface="Times New Roman" panose="02020603050405020304" pitchFamily="18" charset="0"/>
              </a:rPr>
              <a:t>Use-cases </a:t>
            </a:r>
          </a:p>
          <a:p>
            <a:pPr lvl="1"/>
            <a:r>
              <a:rPr lang="en-US" altLang="en-US" dirty="0">
                <a:latin typeface="Times New Roman" panose="02020603050405020304" pitchFamily="18" charset="0"/>
                <a:cs typeface="Times New Roman" panose="02020603050405020304" pitchFamily="18" charset="0"/>
              </a:rPr>
              <a:t>Stimulus</a:t>
            </a:r>
          </a:p>
          <a:p>
            <a:pPr>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p:txBody>
      </p:sp>
      <p:sp>
        <p:nvSpPr>
          <p:cNvPr id="5" name="Rectangle 7">
            <a:extLst>
              <a:ext uri="{FF2B5EF4-FFF2-40B4-BE49-F238E27FC236}">
                <a16:creationId xmlns:a16="http://schemas.microsoft.com/office/drawing/2014/main" xmlns="" id="{2DA1C87C-4106-06D4-1791-8C66A4FEFF3D}"/>
              </a:ext>
            </a:extLst>
          </p:cNvPr>
          <p:cNvSpPr>
            <a:spLocks noChangeArrowheads="1"/>
          </p:cNvSpPr>
          <p:nvPr/>
        </p:nvSpPr>
        <p:spPr bwMode="auto">
          <a:xfrm>
            <a:off x="7972425" y="3562350"/>
            <a:ext cx="914400" cy="1219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6" name="Text Box 9">
            <a:extLst>
              <a:ext uri="{FF2B5EF4-FFF2-40B4-BE49-F238E27FC236}">
                <a16:creationId xmlns:a16="http://schemas.microsoft.com/office/drawing/2014/main" xmlns="" id="{0F0B3563-F5A6-CC6B-1B36-C96D9935C386}"/>
              </a:ext>
            </a:extLst>
          </p:cNvPr>
          <p:cNvSpPr txBox="1">
            <a:spLocks noChangeArrowheads="1"/>
          </p:cNvSpPr>
          <p:nvPr/>
        </p:nvSpPr>
        <p:spPr bwMode="auto">
          <a:xfrm>
            <a:off x="7593498" y="3162240"/>
            <a:ext cx="1672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2000" b="1" dirty="0">
                <a:latin typeface="Times New Roman" panose="02020603050405020304" pitchFamily="18" charset="0"/>
                <a:cs typeface="Times New Roman" panose="02020603050405020304" pitchFamily="18" charset="0"/>
              </a:rPr>
              <a:t>System Name</a:t>
            </a:r>
          </a:p>
        </p:txBody>
      </p:sp>
      <p:pic>
        <p:nvPicPr>
          <p:cNvPr id="7" name="Picture 6">
            <a:extLst>
              <a:ext uri="{FF2B5EF4-FFF2-40B4-BE49-F238E27FC236}">
                <a16:creationId xmlns:a16="http://schemas.microsoft.com/office/drawing/2014/main" xmlns="" id="{AB5FC212-079C-09D9-1532-98F206AE5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6118" y="3024187"/>
            <a:ext cx="142016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1">
            <a:extLst>
              <a:ext uri="{FF2B5EF4-FFF2-40B4-BE49-F238E27FC236}">
                <a16:creationId xmlns:a16="http://schemas.microsoft.com/office/drawing/2014/main" xmlns="" id="{052E2ACC-588B-7B8E-89BD-3F25AC0F3928}"/>
              </a:ext>
            </a:extLst>
          </p:cNvPr>
          <p:cNvSpPr txBox="1">
            <a:spLocks noChangeArrowheads="1"/>
          </p:cNvSpPr>
          <p:nvPr/>
        </p:nvSpPr>
        <p:spPr bwMode="auto">
          <a:xfrm>
            <a:off x="5879281" y="4601163"/>
            <a:ext cx="15648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2000" b="1" dirty="0" smtClean="0">
                <a:latin typeface="Times New Roman" panose="02020603050405020304" pitchFamily="18" charset="0"/>
                <a:cs typeface="Times New Roman" panose="02020603050405020304" pitchFamily="18" charset="0"/>
              </a:rPr>
              <a:t>Relationshi</a:t>
            </a:r>
            <a:r>
              <a:rPr lang="en-US" altLang="en-US" sz="2000" b="1" dirty="0">
                <a:latin typeface="Times New Roman" panose="02020603050405020304" pitchFamily="18" charset="0"/>
                <a:cs typeface="Times New Roman" panose="02020603050405020304" pitchFamily="18" charset="0"/>
              </a:rPr>
              <a:t>p</a:t>
            </a:r>
            <a:endParaRPr lang="en-US" altLang="en-US" sz="2000" b="1" dirty="0">
              <a:latin typeface="Times New Roman" panose="02020603050405020304" pitchFamily="18" charset="0"/>
              <a:cs typeface="Times New Roman" panose="02020603050405020304" pitchFamily="18" charset="0"/>
            </a:endParaRPr>
          </a:p>
        </p:txBody>
      </p:sp>
      <p:sp>
        <p:nvSpPr>
          <p:cNvPr id="10" name="Text Box 10">
            <a:extLst>
              <a:ext uri="{FF2B5EF4-FFF2-40B4-BE49-F238E27FC236}">
                <a16:creationId xmlns:a16="http://schemas.microsoft.com/office/drawing/2014/main" xmlns="" id="{44AAE174-25FB-73C6-FCB8-B8015B245EC0}"/>
              </a:ext>
            </a:extLst>
          </p:cNvPr>
          <p:cNvSpPr txBox="1">
            <a:spLocks noChangeArrowheads="1"/>
          </p:cNvSpPr>
          <p:nvPr/>
        </p:nvSpPr>
        <p:spPr bwMode="auto">
          <a:xfrm>
            <a:off x="6022194" y="3726656"/>
            <a:ext cx="811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2000" b="1" dirty="0" smtClean="0">
                <a:latin typeface="Times New Roman" panose="02020603050405020304" pitchFamily="18" charset="0"/>
                <a:cs typeface="Times New Roman" panose="02020603050405020304" pitchFamily="18" charset="0"/>
              </a:rPr>
              <a:t>Actor</a:t>
            </a:r>
            <a:endParaRPr lang="en-US" altLang="en-US" sz="2000" b="1" dirty="0">
              <a:latin typeface="Times New Roman" panose="02020603050405020304" pitchFamily="18" charset="0"/>
              <a:cs typeface="Times New Roman" panose="02020603050405020304" pitchFamily="18" charset="0"/>
            </a:endParaRPr>
          </a:p>
        </p:txBody>
      </p:sp>
      <p:sp>
        <p:nvSpPr>
          <p:cNvPr id="11" name="Line 8">
            <a:extLst>
              <a:ext uri="{FF2B5EF4-FFF2-40B4-BE49-F238E27FC236}">
                <a16:creationId xmlns:a16="http://schemas.microsoft.com/office/drawing/2014/main" xmlns="" id="{DBCD1FAB-0D21-B035-CB43-688B9E230CD2}"/>
              </a:ext>
            </a:extLst>
          </p:cNvPr>
          <p:cNvSpPr>
            <a:spLocks noChangeShapeType="1"/>
          </p:cNvSpPr>
          <p:nvPr/>
        </p:nvSpPr>
        <p:spPr bwMode="auto">
          <a:xfrm>
            <a:off x="6022194" y="4437822"/>
            <a:ext cx="838200"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wrap="none"/>
          <a:lstStyle/>
          <a:p>
            <a:endParaRPr lang="en-US"/>
          </a:p>
        </p:txBody>
      </p:sp>
      <p:sp>
        <p:nvSpPr>
          <p:cNvPr id="3" name="Oval 2"/>
          <p:cNvSpPr/>
          <p:nvPr/>
        </p:nvSpPr>
        <p:spPr>
          <a:xfrm>
            <a:off x="5984094" y="5164614"/>
            <a:ext cx="914400" cy="45743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11">
            <a:extLst>
              <a:ext uri="{FF2B5EF4-FFF2-40B4-BE49-F238E27FC236}">
                <a16:creationId xmlns:a16="http://schemas.microsoft.com/office/drawing/2014/main" xmlns="" id="{052E2ACC-588B-7B8E-89BD-3F25AC0F3928}"/>
              </a:ext>
            </a:extLst>
          </p:cNvPr>
          <p:cNvSpPr txBox="1">
            <a:spLocks noChangeArrowheads="1"/>
          </p:cNvSpPr>
          <p:nvPr/>
        </p:nvSpPr>
        <p:spPr bwMode="auto">
          <a:xfrm>
            <a:off x="5885440" y="5596054"/>
            <a:ext cx="1124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2000" b="1" dirty="0">
                <a:latin typeface="Times New Roman" panose="02020603050405020304" pitchFamily="18" charset="0"/>
                <a:cs typeface="Times New Roman" panose="02020603050405020304" pitchFamily="18" charset="0"/>
              </a:rPr>
              <a:t>Use-case</a:t>
            </a:r>
          </a:p>
        </p:txBody>
      </p:sp>
    </p:spTree>
    <p:extLst>
      <p:ext uri="{BB962C8B-B14F-4D97-AF65-F5344CB8AC3E}">
        <p14:creationId xmlns:p14="http://schemas.microsoft.com/office/powerpoint/2010/main" val="4244287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37F49F-1C38-222F-1E80-1210E3BB43A1}"/>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System</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7D867E0-61E5-FD6B-2E9E-7A453B1A18B3}"/>
              </a:ext>
            </a:extLst>
          </p:cNvPr>
          <p:cNvSpPr>
            <a:spLocks noGrp="1"/>
          </p:cNvSpPr>
          <p:nvPr>
            <p:ph idx="1"/>
          </p:nvPr>
        </p:nvSpPr>
        <p:spPr/>
        <p:txBody>
          <a:bodyPr/>
          <a:lstStyle/>
          <a:p>
            <a:r>
              <a:rPr lang="en-US" altLang="en-US" sz="2800" dirty="0"/>
              <a:t>As a part of the use-case modeling, the boundaries of the system are developed.</a:t>
            </a:r>
          </a:p>
          <a:p>
            <a:r>
              <a:rPr lang="en-US" altLang="en-US" sz="2800" dirty="0"/>
              <a:t>System in the use-case diagram is a box with the name appearing on the top.</a:t>
            </a:r>
          </a:p>
          <a:p>
            <a:r>
              <a:rPr lang="en-US" altLang="en-US" sz="2800" dirty="0"/>
              <a:t>Define the scope of the system that you are going to design with your </a:t>
            </a:r>
            <a:r>
              <a:rPr lang="en-US" altLang="en-US" sz="2800" dirty="0" err="1"/>
              <a:t>MyRo</a:t>
            </a:r>
            <a:r>
              <a:rPr lang="en-US" altLang="en-US" sz="2800" dirty="0"/>
              <a:t>. (software scope)</a:t>
            </a:r>
          </a:p>
          <a:p>
            <a:endParaRPr lang="en-US" dirty="0"/>
          </a:p>
        </p:txBody>
      </p:sp>
      <p:sp>
        <p:nvSpPr>
          <p:cNvPr id="4" name="Rectangle 3">
            <a:extLst>
              <a:ext uri="{FF2B5EF4-FFF2-40B4-BE49-F238E27FC236}">
                <a16:creationId xmlns:a16="http://schemas.microsoft.com/office/drawing/2014/main" xmlns="" id="{3ABE47CF-B72B-A7AC-4E79-9D3940D6BE84}"/>
              </a:ext>
            </a:extLst>
          </p:cNvPr>
          <p:cNvSpPr/>
          <p:nvPr/>
        </p:nvSpPr>
        <p:spPr>
          <a:xfrm>
            <a:off x="8801100" y="4805363"/>
            <a:ext cx="13716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 name="TextBox 7">
            <a:extLst>
              <a:ext uri="{FF2B5EF4-FFF2-40B4-BE49-F238E27FC236}">
                <a16:creationId xmlns:a16="http://schemas.microsoft.com/office/drawing/2014/main" xmlns="" id="{49D2991C-D5C6-CA16-0C8A-2B4A430C6AA5}"/>
              </a:ext>
            </a:extLst>
          </p:cNvPr>
          <p:cNvSpPr txBox="1">
            <a:spLocks noChangeArrowheads="1"/>
          </p:cNvSpPr>
          <p:nvPr/>
        </p:nvSpPr>
        <p:spPr bwMode="auto">
          <a:xfrm>
            <a:off x="8448675" y="4362451"/>
            <a:ext cx="23455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1800" dirty="0" err="1">
                <a:latin typeface="Times New Roman" panose="02020603050405020304" pitchFamily="18" charset="0"/>
                <a:cs typeface="Times New Roman" panose="02020603050405020304" pitchFamily="18" charset="0"/>
              </a:rPr>
              <a:t>MyRo</a:t>
            </a:r>
            <a:r>
              <a:rPr lang="en-US" altLang="en-US" sz="1800" dirty="0">
                <a:latin typeface="Times New Roman" panose="02020603050405020304" pitchFamily="18" charset="0"/>
                <a:cs typeface="Times New Roman" panose="02020603050405020304" pitchFamily="18" charset="0"/>
              </a:rPr>
              <a:t> Software </a:t>
            </a:r>
            <a:r>
              <a:rPr lang="en-US" altLang="en-US" sz="1800" dirty="0" err="1">
                <a:latin typeface="Times New Roman" panose="02020603050405020304" pitchFamily="18" charset="0"/>
                <a:cs typeface="Times New Roman" panose="02020603050405020304" pitchFamily="18" charset="0"/>
              </a:rPr>
              <a:t>Appln</a:t>
            </a:r>
            <a:r>
              <a:rPr lang="en-US" alt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39665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72D213-4753-AFC7-DE81-80C664EF165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Actors</a:t>
            </a:r>
          </a:p>
        </p:txBody>
      </p:sp>
      <p:sp>
        <p:nvSpPr>
          <p:cNvPr id="3" name="Content Placeholder 2">
            <a:extLst>
              <a:ext uri="{FF2B5EF4-FFF2-40B4-BE49-F238E27FC236}">
                <a16:creationId xmlns:a16="http://schemas.microsoft.com/office/drawing/2014/main" xmlns="" id="{B07D7A3C-534E-2F51-A9AF-63E927DFEAB2}"/>
              </a:ext>
            </a:extLst>
          </p:cNvPr>
          <p:cNvSpPr>
            <a:spLocks noGrp="1"/>
          </p:cNvSpPr>
          <p:nvPr>
            <p:ph idx="1"/>
          </p:nvPr>
        </p:nvSpPr>
        <p:spPr/>
        <p:txBody>
          <a:bodyPr/>
          <a:lstStyle/>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An </a:t>
            </a:r>
            <a:r>
              <a:rPr lang="en-US" sz="2800" dirty="0">
                <a:latin typeface="Times New Roman" panose="02020603050405020304" pitchFamily="18" charset="0"/>
                <a:cs typeface="Times New Roman" panose="02020603050405020304" pitchFamily="18" charset="0"/>
              </a:rPr>
              <a:t>actor is something or someone that interacts with the system.</a:t>
            </a:r>
          </a:p>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Actor </a:t>
            </a:r>
            <a:r>
              <a:rPr lang="en-US" sz="2800" dirty="0">
                <a:latin typeface="Times New Roman" panose="02020603050405020304" pitchFamily="18" charset="0"/>
                <a:cs typeface="Times New Roman" panose="02020603050405020304" pitchFamily="18" charset="0"/>
              </a:rPr>
              <a:t>communicates with the system by sending and receiving messages.</a:t>
            </a:r>
          </a:p>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An </a:t>
            </a:r>
            <a:r>
              <a:rPr lang="en-US" sz="2800" dirty="0">
                <a:latin typeface="Times New Roman" panose="02020603050405020304" pitchFamily="18" charset="0"/>
                <a:cs typeface="Times New Roman" panose="02020603050405020304" pitchFamily="18" charset="0"/>
              </a:rPr>
              <a:t>actor provides the stimulus to activate an Use-case.</a:t>
            </a:r>
          </a:p>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Message </a:t>
            </a:r>
            <a:r>
              <a:rPr lang="en-US" sz="2800" dirty="0">
                <a:latin typeface="Times New Roman" panose="02020603050405020304" pitchFamily="18" charset="0"/>
                <a:cs typeface="Times New Roman" panose="02020603050405020304" pitchFamily="18" charset="0"/>
              </a:rPr>
              <a:t>sent by an actor may result in more messages to actors and to Use-cases.</a:t>
            </a:r>
          </a:p>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Actors </a:t>
            </a:r>
            <a:r>
              <a:rPr lang="en-US" sz="2800" dirty="0">
                <a:latin typeface="Times New Roman" panose="02020603050405020304" pitchFamily="18" charset="0"/>
                <a:cs typeface="Times New Roman" panose="02020603050405020304" pitchFamily="18" charset="0"/>
              </a:rPr>
              <a:t>can be ranked: primary and secondary; passive and active.</a:t>
            </a:r>
          </a:p>
          <a:p>
            <a:pPr fontAlgn="auto">
              <a:lnSpc>
                <a:spcPct val="90000"/>
              </a:lnSpc>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 Actor </a:t>
            </a:r>
            <a:r>
              <a:rPr lang="en-US" sz="2800" dirty="0">
                <a:latin typeface="Times New Roman" panose="02020603050405020304" pitchFamily="18" charset="0"/>
                <a:cs typeface="Times New Roman" panose="02020603050405020304" pitchFamily="18" charset="0"/>
              </a:rPr>
              <a:t>is a role not an individual instance.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6780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75FD9C-5C3F-6857-7628-AB24C7DEC360}"/>
              </a:ext>
            </a:extLst>
          </p:cNvPr>
          <p:cNvSpPr>
            <a:spLocks noGrp="1"/>
          </p:cNvSpPr>
          <p:nvPr>
            <p:ph type="title"/>
          </p:nvPr>
        </p:nvSpPr>
        <p:spPr/>
        <p:txBody>
          <a:bodyPr/>
          <a:lstStyle/>
          <a:p>
            <a:r>
              <a:rPr lang="en-US" altLang="en-US" b="1">
                <a:latin typeface="Times New Roman" panose="02020603050405020304" pitchFamily="18" charset="0"/>
                <a:cs typeface="Times New Roman" panose="02020603050405020304" pitchFamily="18" charset="0"/>
              </a:rPr>
              <a:t>Finding Actors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79C8470-5212-A696-4321-171AF5C3FD2B}"/>
              </a:ext>
            </a:extLst>
          </p:cNvPr>
          <p:cNvSpPr>
            <a:spLocks noGrp="1"/>
          </p:cNvSpPr>
          <p:nvPr>
            <p:ph idx="1"/>
          </p:nvPr>
        </p:nvSpPr>
        <p:spPr/>
        <p:txBody>
          <a:bodyPr/>
          <a:lstStyle/>
          <a:p>
            <a:r>
              <a:rPr lang="en-US" altLang="en-US" sz="2800" dirty="0"/>
              <a:t>The actors of a system can be identified by answering a number of questions:</a:t>
            </a:r>
          </a:p>
          <a:p>
            <a:pPr lvl="1"/>
            <a:r>
              <a:rPr lang="en-US" altLang="en-US" sz="2400" dirty="0"/>
              <a:t>Who will use the functionality of the system?</a:t>
            </a:r>
          </a:p>
          <a:p>
            <a:pPr lvl="1"/>
            <a:r>
              <a:rPr lang="en-US" altLang="en-US" sz="2400" dirty="0"/>
              <a:t>Who will maintain the system?</a:t>
            </a:r>
          </a:p>
          <a:p>
            <a:pPr lvl="1"/>
            <a:r>
              <a:rPr lang="en-US" altLang="en-US" sz="2400" dirty="0"/>
              <a:t>What devices does the system need to handle?</a:t>
            </a:r>
          </a:p>
          <a:p>
            <a:pPr lvl="1"/>
            <a:r>
              <a:rPr lang="en-US" altLang="en-US" sz="2400" dirty="0"/>
              <a:t>What other system does this system need to interact?</a:t>
            </a:r>
          </a:p>
          <a:p>
            <a:pPr lvl="1"/>
            <a:r>
              <a:rPr lang="en-US" altLang="en-US" sz="2400" dirty="0"/>
              <a:t>Who or what has interest in the results of this system?</a:t>
            </a:r>
          </a:p>
          <a:p>
            <a:endParaRPr lang="en-US" dirty="0"/>
          </a:p>
        </p:txBody>
      </p:sp>
    </p:spTree>
    <p:extLst>
      <p:ext uri="{BB962C8B-B14F-4D97-AF65-F5344CB8AC3E}">
        <p14:creationId xmlns:p14="http://schemas.microsoft.com/office/powerpoint/2010/main" val="392876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F3E366-9B72-7181-F0E5-581DD6A02A75}"/>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Use-cases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90DE6EA-2CAD-8038-E63E-22AF3110216C}"/>
              </a:ext>
            </a:extLst>
          </p:cNvPr>
          <p:cNvSpPr>
            <a:spLocks noGrp="1"/>
          </p:cNvSpPr>
          <p:nvPr>
            <p:ph idx="1"/>
          </p:nvPr>
        </p:nvSpPr>
        <p:spPr/>
        <p:txBody>
          <a:bodyPr/>
          <a:lstStyle/>
          <a:p>
            <a:pPr fontAlgn="auto">
              <a:lnSpc>
                <a:spcPct val="90000"/>
              </a:lnSpc>
              <a:spcAft>
                <a:spcPts val="0"/>
              </a:spcAft>
              <a:defRPr/>
            </a:pPr>
            <a:r>
              <a:rPr lang="en-US" sz="2400" dirty="0"/>
              <a:t>A Use-case in UML is defined as a set of sequences of actions a system performs that yield an observable result of value to a particular actor.</a:t>
            </a:r>
          </a:p>
          <a:p>
            <a:pPr fontAlgn="auto">
              <a:lnSpc>
                <a:spcPct val="90000"/>
              </a:lnSpc>
              <a:spcAft>
                <a:spcPts val="0"/>
              </a:spcAft>
              <a:defRPr/>
            </a:pPr>
            <a:r>
              <a:rPr lang="en-US" sz="2400" dirty="0"/>
              <a:t>Actions can involve communicating with number of actors as well as performing calculations and work inside the system.</a:t>
            </a:r>
          </a:p>
          <a:p>
            <a:pPr fontAlgn="auto">
              <a:lnSpc>
                <a:spcPct val="90000"/>
              </a:lnSpc>
              <a:spcAft>
                <a:spcPts val="0"/>
              </a:spcAft>
              <a:defRPr/>
            </a:pPr>
            <a:r>
              <a:rPr lang="en-US" sz="2400" dirty="0"/>
              <a:t>A Use-case </a:t>
            </a:r>
          </a:p>
          <a:p>
            <a:pPr lvl="1" fontAlgn="auto">
              <a:lnSpc>
                <a:spcPct val="90000"/>
              </a:lnSpc>
              <a:spcAft>
                <a:spcPts val="0"/>
              </a:spcAft>
              <a:defRPr/>
            </a:pPr>
            <a:r>
              <a:rPr lang="en-US" sz="2400" dirty="0"/>
              <a:t>is always initiated by an actor.</a:t>
            </a:r>
          </a:p>
          <a:p>
            <a:pPr lvl="1" fontAlgn="auto">
              <a:lnSpc>
                <a:spcPct val="90000"/>
              </a:lnSpc>
              <a:spcAft>
                <a:spcPts val="0"/>
              </a:spcAft>
              <a:defRPr/>
            </a:pPr>
            <a:r>
              <a:rPr lang="en-US" sz="2400" dirty="0"/>
              <a:t>provides a value to an actor.</a:t>
            </a:r>
          </a:p>
          <a:p>
            <a:pPr lvl="1" fontAlgn="auto">
              <a:lnSpc>
                <a:spcPct val="90000"/>
              </a:lnSpc>
              <a:spcAft>
                <a:spcPts val="0"/>
              </a:spcAft>
              <a:defRPr/>
            </a:pPr>
            <a:r>
              <a:rPr lang="en-US" sz="2400" dirty="0"/>
              <a:t>must always be connected to at least one actor.</a:t>
            </a:r>
          </a:p>
          <a:p>
            <a:pPr lvl="1" fontAlgn="auto">
              <a:lnSpc>
                <a:spcPct val="90000"/>
              </a:lnSpc>
              <a:spcAft>
                <a:spcPts val="0"/>
              </a:spcAft>
              <a:defRPr/>
            </a:pPr>
            <a:r>
              <a:rPr lang="en-US" sz="2400" dirty="0"/>
              <a:t>must be a complete description.</a:t>
            </a:r>
          </a:p>
          <a:p>
            <a:endParaRPr lang="en-US" dirty="0"/>
          </a:p>
        </p:txBody>
      </p:sp>
    </p:spTree>
    <p:extLst>
      <p:ext uri="{BB962C8B-B14F-4D97-AF65-F5344CB8AC3E}">
        <p14:creationId xmlns:p14="http://schemas.microsoft.com/office/powerpoint/2010/main" val="1357561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8F07D3-05AD-E29B-7E17-7F5636B071D2}"/>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Finding Use-cases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2BC7451-E47A-D91F-EE4E-70578A3190B8}"/>
              </a:ext>
            </a:extLst>
          </p:cNvPr>
          <p:cNvSpPr>
            <a:spLocks noGrp="1"/>
          </p:cNvSpPr>
          <p:nvPr>
            <p:ph idx="1"/>
          </p:nvPr>
        </p:nvSpPr>
        <p:spPr/>
        <p:txBody>
          <a:bodyPr/>
          <a:lstStyle/>
          <a:p>
            <a:r>
              <a:rPr lang="en-US" altLang="en-US" sz="2800" dirty="0">
                <a:latin typeface="Times New Roman" panose="02020603050405020304" pitchFamily="18" charset="0"/>
                <a:cs typeface="Times New Roman" panose="02020603050405020304" pitchFamily="18" charset="0"/>
              </a:rPr>
              <a:t>For each actor ask these questions:</a:t>
            </a:r>
          </a:p>
          <a:p>
            <a:pPr lvl="1"/>
            <a:r>
              <a:rPr lang="en-US" altLang="en-US" sz="2400" dirty="0">
                <a:latin typeface="Times New Roman" panose="02020603050405020304" pitchFamily="18" charset="0"/>
                <a:cs typeface="Times New Roman" panose="02020603050405020304" pitchFamily="18" charset="0"/>
              </a:rPr>
              <a:t>Which functions does the actor require from the system?</a:t>
            </a:r>
          </a:p>
          <a:p>
            <a:pPr lvl="1"/>
            <a:r>
              <a:rPr lang="en-US" altLang="en-US" sz="2400" dirty="0">
                <a:latin typeface="Times New Roman" panose="02020603050405020304" pitchFamily="18" charset="0"/>
                <a:cs typeface="Times New Roman" panose="02020603050405020304" pitchFamily="18" charset="0"/>
              </a:rPr>
              <a:t>What does the actor need to do?</a:t>
            </a:r>
          </a:p>
          <a:p>
            <a:pPr lvl="1"/>
            <a:r>
              <a:rPr lang="en-US" altLang="en-US" sz="2400" dirty="0">
                <a:latin typeface="Times New Roman" panose="02020603050405020304" pitchFamily="18" charset="0"/>
                <a:cs typeface="Times New Roman" panose="02020603050405020304" pitchFamily="18" charset="0"/>
              </a:rPr>
              <a:t>Could the actor’s work be simplified or made efficient by new functions in the system?</a:t>
            </a:r>
          </a:p>
          <a:p>
            <a:pPr lvl="1"/>
            <a:r>
              <a:rPr lang="en-US" altLang="en-US" sz="2400" dirty="0">
                <a:latin typeface="Times New Roman" panose="02020603050405020304" pitchFamily="18" charset="0"/>
                <a:cs typeface="Times New Roman" panose="02020603050405020304" pitchFamily="18" charset="0"/>
              </a:rPr>
              <a:t>What events are needed in the system?</a:t>
            </a:r>
          </a:p>
          <a:p>
            <a:pPr lvl="1"/>
            <a:r>
              <a:rPr lang="en-US" altLang="en-US" sz="2400" dirty="0">
                <a:latin typeface="Times New Roman" panose="02020603050405020304" pitchFamily="18" charset="0"/>
                <a:cs typeface="Times New Roman" panose="02020603050405020304" pitchFamily="18" charset="0"/>
              </a:rPr>
              <a:t>What are the problems with the existing systems?</a:t>
            </a:r>
          </a:p>
          <a:p>
            <a:pPr lvl="1"/>
            <a:r>
              <a:rPr lang="en-US" altLang="en-US" sz="2400" dirty="0">
                <a:latin typeface="Times New Roman" panose="02020603050405020304" pitchFamily="18" charset="0"/>
                <a:cs typeface="Times New Roman" panose="02020603050405020304" pitchFamily="18" charset="0"/>
              </a:rPr>
              <a:t>What are the inputs and outputs of the system?</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3659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86AD69-13B5-BD4E-A5AD-DF2E9FC56452}"/>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Describing Use-cases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6783943-88D7-32E0-0034-AF689F83D1D1}"/>
              </a:ext>
            </a:extLst>
          </p:cNvPr>
          <p:cNvSpPr>
            <a:spLocks noGrp="1"/>
          </p:cNvSpPr>
          <p:nvPr>
            <p:ph idx="1"/>
          </p:nvPr>
        </p:nvSpPr>
        <p:spPr/>
        <p:txBody>
          <a:bodyPr>
            <a:normAutofit fontScale="92500" lnSpcReduction="20000"/>
          </a:bodyPr>
          <a:lstStyle/>
          <a:p>
            <a:pPr fontAlgn="auto">
              <a:lnSpc>
                <a:spcPct val="90000"/>
              </a:lnSpc>
              <a:spcAft>
                <a:spcPts val="0"/>
              </a:spcAft>
              <a:defRPr/>
            </a:pPr>
            <a:r>
              <a:rPr lang="en-US" sz="2800" dirty="0"/>
              <a:t>Use-case Name:</a:t>
            </a:r>
          </a:p>
          <a:p>
            <a:pPr fontAlgn="auto">
              <a:lnSpc>
                <a:spcPct val="90000"/>
              </a:lnSpc>
              <a:spcAft>
                <a:spcPts val="0"/>
              </a:spcAft>
              <a:defRPr/>
            </a:pPr>
            <a:r>
              <a:rPr lang="en-US" sz="2800" dirty="0"/>
              <a:t>Use-case Number: </a:t>
            </a:r>
            <a:r>
              <a:rPr lang="en-US" sz="2800" dirty="0" err="1"/>
              <a:t>system#.diagram#.Use-case</a:t>
            </a:r>
            <a:r>
              <a:rPr lang="en-US" sz="2800" dirty="0"/>
              <a:t>#</a:t>
            </a:r>
          </a:p>
          <a:p>
            <a:pPr fontAlgn="auto">
              <a:lnSpc>
                <a:spcPct val="90000"/>
              </a:lnSpc>
              <a:spcAft>
                <a:spcPts val="0"/>
              </a:spcAft>
              <a:defRPr/>
            </a:pPr>
            <a:r>
              <a:rPr lang="en-US" sz="2800" dirty="0"/>
              <a:t>Authors:</a:t>
            </a:r>
          </a:p>
          <a:p>
            <a:pPr fontAlgn="auto">
              <a:lnSpc>
                <a:spcPct val="90000"/>
              </a:lnSpc>
              <a:spcAft>
                <a:spcPts val="0"/>
              </a:spcAft>
              <a:defRPr/>
            </a:pPr>
            <a:r>
              <a:rPr lang="en-US" sz="2800" dirty="0"/>
              <a:t>Event(Stimulus):</a:t>
            </a:r>
          </a:p>
          <a:p>
            <a:pPr fontAlgn="auto">
              <a:lnSpc>
                <a:spcPct val="90000"/>
              </a:lnSpc>
              <a:spcAft>
                <a:spcPts val="0"/>
              </a:spcAft>
              <a:defRPr/>
            </a:pPr>
            <a:r>
              <a:rPr lang="en-US" sz="2800" dirty="0"/>
              <a:t>Actors:</a:t>
            </a:r>
          </a:p>
          <a:p>
            <a:pPr fontAlgn="auto">
              <a:lnSpc>
                <a:spcPct val="90000"/>
              </a:lnSpc>
              <a:spcAft>
                <a:spcPts val="0"/>
              </a:spcAft>
              <a:defRPr/>
            </a:pPr>
            <a:r>
              <a:rPr lang="en-US" sz="2800" dirty="0"/>
              <a:t>Overview: brief statement</a:t>
            </a:r>
          </a:p>
          <a:p>
            <a:pPr fontAlgn="auto">
              <a:lnSpc>
                <a:spcPct val="90000"/>
              </a:lnSpc>
              <a:spcAft>
                <a:spcPts val="0"/>
              </a:spcAft>
              <a:defRPr/>
            </a:pPr>
            <a:r>
              <a:rPr lang="en-US" sz="2800" dirty="0"/>
              <a:t>Related Use-cases:</a:t>
            </a:r>
          </a:p>
          <a:p>
            <a:pPr fontAlgn="auto">
              <a:lnSpc>
                <a:spcPct val="90000"/>
              </a:lnSpc>
              <a:spcAft>
                <a:spcPts val="0"/>
              </a:spcAft>
              <a:defRPr/>
            </a:pPr>
            <a:r>
              <a:rPr lang="en-US" sz="2800" dirty="0"/>
              <a:t>Typical Process description: Algorithm</a:t>
            </a:r>
          </a:p>
          <a:p>
            <a:pPr fontAlgn="auto">
              <a:lnSpc>
                <a:spcPct val="90000"/>
              </a:lnSpc>
              <a:spcAft>
                <a:spcPts val="0"/>
              </a:spcAft>
              <a:defRPr/>
            </a:pPr>
            <a:r>
              <a:rPr lang="en-US" sz="2800" dirty="0"/>
              <a:t>Exceptions and how to handle exceptions:</a:t>
            </a:r>
          </a:p>
          <a:p>
            <a:pPr fontAlgn="auto">
              <a:lnSpc>
                <a:spcPct val="90000"/>
              </a:lnSpc>
              <a:spcAft>
                <a:spcPts val="0"/>
              </a:spcAft>
              <a:defRPr/>
            </a:pPr>
            <a:endParaRPr lang="en-US" sz="2800" dirty="0"/>
          </a:p>
          <a:p>
            <a:endParaRPr lang="en-US" dirty="0"/>
          </a:p>
        </p:txBody>
      </p:sp>
    </p:spTree>
    <p:extLst>
      <p:ext uri="{BB962C8B-B14F-4D97-AF65-F5344CB8AC3E}">
        <p14:creationId xmlns:p14="http://schemas.microsoft.com/office/powerpoint/2010/main" val="243911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A20145-2C61-DC8B-A196-FD213B7EE0B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xmlns="" id="{DC9603D5-FE03-DCE6-E31D-667D7E492B31}"/>
              </a:ext>
            </a:extLst>
          </p:cNvPr>
          <p:cNvSpPr>
            <a:spLocks noGrp="1"/>
          </p:cNvSpPr>
          <p:nvPr>
            <p:ph idx="1"/>
          </p:nvPr>
        </p:nvSpPr>
        <p:spPr/>
        <p:txBody>
          <a:bodyPr>
            <a:normAutofit fontScale="85000" lnSpcReduction="20000"/>
          </a:bodyPr>
          <a:lstStyle/>
          <a:p>
            <a:pPr fontAlgn="auto">
              <a:lnSpc>
                <a:spcPct val="90000"/>
              </a:lnSpc>
              <a:spcAft>
                <a:spcPts val="0"/>
              </a:spcAft>
              <a:defRPr/>
            </a:pPr>
            <a:r>
              <a:rPr lang="en-US" sz="2800" dirty="0"/>
              <a:t>Number: A.132.4</a:t>
            </a:r>
          </a:p>
          <a:p>
            <a:pPr fontAlgn="auto">
              <a:lnSpc>
                <a:spcPct val="90000"/>
              </a:lnSpc>
              <a:spcAft>
                <a:spcPts val="0"/>
              </a:spcAft>
              <a:defRPr/>
            </a:pPr>
            <a:r>
              <a:rPr lang="en-US" sz="2800" dirty="0"/>
              <a:t>Name: Buy book online</a:t>
            </a:r>
          </a:p>
          <a:p>
            <a:pPr fontAlgn="auto">
              <a:lnSpc>
                <a:spcPct val="90000"/>
              </a:lnSpc>
              <a:spcAft>
                <a:spcPts val="0"/>
              </a:spcAft>
              <a:defRPr/>
            </a:pPr>
            <a:r>
              <a:rPr lang="en-US" sz="2800" dirty="0"/>
              <a:t>Author: </a:t>
            </a:r>
            <a:r>
              <a:rPr lang="en-US" sz="2800" dirty="0" err="1"/>
              <a:t>B.Ramamurthy</a:t>
            </a:r>
            <a:endParaRPr lang="en-US" sz="2800" dirty="0"/>
          </a:p>
          <a:p>
            <a:pPr fontAlgn="auto">
              <a:lnSpc>
                <a:spcPct val="90000"/>
              </a:lnSpc>
              <a:spcAft>
                <a:spcPts val="0"/>
              </a:spcAft>
              <a:defRPr/>
            </a:pPr>
            <a:r>
              <a:rPr lang="en-US" sz="2800" dirty="0"/>
              <a:t>Event: Customer request one or more books</a:t>
            </a:r>
          </a:p>
          <a:p>
            <a:pPr fontAlgn="auto">
              <a:lnSpc>
                <a:spcPct val="90000"/>
              </a:lnSpc>
              <a:spcAft>
                <a:spcPts val="0"/>
              </a:spcAft>
              <a:defRPr/>
            </a:pPr>
            <a:r>
              <a:rPr lang="en-US" sz="2800" dirty="0"/>
              <a:t>System: Amazon.com</a:t>
            </a:r>
          </a:p>
          <a:p>
            <a:pPr fontAlgn="auto">
              <a:lnSpc>
                <a:spcPct val="90000"/>
              </a:lnSpc>
              <a:spcAft>
                <a:spcPts val="0"/>
              </a:spcAft>
              <a:defRPr/>
            </a:pPr>
            <a:r>
              <a:rPr lang="en-US" sz="2800" dirty="0"/>
              <a:t>Overview: Captures the process of purchasing one or more books and the transactions associated with it.</a:t>
            </a:r>
          </a:p>
          <a:p>
            <a:pPr fontAlgn="auto">
              <a:lnSpc>
                <a:spcPct val="90000"/>
              </a:lnSpc>
              <a:spcAft>
                <a:spcPts val="0"/>
              </a:spcAft>
              <a:defRPr/>
            </a:pPr>
            <a:r>
              <a:rPr lang="en-US" sz="2800" dirty="0"/>
              <a:t>Related Use-case: A.132.5, A.132.8</a:t>
            </a:r>
          </a:p>
          <a:p>
            <a:pPr fontAlgn="auto">
              <a:lnSpc>
                <a:spcPct val="90000"/>
              </a:lnSpc>
              <a:spcAft>
                <a:spcPts val="0"/>
              </a:spcAft>
              <a:defRPr/>
            </a:pPr>
            <a:r>
              <a:rPr lang="en-US" sz="2800" dirty="0"/>
              <a:t>Typical Process Description with exceptions handled.</a:t>
            </a:r>
          </a:p>
          <a:p>
            <a:pPr fontAlgn="auto">
              <a:lnSpc>
                <a:spcPct val="90000"/>
              </a:lnSpc>
              <a:spcAft>
                <a:spcPts val="0"/>
              </a:spcAft>
              <a:buFont typeface="Wingdings" pitchFamily="2" charset="2"/>
              <a:buNone/>
              <a:defRPr/>
            </a:pPr>
            <a:r>
              <a:rPr lang="en-US" sz="2800" dirty="0"/>
              <a:t>NOTE : All these can be in a tabular form, say, in an Excel worksheet for example.</a:t>
            </a:r>
          </a:p>
          <a:p>
            <a:pPr fontAlgn="auto">
              <a:lnSpc>
                <a:spcPct val="90000"/>
              </a:lnSpc>
              <a:spcAft>
                <a:spcPts val="0"/>
              </a:spcAft>
              <a:defRPr/>
            </a:pPr>
            <a:endParaRPr lang="en-US" sz="2800" dirty="0"/>
          </a:p>
          <a:p>
            <a:endParaRPr lang="en-US" dirty="0"/>
          </a:p>
        </p:txBody>
      </p:sp>
    </p:spTree>
    <p:extLst>
      <p:ext uri="{BB962C8B-B14F-4D97-AF65-F5344CB8AC3E}">
        <p14:creationId xmlns:p14="http://schemas.microsoft.com/office/powerpoint/2010/main" val="1668039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46309B-69FE-611A-484B-3018312E7DC7}"/>
              </a:ext>
            </a:extLst>
          </p:cNvPr>
          <p:cNvSpPr>
            <a:spLocks noGrp="1"/>
          </p:cNvSpPr>
          <p:nvPr>
            <p:ph type="title"/>
          </p:nvPr>
        </p:nvSpPr>
        <p:spPr>
          <a:xfrm>
            <a:off x="1066800" y="-9198"/>
            <a:ext cx="10058400" cy="1450757"/>
          </a:xfrm>
        </p:spPr>
        <p:txBody>
          <a:bodyPr/>
          <a:lstStyle/>
          <a:p>
            <a:r>
              <a:rPr lang="en-US" sz="4400" b="1" dirty="0">
                <a:latin typeface="Times New Roman" panose="02020603050405020304" pitchFamily="18" charset="0"/>
                <a:cs typeface="Times New Roman" panose="02020603050405020304" pitchFamily="18" charset="0"/>
              </a:rPr>
              <a:t>Interaction between user and Use-case</a:t>
            </a:r>
            <a:endParaRPr lang="en-US" b="1" dirty="0">
              <a:latin typeface="Times New Roman" panose="02020603050405020304" pitchFamily="18" charset="0"/>
              <a:cs typeface="Times New Roman" panose="02020603050405020304" pitchFamily="18" charset="0"/>
            </a:endParaRPr>
          </a:p>
        </p:txBody>
      </p:sp>
      <p:sp>
        <p:nvSpPr>
          <p:cNvPr id="6" name="Text Box 1029">
            <a:extLst>
              <a:ext uri="{FF2B5EF4-FFF2-40B4-BE49-F238E27FC236}">
                <a16:creationId xmlns:a16="http://schemas.microsoft.com/office/drawing/2014/main" xmlns="" id="{92ADFEBA-FA14-1A77-2954-834688753D55}"/>
              </a:ext>
            </a:extLst>
          </p:cNvPr>
          <p:cNvSpPr txBox="1">
            <a:spLocks noChangeArrowheads="1"/>
          </p:cNvSpPr>
          <p:nvPr/>
        </p:nvSpPr>
        <p:spPr bwMode="auto">
          <a:xfrm>
            <a:off x="2473325" y="2008188"/>
            <a:ext cx="153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sz="2400"/>
          </a:p>
        </p:txBody>
      </p:sp>
      <p:sp>
        <p:nvSpPr>
          <p:cNvPr id="7" name="Text Box 1032">
            <a:extLst>
              <a:ext uri="{FF2B5EF4-FFF2-40B4-BE49-F238E27FC236}">
                <a16:creationId xmlns:a16="http://schemas.microsoft.com/office/drawing/2014/main" xmlns="" id="{8F727DFD-8B0D-ABFD-40A1-5318AF9C7DDB}"/>
              </a:ext>
            </a:extLst>
          </p:cNvPr>
          <p:cNvSpPr txBox="1">
            <a:spLocks noChangeArrowheads="1"/>
          </p:cNvSpPr>
          <p:nvPr/>
        </p:nvSpPr>
        <p:spPr bwMode="auto">
          <a:xfrm>
            <a:off x="5784850" y="2673350"/>
            <a:ext cx="784225"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a:t>Count</a:t>
            </a:r>
          </a:p>
          <a:p>
            <a:pPr algn="ctr" eaLnBrk="1" hangingPunct="1"/>
            <a:r>
              <a:rPr lang="en-US" altLang="en-US" sz="1800"/>
              <a:t> coins</a:t>
            </a:r>
          </a:p>
        </p:txBody>
      </p:sp>
      <p:sp>
        <p:nvSpPr>
          <p:cNvPr id="8" name="Text Box 1033">
            <a:extLst>
              <a:ext uri="{FF2B5EF4-FFF2-40B4-BE49-F238E27FC236}">
                <a16:creationId xmlns:a16="http://schemas.microsoft.com/office/drawing/2014/main" xmlns="" id="{8576D2B2-BE85-4522-107A-05277BB69B17}"/>
              </a:ext>
            </a:extLst>
          </p:cNvPr>
          <p:cNvSpPr txBox="1">
            <a:spLocks noChangeArrowheads="1"/>
          </p:cNvSpPr>
          <p:nvPr/>
        </p:nvSpPr>
        <p:spPr bwMode="auto">
          <a:xfrm>
            <a:off x="5599113" y="3587750"/>
            <a:ext cx="1171575"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a:t>Show/see</a:t>
            </a:r>
          </a:p>
          <a:p>
            <a:pPr algn="ctr" eaLnBrk="1" hangingPunct="1"/>
            <a:r>
              <a:rPr lang="en-US" altLang="en-US" sz="1800"/>
              <a:t>drinks</a:t>
            </a:r>
          </a:p>
        </p:txBody>
      </p:sp>
      <p:sp>
        <p:nvSpPr>
          <p:cNvPr id="9" name="Text Box 1034">
            <a:extLst>
              <a:ext uri="{FF2B5EF4-FFF2-40B4-BE49-F238E27FC236}">
                <a16:creationId xmlns:a16="http://schemas.microsoft.com/office/drawing/2014/main" xmlns="" id="{F17A2C0D-F166-C4A2-9951-597FB3234FBD}"/>
              </a:ext>
            </a:extLst>
          </p:cNvPr>
          <p:cNvSpPr txBox="1">
            <a:spLocks noChangeArrowheads="1"/>
          </p:cNvSpPr>
          <p:nvPr/>
        </p:nvSpPr>
        <p:spPr bwMode="auto">
          <a:xfrm>
            <a:off x="5632450" y="4578350"/>
            <a:ext cx="10668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a:t>Choose</a:t>
            </a:r>
          </a:p>
          <a:p>
            <a:pPr algn="ctr" eaLnBrk="1" hangingPunct="1"/>
            <a:r>
              <a:rPr lang="en-US" altLang="en-US" sz="1800"/>
              <a:t> drink</a:t>
            </a:r>
          </a:p>
        </p:txBody>
      </p:sp>
      <p:sp>
        <p:nvSpPr>
          <p:cNvPr id="10" name="Text Box 1035">
            <a:extLst>
              <a:ext uri="{FF2B5EF4-FFF2-40B4-BE49-F238E27FC236}">
                <a16:creationId xmlns:a16="http://schemas.microsoft.com/office/drawing/2014/main" xmlns="" id="{4D17996F-5000-FBED-C8C1-38A74C43B068}"/>
              </a:ext>
            </a:extLst>
          </p:cNvPr>
          <p:cNvSpPr txBox="1">
            <a:spLocks noChangeArrowheads="1"/>
          </p:cNvSpPr>
          <p:nvPr/>
        </p:nvSpPr>
        <p:spPr bwMode="auto">
          <a:xfrm>
            <a:off x="7461250" y="4349750"/>
            <a:ext cx="1316038"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a:t>Show drink</a:t>
            </a:r>
          </a:p>
          <a:p>
            <a:pPr algn="ctr" eaLnBrk="1" hangingPunct="1"/>
            <a:r>
              <a:rPr lang="en-US" altLang="en-US" sz="1800"/>
              <a:t> N/A</a:t>
            </a:r>
          </a:p>
        </p:txBody>
      </p:sp>
      <p:sp>
        <p:nvSpPr>
          <p:cNvPr id="11" name="Text Box 1036">
            <a:extLst>
              <a:ext uri="{FF2B5EF4-FFF2-40B4-BE49-F238E27FC236}">
                <a16:creationId xmlns:a16="http://schemas.microsoft.com/office/drawing/2014/main" xmlns="" id="{6495C0A2-31BE-7D4D-3D0E-34F1815AA669}"/>
              </a:ext>
            </a:extLst>
          </p:cNvPr>
          <p:cNvSpPr txBox="1">
            <a:spLocks noChangeArrowheads="1"/>
          </p:cNvSpPr>
          <p:nvPr/>
        </p:nvSpPr>
        <p:spPr bwMode="auto">
          <a:xfrm>
            <a:off x="5416550" y="5949950"/>
            <a:ext cx="163195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dirty="0"/>
              <a:t>Deliver/pickup</a:t>
            </a:r>
          </a:p>
          <a:p>
            <a:pPr algn="ctr" eaLnBrk="1" hangingPunct="1"/>
            <a:r>
              <a:rPr lang="en-US" altLang="en-US" sz="1800" dirty="0"/>
              <a:t>drink</a:t>
            </a:r>
          </a:p>
        </p:txBody>
      </p:sp>
      <p:sp>
        <p:nvSpPr>
          <p:cNvPr id="12" name="Text Box 1037">
            <a:extLst>
              <a:ext uri="{FF2B5EF4-FFF2-40B4-BE49-F238E27FC236}">
                <a16:creationId xmlns:a16="http://schemas.microsoft.com/office/drawing/2014/main" xmlns="" id="{2F02E941-632A-AB8A-C1FA-F20E59472688}"/>
              </a:ext>
            </a:extLst>
          </p:cNvPr>
          <p:cNvSpPr txBox="1">
            <a:spLocks noChangeArrowheads="1"/>
          </p:cNvSpPr>
          <p:nvPr/>
        </p:nvSpPr>
        <p:spPr bwMode="auto">
          <a:xfrm>
            <a:off x="5784850" y="1682750"/>
            <a:ext cx="7874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r>
              <a:rPr lang="en-US" altLang="en-US" sz="1800"/>
              <a:t>Insert</a:t>
            </a:r>
          </a:p>
          <a:p>
            <a:pPr algn="ctr" eaLnBrk="1" hangingPunct="1"/>
            <a:r>
              <a:rPr lang="en-US" altLang="en-US" sz="1800"/>
              <a:t> coins</a:t>
            </a:r>
          </a:p>
        </p:txBody>
      </p:sp>
      <p:sp>
        <p:nvSpPr>
          <p:cNvPr id="13" name="Line 1038">
            <a:extLst>
              <a:ext uri="{FF2B5EF4-FFF2-40B4-BE49-F238E27FC236}">
                <a16:creationId xmlns:a16="http://schemas.microsoft.com/office/drawing/2014/main" xmlns="" id="{4444D70A-30E8-08B6-AF76-FB0CF3F5D321}"/>
              </a:ext>
            </a:extLst>
          </p:cNvPr>
          <p:cNvSpPr>
            <a:spLocks noChangeShapeType="1"/>
          </p:cNvSpPr>
          <p:nvPr/>
        </p:nvSpPr>
        <p:spPr bwMode="auto">
          <a:xfrm>
            <a:off x="6165850" y="427355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1040">
            <a:extLst>
              <a:ext uri="{FF2B5EF4-FFF2-40B4-BE49-F238E27FC236}">
                <a16:creationId xmlns:a16="http://schemas.microsoft.com/office/drawing/2014/main" xmlns="" id="{3CE92E8F-17E1-2C44-7DB0-031F39D72E8D}"/>
              </a:ext>
            </a:extLst>
          </p:cNvPr>
          <p:cNvSpPr>
            <a:spLocks noChangeShapeType="1"/>
          </p:cNvSpPr>
          <p:nvPr/>
        </p:nvSpPr>
        <p:spPr bwMode="auto">
          <a:xfrm>
            <a:off x="6165850" y="229235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042">
            <a:extLst>
              <a:ext uri="{FF2B5EF4-FFF2-40B4-BE49-F238E27FC236}">
                <a16:creationId xmlns:a16="http://schemas.microsoft.com/office/drawing/2014/main" xmlns="" id="{6BEA7E22-5D5D-702E-5217-4B1E2DB4C1CA}"/>
              </a:ext>
            </a:extLst>
          </p:cNvPr>
          <p:cNvSpPr>
            <a:spLocks noChangeShapeType="1"/>
          </p:cNvSpPr>
          <p:nvPr/>
        </p:nvSpPr>
        <p:spPr bwMode="auto">
          <a:xfrm>
            <a:off x="6623050" y="3892550"/>
            <a:ext cx="144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 name="Line 1043">
            <a:extLst>
              <a:ext uri="{FF2B5EF4-FFF2-40B4-BE49-F238E27FC236}">
                <a16:creationId xmlns:a16="http://schemas.microsoft.com/office/drawing/2014/main" xmlns="" id="{60ED13DE-FBEF-7373-9269-756E01F450E7}"/>
              </a:ext>
            </a:extLst>
          </p:cNvPr>
          <p:cNvSpPr>
            <a:spLocks noChangeShapeType="1"/>
          </p:cNvSpPr>
          <p:nvPr/>
        </p:nvSpPr>
        <p:spPr bwMode="auto">
          <a:xfrm>
            <a:off x="8070850" y="389255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7" name="Line 1044">
            <a:extLst>
              <a:ext uri="{FF2B5EF4-FFF2-40B4-BE49-F238E27FC236}">
                <a16:creationId xmlns:a16="http://schemas.microsoft.com/office/drawing/2014/main" xmlns="" id="{77537ECB-19AA-54FD-C231-7E1F16442257}"/>
              </a:ext>
            </a:extLst>
          </p:cNvPr>
          <p:cNvSpPr>
            <a:spLocks noChangeShapeType="1"/>
          </p:cNvSpPr>
          <p:nvPr/>
        </p:nvSpPr>
        <p:spPr bwMode="auto">
          <a:xfrm>
            <a:off x="6165850" y="526415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 name="Line 1046">
            <a:extLst>
              <a:ext uri="{FF2B5EF4-FFF2-40B4-BE49-F238E27FC236}">
                <a16:creationId xmlns:a16="http://schemas.microsoft.com/office/drawing/2014/main" xmlns="" id="{9145200C-C44A-9391-4179-64F194BDC0C4}"/>
              </a:ext>
            </a:extLst>
          </p:cNvPr>
          <p:cNvSpPr>
            <a:spLocks noChangeShapeType="1"/>
          </p:cNvSpPr>
          <p:nvPr/>
        </p:nvSpPr>
        <p:spPr bwMode="auto">
          <a:xfrm>
            <a:off x="8070850" y="503555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 name="Line 1047">
            <a:extLst>
              <a:ext uri="{FF2B5EF4-FFF2-40B4-BE49-F238E27FC236}">
                <a16:creationId xmlns:a16="http://schemas.microsoft.com/office/drawing/2014/main" xmlns="" id="{C52B7542-B9D1-4E2F-6A61-66B415723A45}"/>
              </a:ext>
            </a:extLst>
          </p:cNvPr>
          <p:cNvSpPr>
            <a:spLocks noChangeShapeType="1"/>
          </p:cNvSpPr>
          <p:nvPr/>
        </p:nvSpPr>
        <p:spPr bwMode="auto">
          <a:xfrm flipH="1">
            <a:off x="6165850" y="5492750"/>
            <a:ext cx="1905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 name="Line 1048">
            <a:extLst>
              <a:ext uri="{FF2B5EF4-FFF2-40B4-BE49-F238E27FC236}">
                <a16:creationId xmlns:a16="http://schemas.microsoft.com/office/drawing/2014/main" xmlns="" id="{FEFA18D7-2AD4-C030-9409-335D9B075FF7}"/>
              </a:ext>
            </a:extLst>
          </p:cNvPr>
          <p:cNvSpPr>
            <a:spLocks noChangeShapeType="1"/>
          </p:cNvSpPr>
          <p:nvPr/>
        </p:nvSpPr>
        <p:spPr bwMode="auto">
          <a:xfrm>
            <a:off x="6165850" y="328295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pic>
        <p:nvPicPr>
          <p:cNvPr id="21" name="Picture 1049">
            <a:extLst>
              <a:ext uri="{FF2B5EF4-FFF2-40B4-BE49-F238E27FC236}">
                <a16:creationId xmlns:a16="http://schemas.microsoft.com/office/drawing/2014/main" xmlns="" id="{0F01ED33-E755-C3DC-500A-52EE13C7B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00" y="2736850"/>
            <a:ext cx="220980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1050">
            <a:extLst>
              <a:ext uri="{FF2B5EF4-FFF2-40B4-BE49-F238E27FC236}">
                <a16:creationId xmlns:a16="http://schemas.microsoft.com/office/drawing/2014/main" xmlns="" id="{F78A28C3-18D6-9345-7810-7F7443A84A01}"/>
              </a:ext>
            </a:extLst>
          </p:cNvPr>
          <p:cNvSpPr>
            <a:spLocks noChangeShapeType="1"/>
          </p:cNvSpPr>
          <p:nvPr/>
        </p:nvSpPr>
        <p:spPr bwMode="auto">
          <a:xfrm flipV="1">
            <a:off x="3803650" y="2216150"/>
            <a:ext cx="2057400" cy="1447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3" name="Line 1052">
            <a:extLst>
              <a:ext uri="{FF2B5EF4-FFF2-40B4-BE49-F238E27FC236}">
                <a16:creationId xmlns:a16="http://schemas.microsoft.com/office/drawing/2014/main" xmlns="" id="{5CA007F7-6B68-5A17-DA7E-338B64B969C0}"/>
              </a:ext>
            </a:extLst>
          </p:cNvPr>
          <p:cNvSpPr>
            <a:spLocks noChangeShapeType="1"/>
          </p:cNvSpPr>
          <p:nvPr/>
        </p:nvSpPr>
        <p:spPr bwMode="auto">
          <a:xfrm>
            <a:off x="3803650" y="3663950"/>
            <a:ext cx="1905000" cy="1295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 name="Line 1053">
            <a:extLst>
              <a:ext uri="{FF2B5EF4-FFF2-40B4-BE49-F238E27FC236}">
                <a16:creationId xmlns:a16="http://schemas.microsoft.com/office/drawing/2014/main" xmlns="" id="{6BA7A51F-0984-AA40-2AB6-802917379FA5}"/>
              </a:ext>
            </a:extLst>
          </p:cNvPr>
          <p:cNvSpPr>
            <a:spLocks noChangeShapeType="1"/>
          </p:cNvSpPr>
          <p:nvPr/>
        </p:nvSpPr>
        <p:spPr bwMode="auto">
          <a:xfrm>
            <a:off x="3803650" y="3663950"/>
            <a:ext cx="1981200" cy="26670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 name="Line 1054">
            <a:extLst>
              <a:ext uri="{FF2B5EF4-FFF2-40B4-BE49-F238E27FC236}">
                <a16:creationId xmlns:a16="http://schemas.microsoft.com/office/drawing/2014/main" xmlns="" id="{3A9F1709-84AB-51A5-5003-39A1A2658E21}"/>
              </a:ext>
            </a:extLst>
          </p:cNvPr>
          <p:cNvSpPr>
            <a:spLocks noChangeShapeType="1"/>
          </p:cNvSpPr>
          <p:nvPr/>
        </p:nvSpPr>
        <p:spPr bwMode="auto">
          <a:xfrm>
            <a:off x="3879850" y="3663950"/>
            <a:ext cx="1905000" cy="1524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859453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217581-C39A-B9F0-F138-D7F7B58C1248}"/>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Use Case Diagram</a:t>
            </a:r>
            <a:endParaRPr lang="en-US" b="1"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xmlns="" id="{E4830360-08A2-C494-649C-53BCE4D2D6EE}"/>
              </a:ext>
            </a:extLst>
          </p:cNvPr>
          <p:cNvSpPr>
            <a:spLocks noChangeArrowheads="1"/>
          </p:cNvSpPr>
          <p:nvPr/>
        </p:nvSpPr>
        <p:spPr bwMode="auto">
          <a:xfrm>
            <a:off x="4320682" y="25307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5" name="Oval 4">
            <a:extLst>
              <a:ext uri="{FF2B5EF4-FFF2-40B4-BE49-F238E27FC236}">
                <a16:creationId xmlns:a16="http://schemas.microsoft.com/office/drawing/2014/main" xmlns="" id="{F519997E-F496-1CF9-3605-330243459C9D}"/>
              </a:ext>
            </a:extLst>
          </p:cNvPr>
          <p:cNvSpPr>
            <a:spLocks noChangeArrowheads="1"/>
          </p:cNvSpPr>
          <p:nvPr/>
        </p:nvSpPr>
        <p:spPr bwMode="auto">
          <a:xfrm>
            <a:off x="4320682" y="35975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xmlns="" id="{370339ED-23D9-8721-18C4-B55DF22257BA}"/>
              </a:ext>
            </a:extLst>
          </p:cNvPr>
          <p:cNvSpPr>
            <a:spLocks noChangeArrowheads="1"/>
          </p:cNvSpPr>
          <p:nvPr/>
        </p:nvSpPr>
        <p:spPr bwMode="auto">
          <a:xfrm>
            <a:off x="4320682" y="44357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xmlns="" id="{26BFF6C8-3CA3-0471-8EFA-6FBDB2ECF759}"/>
              </a:ext>
            </a:extLst>
          </p:cNvPr>
          <p:cNvSpPr>
            <a:spLocks noChangeArrowheads="1"/>
          </p:cNvSpPr>
          <p:nvPr/>
        </p:nvSpPr>
        <p:spPr bwMode="auto">
          <a:xfrm>
            <a:off x="4320682" y="55025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lgn="ctr" eaLnBrk="1" hangingPunct="1"/>
            <a:endParaRPr lang="en-US" altLang="en-US"/>
          </a:p>
        </p:txBody>
      </p:sp>
      <p:sp>
        <p:nvSpPr>
          <p:cNvPr id="8" name="Oval 7">
            <a:extLst>
              <a:ext uri="{FF2B5EF4-FFF2-40B4-BE49-F238E27FC236}">
                <a16:creationId xmlns:a16="http://schemas.microsoft.com/office/drawing/2014/main" xmlns="" id="{5F54FCE4-EFE2-27EB-8EEC-A0408E8FCE0F}"/>
              </a:ext>
            </a:extLst>
          </p:cNvPr>
          <p:cNvSpPr>
            <a:spLocks noChangeArrowheads="1"/>
          </p:cNvSpPr>
          <p:nvPr/>
        </p:nvSpPr>
        <p:spPr bwMode="auto">
          <a:xfrm>
            <a:off x="7292482" y="42071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xmlns="" id="{1C2D09BB-0757-2B45-EA6E-082DDAFD1211}"/>
              </a:ext>
            </a:extLst>
          </p:cNvPr>
          <p:cNvSpPr>
            <a:spLocks noChangeArrowheads="1"/>
          </p:cNvSpPr>
          <p:nvPr/>
        </p:nvSpPr>
        <p:spPr bwMode="auto">
          <a:xfrm>
            <a:off x="7292482" y="3140322"/>
            <a:ext cx="17526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pic>
        <p:nvPicPr>
          <p:cNvPr id="10" name="Picture 9">
            <a:extLst>
              <a:ext uri="{FF2B5EF4-FFF2-40B4-BE49-F238E27FC236}">
                <a16:creationId xmlns:a16="http://schemas.microsoft.com/office/drawing/2014/main" xmlns="" id="{00386464-0457-E335-D170-FB42A3D4D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9721" y="3375272"/>
            <a:ext cx="220980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0">
            <a:extLst>
              <a:ext uri="{FF2B5EF4-FFF2-40B4-BE49-F238E27FC236}">
                <a16:creationId xmlns:a16="http://schemas.microsoft.com/office/drawing/2014/main" xmlns="" id="{F89FE468-427C-BF8F-6CFE-E0263CEBF22D}"/>
              </a:ext>
            </a:extLst>
          </p:cNvPr>
          <p:cNvSpPr txBox="1">
            <a:spLocks noChangeArrowheads="1"/>
          </p:cNvSpPr>
          <p:nvPr/>
        </p:nvSpPr>
        <p:spPr bwMode="auto">
          <a:xfrm>
            <a:off x="4457207" y="2662485"/>
            <a:ext cx="1228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sz="1600"/>
              <a:t>Insert coins</a:t>
            </a:r>
          </a:p>
        </p:txBody>
      </p:sp>
      <p:sp>
        <p:nvSpPr>
          <p:cNvPr id="12" name="Text Box 12">
            <a:extLst>
              <a:ext uri="{FF2B5EF4-FFF2-40B4-BE49-F238E27FC236}">
                <a16:creationId xmlns:a16="http://schemas.microsoft.com/office/drawing/2014/main" xmlns="" id="{ECA831C1-3A8D-240E-F316-302BEA13503E}"/>
              </a:ext>
            </a:extLst>
          </p:cNvPr>
          <p:cNvSpPr txBox="1">
            <a:spLocks noChangeArrowheads="1"/>
          </p:cNvSpPr>
          <p:nvPr/>
        </p:nvSpPr>
        <p:spPr bwMode="auto">
          <a:xfrm>
            <a:off x="4549282" y="3826122"/>
            <a:ext cx="1470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Show/see drinks</a:t>
            </a:r>
          </a:p>
        </p:txBody>
      </p:sp>
      <p:sp>
        <p:nvSpPr>
          <p:cNvPr id="13" name="Text Box 14">
            <a:extLst>
              <a:ext uri="{FF2B5EF4-FFF2-40B4-BE49-F238E27FC236}">
                <a16:creationId xmlns:a16="http://schemas.microsoft.com/office/drawing/2014/main" xmlns="" id="{AB6E5879-A987-E0B2-2A54-63999EDE1FBB}"/>
              </a:ext>
            </a:extLst>
          </p:cNvPr>
          <p:cNvSpPr txBox="1">
            <a:spLocks noChangeArrowheads="1"/>
          </p:cNvSpPr>
          <p:nvPr/>
        </p:nvSpPr>
        <p:spPr bwMode="auto">
          <a:xfrm>
            <a:off x="4381007" y="4518272"/>
            <a:ext cx="1201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Choose drink</a:t>
            </a:r>
          </a:p>
        </p:txBody>
      </p:sp>
      <p:sp>
        <p:nvSpPr>
          <p:cNvPr id="14" name="Text Box 17">
            <a:extLst>
              <a:ext uri="{FF2B5EF4-FFF2-40B4-BE49-F238E27FC236}">
                <a16:creationId xmlns:a16="http://schemas.microsoft.com/office/drawing/2014/main" xmlns="" id="{9D6608C0-08F4-8222-91E5-CD4DA66CB2E8}"/>
              </a:ext>
            </a:extLst>
          </p:cNvPr>
          <p:cNvSpPr txBox="1">
            <a:spLocks noChangeArrowheads="1"/>
          </p:cNvSpPr>
          <p:nvPr/>
        </p:nvSpPr>
        <p:spPr bwMode="auto">
          <a:xfrm>
            <a:off x="4304807" y="5661272"/>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endParaRPr lang="en-US" altLang="en-US"/>
          </a:p>
        </p:txBody>
      </p:sp>
      <p:sp>
        <p:nvSpPr>
          <p:cNvPr id="15" name="Text Box 18">
            <a:extLst>
              <a:ext uri="{FF2B5EF4-FFF2-40B4-BE49-F238E27FC236}">
                <a16:creationId xmlns:a16="http://schemas.microsoft.com/office/drawing/2014/main" xmlns="" id="{AC31BCA2-D9C7-442A-522C-8303BE602BD0}"/>
              </a:ext>
            </a:extLst>
          </p:cNvPr>
          <p:cNvSpPr txBox="1">
            <a:spLocks noChangeArrowheads="1"/>
          </p:cNvSpPr>
          <p:nvPr/>
        </p:nvSpPr>
        <p:spPr bwMode="auto">
          <a:xfrm>
            <a:off x="4381007" y="5585072"/>
            <a:ext cx="1749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Deliver/pickup drink</a:t>
            </a:r>
          </a:p>
        </p:txBody>
      </p:sp>
      <p:sp>
        <p:nvSpPr>
          <p:cNvPr id="16" name="Text Box 19">
            <a:extLst>
              <a:ext uri="{FF2B5EF4-FFF2-40B4-BE49-F238E27FC236}">
                <a16:creationId xmlns:a16="http://schemas.microsoft.com/office/drawing/2014/main" xmlns="" id="{5F8EC158-06C4-62FF-EA33-04F40F23BDE7}"/>
              </a:ext>
            </a:extLst>
          </p:cNvPr>
          <p:cNvSpPr txBox="1">
            <a:spLocks noChangeArrowheads="1"/>
          </p:cNvSpPr>
          <p:nvPr/>
        </p:nvSpPr>
        <p:spPr bwMode="auto">
          <a:xfrm>
            <a:off x="7429007" y="3222872"/>
            <a:ext cx="1096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Count coins</a:t>
            </a:r>
          </a:p>
        </p:txBody>
      </p:sp>
      <p:sp>
        <p:nvSpPr>
          <p:cNvPr id="17" name="Text Box 20">
            <a:extLst>
              <a:ext uri="{FF2B5EF4-FFF2-40B4-BE49-F238E27FC236}">
                <a16:creationId xmlns:a16="http://schemas.microsoft.com/office/drawing/2014/main" xmlns="" id="{D2D208B6-C346-FAFF-B3C2-9D90B5D4A7D2}"/>
              </a:ext>
            </a:extLst>
          </p:cNvPr>
          <p:cNvSpPr txBox="1">
            <a:spLocks noChangeArrowheads="1"/>
          </p:cNvSpPr>
          <p:nvPr/>
        </p:nvSpPr>
        <p:spPr bwMode="auto">
          <a:xfrm>
            <a:off x="7352807" y="4289672"/>
            <a:ext cx="14049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Show drink N/A</a:t>
            </a:r>
          </a:p>
        </p:txBody>
      </p:sp>
      <p:sp>
        <p:nvSpPr>
          <p:cNvPr id="18" name="Line 21">
            <a:extLst>
              <a:ext uri="{FF2B5EF4-FFF2-40B4-BE49-F238E27FC236}">
                <a16:creationId xmlns:a16="http://schemas.microsoft.com/office/drawing/2014/main" xmlns="" id="{D46A36B6-CC0A-E80B-E7FA-357025E086A6}"/>
              </a:ext>
            </a:extLst>
          </p:cNvPr>
          <p:cNvSpPr>
            <a:spLocks noChangeShapeType="1"/>
          </p:cNvSpPr>
          <p:nvPr/>
        </p:nvSpPr>
        <p:spPr bwMode="auto">
          <a:xfrm flipV="1">
            <a:off x="2720482" y="2911722"/>
            <a:ext cx="17526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9" name="Line 22">
            <a:extLst>
              <a:ext uri="{FF2B5EF4-FFF2-40B4-BE49-F238E27FC236}">
                <a16:creationId xmlns:a16="http://schemas.microsoft.com/office/drawing/2014/main" xmlns="" id="{D9D9AE54-93C4-2711-2389-5F5A7D06FBB7}"/>
              </a:ext>
            </a:extLst>
          </p:cNvPr>
          <p:cNvSpPr>
            <a:spLocks noChangeShapeType="1"/>
          </p:cNvSpPr>
          <p:nvPr/>
        </p:nvSpPr>
        <p:spPr bwMode="auto">
          <a:xfrm>
            <a:off x="2720482" y="3902322"/>
            <a:ext cx="1600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 name="Line 23">
            <a:extLst>
              <a:ext uri="{FF2B5EF4-FFF2-40B4-BE49-F238E27FC236}">
                <a16:creationId xmlns:a16="http://schemas.microsoft.com/office/drawing/2014/main" xmlns="" id="{62E0133A-70D7-73A5-C338-E2DE2D3DDB37}"/>
              </a:ext>
            </a:extLst>
          </p:cNvPr>
          <p:cNvSpPr>
            <a:spLocks noChangeShapeType="1"/>
          </p:cNvSpPr>
          <p:nvPr/>
        </p:nvSpPr>
        <p:spPr bwMode="auto">
          <a:xfrm>
            <a:off x="2720482" y="3902322"/>
            <a:ext cx="1676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24">
            <a:extLst>
              <a:ext uri="{FF2B5EF4-FFF2-40B4-BE49-F238E27FC236}">
                <a16:creationId xmlns:a16="http://schemas.microsoft.com/office/drawing/2014/main" xmlns="" id="{F649F8E5-E9D5-A0EC-A097-2F151E3BD896}"/>
              </a:ext>
            </a:extLst>
          </p:cNvPr>
          <p:cNvSpPr>
            <a:spLocks noChangeShapeType="1"/>
          </p:cNvSpPr>
          <p:nvPr/>
        </p:nvSpPr>
        <p:spPr bwMode="auto">
          <a:xfrm>
            <a:off x="2796682" y="3902322"/>
            <a:ext cx="16002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 name="Line 25">
            <a:extLst>
              <a:ext uri="{FF2B5EF4-FFF2-40B4-BE49-F238E27FC236}">
                <a16:creationId xmlns:a16="http://schemas.microsoft.com/office/drawing/2014/main" xmlns="" id="{3EB6F06A-D91E-63FF-9ADE-55A47DA7F5DC}"/>
              </a:ext>
            </a:extLst>
          </p:cNvPr>
          <p:cNvSpPr>
            <a:spLocks noChangeShapeType="1"/>
          </p:cNvSpPr>
          <p:nvPr/>
        </p:nvSpPr>
        <p:spPr bwMode="auto">
          <a:xfrm>
            <a:off x="5997082" y="2911722"/>
            <a:ext cx="13716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 name="Line 26">
            <a:extLst>
              <a:ext uri="{FF2B5EF4-FFF2-40B4-BE49-F238E27FC236}">
                <a16:creationId xmlns:a16="http://schemas.microsoft.com/office/drawing/2014/main" xmlns="" id="{623D6E16-6804-D38B-91FF-40028B433C70}"/>
              </a:ext>
            </a:extLst>
          </p:cNvPr>
          <p:cNvSpPr>
            <a:spLocks noChangeShapeType="1"/>
          </p:cNvSpPr>
          <p:nvPr/>
        </p:nvSpPr>
        <p:spPr bwMode="auto">
          <a:xfrm>
            <a:off x="5920882" y="3978522"/>
            <a:ext cx="14478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4" name="Text Box 27">
            <a:extLst>
              <a:ext uri="{FF2B5EF4-FFF2-40B4-BE49-F238E27FC236}">
                <a16:creationId xmlns:a16="http://schemas.microsoft.com/office/drawing/2014/main" xmlns="" id="{93AFFAFD-9F7B-2667-3F90-1E906856AD07}"/>
              </a:ext>
            </a:extLst>
          </p:cNvPr>
          <p:cNvSpPr txBox="1">
            <a:spLocks noChangeArrowheads="1"/>
          </p:cNvSpPr>
          <p:nvPr/>
        </p:nvSpPr>
        <p:spPr bwMode="auto">
          <a:xfrm>
            <a:off x="6133607" y="2765672"/>
            <a:ext cx="1049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a:t>&lt;&lt;uses&gt;&gt;</a:t>
            </a:r>
          </a:p>
        </p:txBody>
      </p:sp>
      <p:sp>
        <p:nvSpPr>
          <p:cNvPr id="25" name="Text Box 28">
            <a:extLst>
              <a:ext uri="{FF2B5EF4-FFF2-40B4-BE49-F238E27FC236}">
                <a16:creationId xmlns:a16="http://schemas.microsoft.com/office/drawing/2014/main" xmlns="" id="{DD7AF6E5-E63C-EB0C-A632-36DE0DA60257}"/>
              </a:ext>
            </a:extLst>
          </p:cNvPr>
          <p:cNvSpPr txBox="1">
            <a:spLocks noChangeArrowheads="1"/>
          </p:cNvSpPr>
          <p:nvPr/>
        </p:nvSpPr>
        <p:spPr bwMode="auto">
          <a:xfrm>
            <a:off x="6133607" y="3832472"/>
            <a:ext cx="105830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ahoma" panose="020B0604030504040204" pitchFamily="34" charset="0"/>
              </a:defRPr>
            </a:lvl1pPr>
            <a:lvl2pPr marL="742950" indent="-285750" eaLnBrk="0" hangingPunct="0">
              <a:defRPr sz="1400">
                <a:solidFill>
                  <a:schemeClr val="tx1"/>
                </a:solidFill>
                <a:latin typeface="Tahoma" panose="020B0604030504040204" pitchFamily="34" charset="0"/>
              </a:defRPr>
            </a:lvl2pPr>
            <a:lvl3pPr marL="1143000" indent="-228600" eaLnBrk="0" hangingPunct="0">
              <a:defRPr sz="1400">
                <a:solidFill>
                  <a:schemeClr val="tx1"/>
                </a:solidFill>
                <a:latin typeface="Tahoma" panose="020B0604030504040204" pitchFamily="34" charset="0"/>
              </a:defRPr>
            </a:lvl3pPr>
            <a:lvl4pPr marL="1600200" indent="-228600" eaLnBrk="0" hangingPunct="0">
              <a:defRPr sz="1400">
                <a:solidFill>
                  <a:schemeClr val="tx1"/>
                </a:solidFill>
                <a:latin typeface="Tahoma" panose="020B0604030504040204" pitchFamily="34" charset="0"/>
              </a:defRPr>
            </a:lvl4pPr>
            <a:lvl5pPr marL="2057400" indent="-228600" eaLnBrk="0" hangingPunct="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eaLnBrk="1" hangingPunct="1"/>
            <a:r>
              <a:rPr lang="en-US" altLang="en-US" dirty="0"/>
              <a:t>&lt;&lt;uses</a:t>
            </a:r>
            <a:r>
              <a:rPr lang="en-US" altLang="en-US" dirty="0" smtClean="0"/>
              <a:t>&gt;&gt;</a:t>
            </a:r>
            <a:endParaRPr lang="en-US" altLang="en-US" dirty="0"/>
          </a:p>
        </p:txBody>
      </p:sp>
      <p:sp>
        <p:nvSpPr>
          <p:cNvPr id="3" name="Rectangle 2"/>
          <p:cNvSpPr/>
          <p:nvPr/>
        </p:nvSpPr>
        <p:spPr>
          <a:xfrm>
            <a:off x="3440831" y="2263478"/>
            <a:ext cx="5663412" cy="395557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47997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810F86-E1C1-2DA5-3E0D-871643A29230}"/>
              </a:ext>
            </a:extLst>
          </p:cNvPr>
          <p:cNvSpPr>
            <a:spLocks noGrp="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Case Studies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519BBBC-5349-4A3E-3873-B8C25ABCF7BC}"/>
              </a:ext>
            </a:extLst>
          </p:cNvPr>
          <p:cNvSpPr>
            <a:spLocks noGrp="1"/>
          </p:cNvSpPr>
          <p:nvPr>
            <p:ph idx="1"/>
          </p:nvPr>
        </p:nvSpPr>
        <p:spPr/>
        <p:txBody>
          <a:bodyPr/>
          <a:lstStyle/>
          <a:p>
            <a:pPr lvl="1"/>
            <a:r>
              <a:rPr lang="en-US" altLang="en-US" sz="2800" dirty="0"/>
              <a:t>Ticket counter for basketball game</a:t>
            </a:r>
          </a:p>
          <a:p>
            <a:pPr lvl="1"/>
            <a:r>
              <a:rPr lang="en-US" altLang="en-US" sz="2800" dirty="0"/>
              <a:t>TIVO: Video recorder/controller</a:t>
            </a:r>
          </a:p>
          <a:p>
            <a:pPr lvl="1"/>
            <a:r>
              <a:rPr lang="en-US" altLang="en-US" sz="2800" dirty="0"/>
              <a:t>Weather Station.</a:t>
            </a:r>
          </a:p>
          <a:p>
            <a:pPr lvl="1"/>
            <a:r>
              <a:rPr lang="en-US" altLang="en-US" sz="2800" dirty="0"/>
              <a:t>ATM Machine: Description given as data dictionary.</a:t>
            </a:r>
          </a:p>
          <a:p>
            <a:pPr lvl="1"/>
            <a:r>
              <a:rPr lang="en-US" altLang="en-US" sz="2800" dirty="0"/>
              <a:t>4-cycle lawnmower engine</a:t>
            </a:r>
          </a:p>
          <a:p>
            <a:pPr lvl="1"/>
            <a:r>
              <a:rPr lang="en-US" altLang="en-US" sz="2800" dirty="0"/>
              <a:t>Burger queen fast food restaurant’s hand-held order device</a:t>
            </a:r>
          </a:p>
          <a:p>
            <a:endParaRPr lang="en-US" dirty="0"/>
          </a:p>
        </p:txBody>
      </p:sp>
    </p:spTree>
    <p:extLst>
      <p:ext uri="{BB962C8B-B14F-4D97-AF65-F5344CB8AC3E}">
        <p14:creationId xmlns:p14="http://schemas.microsoft.com/office/powerpoint/2010/main" val="1584218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2BAB1F-E633-437A-4400-C83F6A987EC1}"/>
              </a:ext>
            </a:extLst>
          </p:cNvPr>
          <p:cNvSpPr>
            <a:spLocks noGrp="1"/>
          </p:cNvSpPr>
          <p:nvPr>
            <p:ph type="title"/>
          </p:nvPr>
        </p:nvSpPr>
        <p:spPr>
          <a:xfrm>
            <a:off x="1066800" y="0"/>
            <a:ext cx="10058400" cy="1450757"/>
          </a:xfrm>
        </p:spPr>
        <p:txBody>
          <a:bodyPr/>
          <a:lstStyle/>
          <a:p>
            <a:r>
              <a:rPr lang="en-US" altLang="en-US" b="1" dirty="0">
                <a:latin typeface="Times New Roman" panose="02020603050405020304" pitchFamily="18" charset="0"/>
                <a:cs typeface="Times New Roman" panose="02020603050405020304" pitchFamily="18" charset="0"/>
              </a:rPr>
              <a:t>Use Case Example: Counseling</a:t>
            </a:r>
            <a:endParaRPr lang="en-US" b="1" dirty="0">
              <a:latin typeface="Times New Roman" panose="02020603050405020304" pitchFamily="18" charset="0"/>
              <a:cs typeface="Times New Roman" panose="02020603050405020304" pitchFamily="18" charset="0"/>
            </a:endParaRPr>
          </a:p>
        </p:txBody>
      </p:sp>
      <p:pic>
        <p:nvPicPr>
          <p:cNvPr id="4" name="Picture 1027">
            <a:extLst>
              <a:ext uri="{FF2B5EF4-FFF2-40B4-BE49-F238E27FC236}">
                <a16:creationId xmlns:a16="http://schemas.microsoft.com/office/drawing/2014/main" xmlns="" id="{8F6FEFF7-60D6-6F13-F167-367FB86004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5637" y="1828800"/>
            <a:ext cx="37338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508169" y="1766326"/>
            <a:ext cx="1568491" cy="458903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25520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xmlns=""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xmlns=""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xmlns="" id="{5AE6C737-FF55-4064-94B7-0B21D2EB60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C722EB6-303A-1D2F-3397-9A78268FEE1B}"/>
              </a:ext>
            </a:extLst>
          </p:cNvPr>
          <p:cNvSpPr>
            <a:spLocks noGrp="1"/>
          </p:cNvSpPr>
          <p:nvPr>
            <p:ph type="title"/>
          </p:nvPr>
        </p:nvSpPr>
        <p:spPr>
          <a:xfrm>
            <a:off x="6730000" y="639097"/>
            <a:ext cx="4813072" cy="3686015"/>
          </a:xfrm>
        </p:spPr>
        <p:txBody>
          <a:bodyPr vert="horz" lIns="91440" tIns="45720" rIns="91440" bIns="45720" rtlCol="0" anchor="b">
            <a:normAutofit/>
          </a:bodyPr>
          <a:lstStyle/>
          <a:p>
            <a:r>
              <a:rPr lang="en-US" sz="7400" b="1">
                <a:solidFill>
                  <a:schemeClr val="tx1">
                    <a:lumMod val="85000"/>
                    <a:lumOff val="15000"/>
                  </a:schemeClr>
                </a:solidFill>
              </a:rPr>
              <a:t>Expanded Use Case – Banking App</a:t>
            </a:r>
          </a:p>
        </p:txBody>
      </p:sp>
      <p:pic>
        <p:nvPicPr>
          <p:cNvPr id="7" name="Picture 6" descr="A diagram of a person's account&#10;&#10;Description automatically generated">
            <a:extLst>
              <a:ext uri="{FF2B5EF4-FFF2-40B4-BE49-F238E27FC236}">
                <a16:creationId xmlns:a16="http://schemas.microsoft.com/office/drawing/2014/main" xmlns="" id="{A056A496-B051-EE70-0804-D92E0AA4BBBB}"/>
              </a:ext>
            </a:extLst>
          </p:cNvPr>
          <p:cNvPicPr>
            <a:picLocks noChangeAspect="1"/>
          </p:cNvPicPr>
          <p:nvPr/>
        </p:nvPicPr>
        <p:blipFill>
          <a:blip r:embed="rId2"/>
          <a:stretch>
            <a:fillRect/>
          </a:stretch>
        </p:blipFill>
        <p:spPr>
          <a:xfrm>
            <a:off x="1065359" y="640081"/>
            <a:ext cx="4599281" cy="5054156"/>
          </a:xfrm>
          <a:prstGeom prst="rect">
            <a:avLst/>
          </a:prstGeom>
        </p:spPr>
      </p:pic>
      <p:cxnSp>
        <p:nvCxnSpPr>
          <p:cNvPr id="20" name="Straight Connector 19">
            <a:extLst>
              <a:ext uri="{FF2B5EF4-FFF2-40B4-BE49-F238E27FC236}">
                <a16:creationId xmlns:a16="http://schemas.microsoft.com/office/drawing/2014/main" xmlns="" id="{6B5B1DD8-6224-4137-8621-32982B00F9F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xmlns="" id="{D8218D9F-38B6-4AE0-9051-5434D19A527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xmlns="" id="{2D3DCA99-84AF-487A-BF72-91C5FA6B0B7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22210134"/>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350</TotalTime>
  <Words>967</Words>
  <Application>Microsoft Office PowerPoint</Application>
  <PresentationFormat>Widescreen</PresentationFormat>
  <Paragraphs>121</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Calibri Light</vt:lpstr>
      <vt:lpstr>Tahoma</vt:lpstr>
      <vt:lpstr>Times New Roman</vt:lpstr>
      <vt:lpstr>Wingdings</vt:lpstr>
      <vt:lpstr>Retrospect</vt:lpstr>
      <vt:lpstr>CSE327  Software Engineering</vt:lpstr>
      <vt:lpstr>Non-functional Requirements</vt:lpstr>
      <vt:lpstr>Non-functional Requirements</vt:lpstr>
      <vt:lpstr>Non-functional Requirements</vt:lpstr>
      <vt:lpstr>System Design</vt:lpstr>
      <vt:lpstr>Use-Case Modeling</vt:lpstr>
      <vt:lpstr>Components of Use-Case Model</vt:lpstr>
      <vt:lpstr>System</vt:lpstr>
      <vt:lpstr>Actors</vt:lpstr>
      <vt:lpstr>Finding Actors</vt:lpstr>
      <vt:lpstr>Use-cases</vt:lpstr>
      <vt:lpstr>Finding Use-cases</vt:lpstr>
      <vt:lpstr>Describing Use-cases</vt:lpstr>
      <vt:lpstr>Example</vt:lpstr>
      <vt:lpstr>Interaction between user and Use-case</vt:lpstr>
      <vt:lpstr>Use Case Diagram</vt:lpstr>
      <vt:lpstr>Case Studies</vt:lpstr>
      <vt:lpstr>Use Case Example: Counseling</vt:lpstr>
      <vt:lpstr>Expanded Use Case – Banking App</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CSE327  Software Engineering</dc:title>
  <dc:creator>A K M Iqtidar Newaz</dc:creator>
  <cp:lastModifiedBy>A K M Iqtidar Newaz</cp:lastModifiedBy>
  <cp:revision>19</cp:revision>
  <dcterms:created xsi:type="dcterms:W3CDTF">2024-09-14T10:34:16Z</dcterms:created>
  <dcterms:modified xsi:type="dcterms:W3CDTF">2025-01-28T14:02:40Z</dcterms:modified>
</cp:coreProperties>
</file>