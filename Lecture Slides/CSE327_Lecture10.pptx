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72" r:id="rId4"/>
    <p:sldId id="278" r:id="rId5"/>
    <p:sldId id="279" r:id="rId6"/>
    <p:sldId id="280" r:id="rId7"/>
    <p:sldId id="283" r:id="rId8"/>
    <p:sldId id="284" r:id="rId9"/>
    <p:sldId id="285" r:id="rId10"/>
    <p:sldId id="286" r:id="rId11"/>
    <p:sldId id="28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508B7E8-FFFA-4B69-B722-EE8EB26FCEF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6F4E36D-F334-4E2F-A349-236A1C51F0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508B7E8-FFFA-4B69-B722-EE8EB26FCEF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6F4E36D-F334-4E2F-A349-236A1C51F0BF}" type="slidenum">
              <a:rPr lang="en-US" smtClean="0"/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6800" y="235077"/>
            <a:ext cx="10058400" cy="3566160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CSE327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AKM iqtidar Newaz 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IqN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- 11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Singleton Design Pattern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1878494"/>
            <a:ext cx="100583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only one instance of a class is needed (shared resource) across your application, you have to allow the access to that instance from the whole application but also we don’t need a new instance every time. we only need that one instance which could be utilized across the whole application</a:t>
            </a:r>
            <a:endParaRPr lang="en-US" sz="20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/>
          <p:cNvSpPr/>
          <p:nvPr/>
        </p:nvSpPr>
        <p:spPr>
          <a:xfrm>
            <a:off x="5240593" y="4188542"/>
            <a:ext cx="1710813" cy="4817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Instance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22956" y="3629173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AM1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337142" y="3629173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AM4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222955" y="4784463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AM2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337142" y="4784463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AM3</a:t>
            </a:r>
            <a:endParaRPr lang="en-US" dirty="0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4748981" y="3913239"/>
            <a:ext cx="491612" cy="275303"/>
          </a:xfrm>
          <a:prstGeom prst="straightConnector1">
            <a:avLst/>
          </a:prstGeom>
          <a:ln w="15875"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6951406" y="4646812"/>
            <a:ext cx="491612" cy="275303"/>
          </a:xfrm>
          <a:prstGeom prst="straightConnector1">
            <a:avLst/>
          </a:prstGeom>
          <a:ln w="15875"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6951406" y="3913239"/>
            <a:ext cx="491612" cy="275303"/>
          </a:xfrm>
          <a:prstGeom prst="straightConnector1">
            <a:avLst/>
          </a:prstGeom>
          <a:ln w="15875"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>
            <a:off x="4748981" y="4670323"/>
            <a:ext cx="491612" cy="275303"/>
          </a:xfrm>
          <a:prstGeom prst="straightConnector1">
            <a:avLst/>
          </a:prstGeom>
          <a:ln w="15875"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282314" y="4760960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 Connection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282314" y="5122600"/>
            <a:ext cx="1678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Logger Instance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726632" y="3623866"/>
            <a:ext cx="1962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 = App Module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396505" y="4104797"/>
            <a:ext cx="21980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instance of a class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shared resource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Singleton Design Pattern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1878494"/>
            <a:ext cx="1005839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can argue that we can solve this problem just by saving that instance in a global variable and allow access from different application on module / different programs in the same application to that global variable. Let's say we do not. </a:t>
            </a:r>
            <a:endParaRPr lang="en-US" sz="20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save the logger instance in the global variable. Allow access from different application module to read that variable. It is fine as long as different application module 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just reading that variable but what if one particular module overwrites it. In that case this global variable have changes and here is the problem.</a:t>
            </a:r>
            <a:endParaRPr lang="en-US" sz="20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/>
          <p:cNvSpPr/>
          <p:nvPr/>
        </p:nvSpPr>
        <p:spPr>
          <a:xfrm>
            <a:off x="2114918" y="4817806"/>
            <a:ext cx="1710813" cy="4817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Logger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1" y="4258437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AM1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211467" y="4258437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AM4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097280" y="5413727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AM2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211467" y="5413727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AM3</a:t>
            </a:r>
            <a:endParaRPr lang="en-US" dirty="0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1623306" y="4542503"/>
            <a:ext cx="491612" cy="275303"/>
          </a:xfrm>
          <a:prstGeom prst="straightConnector1">
            <a:avLst/>
          </a:prstGeom>
          <a:ln w="15875"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3825731" y="5276076"/>
            <a:ext cx="491612" cy="275303"/>
          </a:xfrm>
          <a:prstGeom prst="straightConnector1">
            <a:avLst/>
          </a:prstGeom>
          <a:ln w="15875"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3825731" y="4542503"/>
            <a:ext cx="491612" cy="275303"/>
          </a:xfrm>
          <a:prstGeom prst="straightConnector1">
            <a:avLst/>
          </a:prstGeom>
          <a:ln w="15875"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>
            <a:off x="1603638" y="5238136"/>
            <a:ext cx="491612" cy="275303"/>
          </a:xfrm>
          <a:prstGeom prst="straightConnector1">
            <a:avLst/>
          </a:prstGeom>
          <a:ln w="15875"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771574" y="4061608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L2</a:t>
            </a:r>
            <a:endParaRPr lang="en-US" dirty="0"/>
          </a:p>
        </p:txBody>
      </p:sp>
      <p:cxnSp>
        <p:nvCxnSpPr>
          <p:cNvPr id="6" name="Straight Arrow Connector 5"/>
          <p:cNvCxnSpPr>
            <a:stCxn id="3" idx="2"/>
            <a:endCxn id="4" idx="0"/>
          </p:cNvCxnSpPr>
          <p:nvPr/>
        </p:nvCxnSpPr>
        <p:spPr>
          <a:xfrm flipH="1">
            <a:off x="2970325" y="4430940"/>
            <a:ext cx="983" cy="386866"/>
          </a:xfrm>
          <a:prstGeom prst="straightConnector1">
            <a:avLst/>
          </a:prstGeom>
          <a:ln w="15875"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 rot="1718731">
            <a:off x="1506269" y="4575456"/>
            <a:ext cx="5618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read</a:t>
            </a:r>
            <a:endParaRPr lang="en-US" sz="1600" dirty="0"/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1653778" y="5352786"/>
            <a:ext cx="491612" cy="275303"/>
          </a:xfrm>
          <a:prstGeom prst="straightConnector1">
            <a:avLst/>
          </a:prstGeom>
          <a:ln w="15875"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718731">
            <a:off x="3852836" y="5161318"/>
            <a:ext cx="5618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read</a:t>
            </a:r>
            <a:endParaRPr lang="en-US" sz="1600" dirty="0"/>
          </a:p>
        </p:txBody>
      </p:sp>
      <p:sp>
        <p:nvSpPr>
          <p:cNvPr id="20" name="TextBox 19"/>
          <p:cNvSpPr txBox="1"/>
          <p:nvPr/>
        </p:nvSpPr>
        <p:spPr>
          <a:xfrm rot="19826938">
            <a:off x="3872673" y="4577797"/>
            <a:ext cx="5618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read</a:t>
            </a:r>
            <a:endParaRPr lang="en-US" sz="1600" dirty="0"/>
          </a:p>
        </p:txBody>
      </p:sp>
      <p:sp>
        <p:nvSpPr>
          <p:cNvPr id="21" name="TextBox 20"/>
          <p:cNvSpPr txBox="1"/>
          <p:nvPr/>
        </p:nvSpPr>
        <p:spPr>
          <a:xfrm rot="19849448">
            <a:off x="1476544" y="5136284"/>
            <a:ext cx="5618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read</a:t>
            </a:r>
            <a:endParaRPr lang="en-US" sz="1600" dirty="0"/>
          </a:p>
        </p:txBody>
      </p:sp>
      <p:sp>
        <p:nvSpPr>
          <p:cNvPr id="22" name="TextBox 21"/>
          <p:cNvSpPr txBox="1"/>
          <p:nvPr/>
        </p:nvSpPr>
        <p:spPr>
          <a:xfrm rot="19849448">
            <a:off x="1677766" y="5382602"/>
            <a:ext cx="6201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write</a:t>
            </a:r>
            <a:endParaRPr lang="en-US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6705600" y="4443103"/>
            <a:ext cx="22749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variable logger;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logger = L1;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logger = L2 (AM2)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104671" y="4867108"/>
            <a:ext cx="24439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modified that’s why we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can’t use global variable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0" name="Straight Arrow Connector 29"/>
          <p:cNvCxnSpPr>
            <a:stCxn id="28" idx="1"/>
          </p:cNvCxnSpPr>
          <p:nvPr/>
        </p:nvCxnSpPr>
        <p:spPr>
          <a:xfrm flipH="1">
            <a:off x="8613058" y="5190274"/>
            <a:ext cx="491613" cy="0"/>
          </a:xfrm>
          <a:prstGeom prst="straightConnector1">
            <a:avLst/>
          </a:prstGeom>
          <a:ln w="15875"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Singleton Design Pattern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1878494"/>
            <a:ext cx="100583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r>
              <a:rPr lang="en-US" sz="20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Try to initialize that variable using a private constructor and we don’t allow anyone else to access that constructor. You only allow to access that variable by getter.</a:t>
            </a:r>
            <a:endParaRPr lang="en-US" sz="20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673352" y="3047720"/>
          <a:ext cx="2714130" cy="1440777"/>
        </p:xfrm>
        <a:graphic>
          <a:graphicData uri="http://schemas.openxmlformats.org/drawingml/2006/table">
            <a:tbl>
              <a:tblPr firstRow="1" bandRow="1"/>
              <a:tblGrid>
                <a:gridCol w="2714130"/>
              </a:tblGrid>
              <a:tr h="303429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Singleton Class</a:t>
                      </a:r>
                      <a:endParaRPr 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404457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Singleton : Singleton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04457"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Singleton () : void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getInstance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() : Singleton 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097280" y="3216549"/>
            <a:ext cx="157607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private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instance of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Singleton class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: Rounded Corners 23"/>
          <p:cNvSpPr/>
          <p:nvPr/>
        </p:nvSpPr>
        <p:spPr>
          <a:xfrm>
            <a:off x="8491764" y="3921387"/>
            <a:ext cx="1710813" cy="4817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Singleton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474127" y="3362018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AM1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10588313" y="3362018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AM4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7474126" y="4517308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AM2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10588313" y="4517308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AM3</a:t>
            </a:r>
            <a:endParaRPr lang="en-US" dirty="0"/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8000152" y="3646084"/>
            <a:ext cx="491612" cy="275303"/>
          </a:xfrm>
          <a:prstGeom prst="straightConnector1">
            <a:avLst/>
          </a:prstGeom>
          <a:ln w="15875"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10202577" y="4379657"/>
            <a:ext cx="491612" cy="275303"/>
          </a:xfrm>
          <a:prstGeom prst="straightConnector1">
            <a:avLst/>
          </a:prstGeom>
          <a:ln w="15875"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H="1">
            <a:off x="10202577" y="3646084"/>
            <a:ext cx="491612" cy="275303"/>
          </a:xfrm>
          <a:prstGeom prst="straightConnector1">
            <a:avLst/>
          </a:prstGeom>
          <a:ln w="15875"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7980484" y="4341717"/>
            <a:ext cx="491612" cy="275303"/>
          </a:xfrm>
          <a:prstGeom prst="straightConnector1">
            <a:avLst/>
          </a:prstGeom>
          <a:ln w="15875"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 rot="1718731">
            <a:off x="7883115" y="3679037"/>
            <a:ext cx="5618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read</a:t>
            </a:r>
            <a:endParaRPr lang="en-US" sz="1600" dirty="0"/>
          </a:p>
        </p:txBody>
      </p:sp>
      <p:cxnSp>
        <p:nvCxnSpPr>
          <p:cNvPr id="39" name="Straight Arrow Connector 38"/>
          <p:cNvCxnSpPr/>
          <p:nvPr/>
        </p:nvCxnSpPr>
        <p:spPr>
          <a:xfrm flipH="1">
            <a:off x="8030624" y="4456367"/>
            <a:ext cx="491612" cy="275303"/>
          </a:xfrm>
          <a:prstGeom prst="straightConnector1">
            <a:avLst/>
          </a:prstGeom>
          <a:ln w="15875"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 rot="1718731">
            <a:off x="10229682" y="4264899"/>
            <a:ext cx="5618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read</a:t>
            </a:r>
            <a:endParaRPr lang="en-US" sz="1600" dirty="0"/>
          </a:p>
        </p:txBody>
      </p:sp>
      <p:sp>
        <p:nvSpPr>
          <p:cNvPr id="41" name="TextBox 40"/>
          <p:cNvSpPr txBox="1"/>
          <p:nvPr/>
        </p:nvSpPr>
        <p:spPr>
          <a:xfrm rot="19826938">
            <a:off x="10249519" y="3681378"/>
            <a:ext cx="5618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read</a:t>
            </a:r>
            <a:endParaRPr lang="en-US" sz="1600" dirty="0"/>
          </a:p>
        </p:txBody>
      </p:sp>
      <p:sp>
        <p:nvSpPr>
          <p:cNvPr id="42" name="TextBox 41"/>
          <p:cNvSpPr txBox="1"/>
          <p:nvPr/>
        </p:nvSpPr>
        <p:spPr>
          <a:xfrm rot="19849448">
            <a:off x="7853390" y="4239865"/>
            <a:ext cx="5618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read</a:t>
            </a:r>
            <a:endParaRPr lang="en-US" sz="1600" dirty="0"/>
          </a:p>
        </p:txBody>
      </p:sp>
      <p:sp>
        <p:nvSpPr>
          <p:cNvPr id="43" name="TextBox 42"/>
          <p:cNvSpPr txBox="1"/>
          <p:nvPr/>
        </p:nvSpPr>
        <p:spPr>
          <a:xfrm rot="19849448">
            <a:off x="8083058" y="4516256"/>
            <a:ext cx="6201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write</a:t>
            </a:r>
            <a:endParaRPr lang="en-US" sz="1600" dirty="0"/>
          </a:p>
        </p:txBody>
      </p:sp>
      <p:cxnSp>
        <p:nvCxnSpPr>
          <p:cNvPr id="45" name="Straight Connector 44"/>
          <p:cNvCxnSpPr>
            <a:stCxn id="43" idx="1"/>
            <a:endCxn id="43" idx="3"/>
          </p:cNvCxnSpPr>
          <p:nvPr/>
        </p:nvCxnSpPr>
        <p:spPr>
          <a:xfrm flipV="1">
            <a:off x="8122395" y="4534385"/>
            <a:ext cx="541432" cy="30229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551805" y="3860750"/>
            <a:ext cx="1922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constructor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551805" y="4731160"/>
            <a:ext cx="164019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getter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singleton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9" name="Straight Arrow Connector 48"/>
          <p:cNvCxnSpPr>
            <a:stCxn id="46" idx="1"/>
          </p:cNvCxnSpPr>
          <p:nvPr/>
        </p:nvCxnSpPr>
        <p:spPr>
          <a:xfrm flipH="1">
            <a:off x="4658934" y="4045416"/>
            <a:ext cx="892871" cy="0"/>
          </a:xfrm>
          <a:prstGeom prst="straightConnector1">
            <a:avLst/>
          </a:prstGeom>
          <a:ln w="15875"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47" idx="0"/>
          </p:cNvCxnSpPr>
          <p:nvPr/>
        </p:nvCxnSpPr>
        <p:spPr>
          <a:xfrm flipV="1">
            <a:off x="6371902" y="4326585"/>
            <a:ext cx="0" cy="404575"/>
          </a:xfrm>
          <a:prstGeom prst="straightConnector1">
            <a:avLst/>
          </a:prstGeom>
          <a:ln w="15875"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>
            <a:off x="5283283" y="4326585"/>
            <a:ext cx="1088619" cy="0"/>
          </a:xfrm>
          <a:prstGeom prst="straightConnector1">
            <a:avLst/>
          </a:prstGeom>
          <a:ln w="15875"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97279" y="5590589"/>
            <a:ext cx="100583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Remember: </a:t>
            </a:r>
            <a:r>
              <a:rPr lang="en-US" sz="20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Singleton class never accepts parameters. If it accepts parameters, then it becomes a factory design pattern. So avoid it.</a:t>
            </a:r>
            <a:endParaRPr lang="en-US" sz="20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Eager Loading &amp; Lazy Loading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7279" y="1889705"/>
          <a:ext cx="10058400" cy="38100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029200"/>
                <a:gridCol w="5029200"/>
              </a:tblGrid>
              <a:tr h="370840">
                <a:tc>
                  <a:txBody>
                    <a:bodyPr/>
                    <a:lstStyle/>
                    <a:p>
                      <a:pPr marL="457200" indent="-457200" algn="ctr">
                        <a:buFont typeface="Wingdings" panose="05000000000000000000" pitchFamily="2" charset="2"/>
                        <a:buChar char="q"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Eager Loading</a:t>
                      </a:r>
                      <a:endParaRPr 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 algn="ctr">
                        <a:buFont typeface="Wingdings" panose="05000000000000000000" pitchFamily="2" charset="2"/>
                        <a:buChar char="q"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Lazy Loading</a:t>
                      </a:r>
                      <a:endParaRPr 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instance is already initialized as soon as the application is up. Application starts and instance is already initialized.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Whenever our application starts the singleton instance is not initialized, it is initialized only when someone invokes it / tries to read it.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 nobody needs it, it will be there and utilize memory.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 don’t initialize it. When application module needs it, then it creates the instance. If its available, no need to create it. Optimization is done.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Works well with one singleton class.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Suitable for multiple singleton class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Example: Logger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192530" y="2075815"/>
            <a:ext cx="3510915" cy="239966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ts val="1200"/>
              </a:lnSpc>
            </a:pP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#pragma </a:t>
            </a:r>
            <a:r>
              <a:rPr sz="1400" b="0">
                <a:solidFill>
                  <a:srgbClr val="E50000"/>
                </a:solidFill>
                <a:latin typeface="Consolas" panose="020B0609020204030204"/>
                <a:ea typeface="Consolas" panose="020B0609020204030204"/>
              </a:rPr>
              <a:t>once</a:t>
            </a:r>
            <a:endParaRPr sz="1400" b="0">
              <a:solidFill>
                <a:srgbClr val="E5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#include </a:t>
            </a:r>
            <a:r>
              <a:rPr sz="1400" b="0">
                <a:solidFill>
                  <a:srgbClr val="A31515"/>
                </a:solidFill>
                <a:latin typeface="Consolas" panose="020B0609020204030204"/>
                <a:ea typeface="Consolas" panose="020B0609020204030204"/>
              </a:rPr>
              <a:t>&lt;iostream&gt;</a:t>
            </a:r>
            <a:endParaRPr sz="1400" b="0">
              <a:solidFill>
                <a:srgbClr val="A3151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usingnamespace</a:t>
            </a: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std;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class</a:t>
            </a: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Logger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public:</a:t>
            </a:r>
            <a:endParaRPr sz="1400" b="0">
              <a:solidFill>
                <a:srgbClr val="0000FF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static</a:t>
            </a: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Logger </a:t>
            </a: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*</a:t>
            </a: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getLogger();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void</a:t>
            </a: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Log(string msg);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private:</a:t>
            </a:r>
            <a:endParaRPr sz="1400" b="0">
              <a:solidFill>
                <a:srgbClr val="0000FF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static</a:t>
            </a:r>
            <a:r>
              <a:rPr lang="en-US"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counter;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Logger();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static</a:t>
            </a: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Logger *loggerInstance;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};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703445" y="1922780"/>
            <a:ext cx="7489190" cy="376301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ts val="1200"/>
              </a:lnSpc>
            </a:pPr>
            <a:r>
              <a:rPr sz="11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#include </a:t>
            </a:r>
            <a:r>
              <a:rPr sz="1100" b="0">
                <a:solidFill>
                  <a:srgbClr val="A31515"/>
                </a:solidFill>
                <a:latin typeface="Consolas" panose="020B0609020204030204"/>
                <a:ea typeface="Consolas" panose="020B0609020204030204"/>
              </a:rPr>
              <a:t>"logger.h"</a:t>
            </a:r>
            <a:endParaRPr sz="1100" b="0">
              <a:solidFill>
                <a:srgbClr val="A3151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endParaRPr sz="1100" b="0">
              <a:solidFill>
                <a:srgbClr val="A3151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1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sz="11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Logger::counter = </a:t>
            </a:r>
            <a:r>
              <a:rPr sz="1100" b="0">
                <a:solidFill>
                  <a:srgbClr val="098658"/>
                </a:solidFill>
                <a:latin typeface="Consolas" panose="020B0609020204030204"/>
                <a:ea typeface="Consolas" panose="020B0609020204030204"/>
              </a:rPr>
              <a:t>0</a:t>
            </a:r>
            <a:r>
              <a:rPr sz="11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;</a:t>
            </a:r>
            <a:endParaRPr sz="11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1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Logger *Logger::loggerInstance = </a:t>
            </a:r>
            <a:r>
              <a:rPr sz="11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nullptr</a:t>
            </a:r>
            <a:r>
              <a:rPr sz="11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;</a:t>
            </a:r>
            <a:endParaRPr sz="11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endParaRPr sz="11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1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Logger ::Logger()</a:t>
            </a:r>
            <a:endParaRPr sz="11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1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sz="11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1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counter++;</a:t>
            </a:r>
            <a:endParaRPr sz="11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1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cout &lt;&lt;</a:t>
            </a:r>
            <a:r>
              <a:rPr sz="1100" b="0">
                <a:solidFill>
                  <a:srgbClr val="A31515"/>
                </a:solidFill>
                <a:latin typeface="Consolas" panose="020B0609020204030204"/>
                <a:ea typeface="Consolas" panose="020B0609020204030204"/>
              </a:rPr>
              <a:t>"New instance of Logger created. Number of instances created: "</a:t>
            </a:r>
            <a:r>
              <a:rPr sz="11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&lt;&lt; counter &lt;&lt; endl;</a:t>
            </a:r>
            <a:endParaRPr sz="11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1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sz="11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endParaRPr sz="11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1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void</a:t>
            </a:r>
            <a:r>
              <a:rPr sz="11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Logger ::Log(string msg)</a:t>
            </a:r>
            <a:endParaRPr sz="11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1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sz="11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1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cout &lt;&lt; msg &lt;&lt; endl;</a:t>
            </a:r>
            <a:endParaRPr sz="11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1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sz="11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endParaRPr sz="11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1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Logger </a:t>
            </a:r>
            <a:r>
              <a:rPr sz="11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*</a:t>
            </a:r>
            <a:r>
              <a:rPr sz="11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Logger ::getLogger()</a:t>
            </a:r>
            <a:endParaRPr sz="11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1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sz="11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1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sz="11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if</a:t>
            </a:r>
            <a:r>
              <a:rPr sz="11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(loggerInstance == </a:t>
            </a:r>
            <a:r>
              <a:rPr sz="11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nullptr</a:t>
            </a:r>
            <a:r>
              <a:rPr sz="11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)</a:t>
            </a:r>
            <a:endParaRPr sz="11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1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{</a:t>
            </a:r>
            <a:endParaRPr sz="11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1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    loggerInstance = </a:t>
            </a:r>
            <a:r>
              <a:rPr sz="11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new</a:t>
            </a:r>
            <a:r>
              <a:rPr sz="11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Logger();</a:t>
            </a:r>
            <a:endParaRPr sz="11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1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}</a:t>
            </a:r>
            <a:endParaRPr sz="11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1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sz="11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return</a:t>
            </a:r>
            <a:r>
              <a:rPr sz="11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loggerInstance;</a:t>
            </a:r>
            <a:endParaRPr sz="11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1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sz="11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297940" y="4633595"/>
            <a:ext cx="11226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logger.h</a:t>
            </a:r>
            <a:endParaRPr lang="en-US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8723630" y="5420995"/>
            <a:ext cx="13766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logger.cpp</a:t>
            </a:r>
            <a:endParaRPr lang="en-US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4646295" y="2731770"/>
            <a:ext cx="0" cy="295402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Example: Logger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856615" y="2582545"/>
            <a:ext cx="4250690" cy="1887855"/>
          </a:xfrm>
          <a:prstGeom prst="rect">
            <a:avLst/>
          </a:prstGeom>
        </p:spPr>
        <p:txBody>
          <a:bodyPr>
            <a:noAutofit/>
          </a:bodyPr>
          <a:p>
            <a:pPr>
              <a:lnSpc>
                <a:spcPts val="1200"/>
              </a:lnSpc>
            </a:pPr>
            <a:r>
              <a:rPr sz="12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#include </a:t>
            </a:r>
            <a:r>
              <a:rPr sz="1200" b="0">
                <a:solidFill>
                  <a:srgbClr val="A31515"/>
                </a:solidFill>
                <a:latin typeface="Consolas" panose="020B0609020204030204"/>
                <a:ea typeface="Consolas" panose="020B0609020204030204"/>
              </a:rPr>
              <a:t>"logger.h"</a:t>
            </a:r>
            <a:endParaRPr sz="1200" b="0">
              <a:solidFill>
                <a:srgbClr val="A3151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endParaRPr sz="1200" b="0">
              <a:solidFill>
                <a:srgbClr val="A3151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main()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Logger *logger1 = Logger ::getLogger();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logger1-&gt;Log(</a:t>
            </a:r>
            <a:r>
              <a:rPr sz="1200" b="0">
                <a:solidFill>
                  <a:srgbClr val="A31515"/>
                </a:solidFill>
                <a:latin typeface="Consolas" panose="020B0609020204030204"/>
                <a:ea typeface="Consolas" panose="020B0609020204030204"/>
              </a:rPr>
              <a:t>"this msg is from user 1"</a:t>
            </a: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);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cout &lt;&lt; endl;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Logger *logger2 = Logger ::getLogger();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logger2-&gt;Log(</a:t>
            </a:r>
            <a:r>
              <a:rPr sz="1200" b="0">
                <a:solidFill>
                  <a:srgbClr val="A31515"/>
                </a:solidFill>
                <a:latin typeface="Consolas" panose="020B0609020204030204"/>
                <a:ea typeface="Consolas" panose="020B0609020204030204"/>
              </a:rPr>
              <a:t>"this msg is from user 2"</a:t>
            </a: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);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527040" y="2945765"/>
            <a:ext cx="6096000" cy="12909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alt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instance of Logger created. Number of instances created: 1</a:t>
            </a:r>
            <a:endParaRPr lang="en-US" altLang="en-US" sz="160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msg is from user 1</a:t>
            </a:r>
            <a:endParaRPr lang="en-US" altLang="en-US" sz="160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60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msg is from user 2</a:t>
            </a:r>
            <a:endParaRPr lang="en-US" altLang="en-US" sz="160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5181600" y="2731770"/>
            <a:ext cx="0" cy="295402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Text Box 6"/>
          <p:cNvSpPr txBox="1"/>
          <p:nvPr/>
        </p:nvSpPr>
        <p:spPr>
          <a:xfrm>
            <a:off x="1014095" y="4928235"/>
            <a:ext cx="1857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notThread.cpp</a:t>
            </a:r>
            <a:endParaRPr lang="en-US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Example: Logger (Not Thread Safe)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1097280" y="2021205"/>
            <a:ext cx="4304030" cy="363093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ts val="1200"/>
              </a:lnSpc>
            </a:pPr>
            <a:r>
              <a:rPr sz="12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#include </a:t>
            </a:r>
            <a:r>
              <a:rPr sz="1200" b="0">
                <a:solidFill>
                  <a:srgbClr val="A31515"/>
                </a:solidFill>
                <a:latin typeface="Consolas" panose="020B0609020204030204"/>
                <a:ea typeface="Consolas" panose="020B0609020204030204"/>
              </a:rPr>
              <a:t>"logger.h"</a:t>
            </a:r>
            <a:endParaRPr sz="1200" b="0">
              <a:solidFill>
                <a:srgbClr val="A3151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#include </a:t>
            </a:r>
            <a:r>
              <a:rPr sz="1200" b="0">
                <a:solidFill>
                  <a:srgbClr val="A31515"/>
                </a:solidFill>
                <a:latin typeface="Consolas" panose="020B0609020204030204"/>
                <a:ea typeface="Consolas" panose="020B0609020204030204"/>
              </a:rPr>
              <a:t>&lt;thread&gt;</a:t>
            </a:r>
            <a:endParaRPr sz="1200" b="0">
              <a:solidFill>
                <a:srgbClr val="A3151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endParaRPr sz="1200" b="0">
              <a:solidFill>
                <a:srgbClr val="A3151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void</a:t>
            </a: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userLogs()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Logger *logger1 = Logger ::getLogger();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logger1-&gt;Log(</a:t>
            </a:r>
            <a:r>
              <a:rPr sz="1200" b="0">
                <a:solidFill>
                  <a:srgbClr val="A31515"/>
                </a:solidFill>
                <a:latin typeface="Consolas" panose="020B0609020204030204"/>
                <a:ea typeface="Consolas" panose="020B0609020204030204"/>
              </a:rPr>
              <a:t>"this msg is from user 1"</a:t>
            </a: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);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cout &lt;&lt; endl;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void</a:t>
            </a: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user2Logs()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Logger *logger2 = Logger ::getLogger();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logger2-&gt;Log(</a:t>
            </a:r>
            <a:r>
              <a:rPr sz="1200" b="0">
                <a:solidFill>
                  <a:srgbClr val="A31515"/>
                </a:solidFill>
                <a:latin typeface="Consolas" panose="020B0609020204030204"/>
                <a:ea typeface="Consolas" panose="020B0609020204030204"/>
              </a:rPr>
              <a:t>"this msg is from user 2"</a:t>
            </a: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);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main()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thread t1(userLogs);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thread t2(user2Logs);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t1.join();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t2.join();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2624455" y="5559425"/>
            <a:ext cx="1857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threadMain.cpp</a:t>
            </a:r>
            <a:endParaRPr lang="en-US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5181600" y="2731770"/>
            <a:ext cx="0" cy="295402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Text Box 4"/>
          <p:cNvSpPr txBox="1"/>
          <p:nvPr/>
        </p:nvSpPr>
        <p:spPr>
          <a:xfrm>
            <a:off x="5668645" y="3429000"/>
            <a:ext cx="6096000" cy="1599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altLang="en-US" sz="14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40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4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instance of Logger created. Number of instances created: 2</a:t>
            </a:r>
            <a:endParaRPr lang="en-US" altLang="en-US" sz="140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4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msg is from user 1</a:t>
            </a:r>
            <a:endParaRPr lang="en-US" altLang="en-US" sz="140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40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4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instance of Logger created. Number of instances created: 2</a:t>
            </a:r>
            <a:endParaRPr lang="en-US" altLang="en-US" sz="140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4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msg is from user 2</a:t>
            </a:r>
            <a:endParaRPr lang="en-US" altLang="en-US" sz="140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Example: Logger (Thread Safe)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1186815" y="2194560"/>
            <a:ext cx="3937635" cy="2880360"/>
          </a:xfrm>
          <a:prstGeom prst="rect">
            <a:avLst/>
          </a:prstGeom>
        </p:spPr>
        <p:txBody>
          <a:bodyPr>
            <a:noAutofit/>
          </a:bodyPr>
          <a:p>
            <a:pPr>
              <a:lnSpc>
                <a:spcPts val="1200"/>
              </a:lnSpc>
            </a:pP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#pragma </a:t>
            </a:r>
            <a:r>
              <a:rPr sz="1400" b="0">
                <a:solidFill>
                  <a:srgbClr val="E50000"/>
                </a:solidFill>
                <a:latin typeface="Consolas" panose="020B0609020204030204"/>
                <a:ea typeface="Consolas" panose="020B0609020204030204"/>
              </a:rPr>
              <a:t>once</a:t>
            </a:r>
            <a:endParaRPr sz="1400" b="0">
              <a:solidFill>
                <a:srgbClr val="E5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#include </a:t>
            </a:r>
            <a:r>
              <a:rPr sz="1400" b="0">
                <a:solidFill>
                  <a:srgbClr val="A31515"/>
                </a:solidFill>
                <a:latin typeface="Consolas" panose="020B0609020204030204"/>
                <a:ea typeface="Consolas" panose="020B0609020204030204"/>
              </a:rPr>
              <a:t>&lt;iostream&gt;</a:t>
            </a:r>
            <a:endParaRPr sz="1400" b="0">
              <a:solidFill>
                <a:srgbClr val="A3151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FF"/>
                </a:solidFill>
                <a:highlight>
                  <a:srgbClr val="00FFFF"/>
                </a:highlight>
                <a:latin typeface="Consolas" panose="020B0609020204030204"/>
                <a:ea typeface="Consolas" panose="020B0609020204030204"/>
              </a:rPr>
              <a:t>#include </a:t>
            </a:r>
            <a:r>
              <a:rPr sz="1400" b="0">
                <a:solidFill>
                  <a:srgbClr val="A31515"/>
                </a:solidFill>
                <a:highlight>
                  <a:srgbClr val="00FFFF"/>
                </a:highlight>
                <a:latin typeface="Consolas" panose="020B0609020204030204"/>
                <a:ea typeface="Consolas" panose="020B0609020204030204"/>
              </a:rPr>
              <a:t>&lt;mutex&gt;</a:t>
            </a:r>
            <a:endParaRPr sz="1400" b="0">
              <a:solidFill>
                <a:srgbClr val="A31515"/>
              </a:solidFill>
              <a:highlight>
                <a:srgbClr val="00FFFF"/>
              </a:highlight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usingnamespace</a:t>
            </a: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std;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class</a:t>
            </a: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Logger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public:</a:t>
            </a:r>
            <a:endParaRPr sz="1400" b="0">
              <a:solidFill>
                <a:srgbClr val="0000FF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static</a:t>
            </a: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Logger </a:t>
            </a: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*</a:t>
            </a: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getLogger();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void</a:t>
            </a: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Log(string msg);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private:</a:t>
            </a:r>
            <a:endParaRPr sz="1400" b="0">
              <a:solidFill>
                <a:srgbClr val="0000FF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staticint</a:t>
            </a: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counter;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sz="1400" b="0">
                <a:solidFill>
                  <a:srgbClr val="0000FF"/>
                </a:solidFill>
                <a:highlight>
                  <a:srgbClr val="00FFFF"/>
                </a:highlight>
                <a:latin typeface="Consolas" panose="020B0609020204030204"/>
                <a:ea typeface="Consolas" panose="020B0609020204030204"/>
              </a:rPr>
              <a:t>static</a:t>
            </a:r>
            <a:r>
              <a:rPr sz="1400" b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/>
                <a:ea typeface="Consolas" panose="020B0609020204030204"/>
              </a:rPr>
              <a:t> mutex mtx;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Logger();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sz="14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static</a:t>
            </a: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Logger *loggerInstance;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};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4689475" y="2597150"/>
            <a:ext cx="0" cy="295402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Text Box 6"/>
          <p:cNvSpPr txBox="1"/>
          <p:nvPr/>
        </p:nvSpPr>
        <p:spPr>
          <a:xfrm>
            <a:off x="1715135" y="5495290"/>
            <a:ext cx="21996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threadSafelogger.h</a:t>
            </a:r>
            <a:endParaRPr lang="en-US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773930" y="1871345"/>
            <a:ext cx="7383145" cy="424624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ts val="1200"/>
              </a:lnSpc>
            </a:pPr>
            <a:r>
              <a:rPr sz="11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#include </a:t>
            </a:r>
            <a:r>
              <a:rPr sz="1100" b="0">
                <a:solidFill>
                  <a:srgbClr val="A31515"/>
                </a:solidFill>
                <a:latin typeface="Consolas" panose="020B0609020204030204"/>
                <a:ea typeface="Consolas" panose="020B0609020204030204"/>
              </a:rPr>
              <a:t>"threadSafelogger.h"</a:t>
            </a:r>
            <a:endParaRPr sz="1100" b="0">
              <a:solidFill>
                <a:srgbClr val="A3151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endParaRPr sz="1100" b="0">
              <a:solidFill>
                <a:srgbClr val="A3151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1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sz="11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Logger::counter = </a:t>
            </a:r>
            <a:r>
              <a:rPr sz="1100" b="0">
                <a:solidFill>
                  <a:srgbClr val="098658"/>
                </a:solidFill>
                <a:latin typeface="Consolas" panose="020B0609020204030204"/>
                <a:ea typeface="Consolas" panose="020B0609020204030204"/>
              </a:rPr>
              <a:t>0</a:t>
            </a:r>
            <a:r>
              <a:rPr sz="11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;</a:t>
            </a:r>
            <a:endParaRPr sz="11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1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Logger *Logger::loggerInstance = </a:t>
            </a:r>
            <a:r>
              <a:rPr sz="11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nullptr</a:t>
            </a:r>
            <a:r>
              <a:rPr sz="11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;</a:t>
            </a:r>
            <a:endParaRPr sz="11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100" b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/>
                <a:ea typeface="Consolas" panose="020B0609020204030204"/>
              </a:rPr>
              <a:t>mutex Logger::mtx;</a:t>
            </a:r>
            <a:endParaRPr sz="1100" b="0">
              <a:solidFill>
                <a:srgbClr val="000000"/>
              </a:solidFill>
              <a:highlight>
                <a:srgbClr val="00FFFF"/>
              </a:highlight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endParaRPr sz="11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1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Logger ::Logger()</a:t>
            </a:r>
            <a:endParaRPr sz="11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1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sz="11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1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counter++;</a:t>
            </a:r>
            <a:endParaRPr sz="11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1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cout &lt;&lt;</a:t>
            </a:r>
            <a:r>
              <a:rPr sz="1100" b="0">
                <a:solidFill>
                  <a:srgbClr val="A31515"/>
                </a:solidFill>
                <a:latin typeface="Consolas" panose="020B0609020204030204"/>
                <a:ea typeface="Consolas" panose="020B0609020204030204"/>
              </a:rPr>
              <a:t>"New instance of Logger created. Number of instances created: "</a:t>
            </a:r>
            <a:r>
              <a:rPr sz="11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&lt;&lt; counter &lt;&lt; endl;</a:t>
            </a:r>
            <a:endParaRPr sz="11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1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sz="11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endParaRPr sz="11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1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void</a:t>
            </a:r>
            <a:r>
              <a:rPr sz="11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Logger ::Log(string msg)</a:t>
            </a:r>
            <a:endParaRPr sz="11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1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sz="11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1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cout &lt;&lt; msg &lt;&lt; endl;</a:t>
            </a:r>
            <a:endParaRPr sz="11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1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sz="11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endParaRPr sz="11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1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Logger </a:t>
            </a:r>
            <a:r>
              <a:rPr sz="11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*</a:t>
            </a:r>
            <a:r>
              <a:rPr sz="11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Logger ::getLogger()</a:t>
            </a:r>
            <a:endParaRPr sz="11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1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sz="11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1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sz="1100" b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/>
                <a:ea typeface="Consolas" panose="020B0609020204030204"/>
              </a:rPr>
              <a:t>mtx.lock();</a:t>
            </a:r>
            <a:endParaRPr sz="11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1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sz="11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if</a:t>
            </a:r>
            <a:r>
              <a:rPr sz="11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(loggerInstance == </a:t>
            </a:r>
            <a:r>
              <a:rPr sz="11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nullptr</a:t>
            </a:r>
            <a:r>
              <a:rPr sz="11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)</a:t>
            </a:r>
            <a:endParaRPr sz="11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1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{</a:t>
            </a:r>
            <a:endParaRPr sz="11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1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    loggerInstance = </a:t>
            </a:r>
            <a:r>
              <a:rPr sz="11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new</a:t>
            </a:r>
            <a:r>
              <a:rPr sz="11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Logger();</a:t>
            </a:r>
            <a:endParaRPr sz="11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1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}</a:t>
            </a:r>
            <a:endParaRPr sz="11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1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sz="1100" b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/>
                <a:ea typeface="Consolas" panose="020B0609020204030204"/>
              </a:rPr>
              <a:t>mtx.unlock();</a:t>
            </a:r>
            <a:endParaRPr sz="11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1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sz="11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return</a:t>
            </a:r>
            <a:r>
              <a:rPr sz="11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loggerInstance;</a:t>
            </a:r>
            <a:endParaRPr sz="11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1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sz="11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8109585" y="5495290"/>
            <a:ext cx="26047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threadSafeLogger.cpp</a:t>
            </a:r>
            <a:endParaRPr lang="en-US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Example: Logger (Thread Safe)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1097280" y="2154555"/>
            <a:ext cx="4362450" cy="363093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ts val="1200"/>
              </a:lnSpc>
            </a:pPr>
            <a:r>
              <a:rPr sz="12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#include </a:t>
            </a:r>
            <a:r>
              <a:rPr sz="1200" b="0">
                <a:solidFill>
                  <a:srgbClr val="A31515"/>
                </a:solidFill>
                <a:latin typeface="Consolas" panose="020B0609020204030204"/>
                <a:ea typeface="Consolas" panose="020B0609020204030204"/>
              </a:rPr>
              <a:t>"threadSafelogger.h"</a:t>
            </a:r>
            <a:endParaRPr sz="1200" b="0">
              <a:solidFill>
                <a:srgbClr val="A3151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#include </a:t>
            </a:r>
            <a:r>
              <a:rPr sz="1200" b="0">
                <a:solidFill>
                  <a:srgbClr val="A31515"/>
                </a:solidFill>
                <a:latin typeface="Consolas" panose="020B0609020204030204"/>
                <a:ea typeface="Consolas" panose="020B0609020204030204"/>
              </a:rPr>
              <a:t>&lt;thread&gt;</a:t>
            </a:r>
            <a:endParaRPr sz="1200" b="0">
              <a:solidFill>
                <a:srgbClr val="A3151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endParaRPr sz="1200" b="0">
              <a:solidFill>
                <a:srgbClr val="A31515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void</a:t>
            </a: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userLogs()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Logger *logger1 = Logger ::getLogger();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logger1-&gt;Log(</a:t>
            </a:r>
            <a:r>
              <a:rPr sz="1200" b="0">
                <a:solidFill>
                  <a:srgbClr val="A31515"/>
                </a:solidFill>
                <a:latin typeface="Consolas" panose="020B0609020204030204"/>
                <a:ea typeface="Consolas" panose="020B0609020204030204"/>
              </a:rPr>
              <a:t>"this msg is from user 1"</a:t>
            </a: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);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cout &lt;&lt; endl;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void</a:t>
            </a: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user2Logs()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Logger *logger2 = Logger ::getLogger();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logger2-&gt;Log(</a:t>
            </a:r>
            <a:r>
              <a:rPr sz="1200" b="0">
                <a:solidFill>
                  <a:srgbClr val="A31515"/>
                </a:solidFill>
                <a:latin typeface="Consolas" panose="020B0609020204030204"/>
                <a:ea typeface="Consolas" panose="020B0609020204030204"/>
              </a:rPr>
              <a:t>"this msg is from user 2"</a:t>
            </a: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);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FF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 main()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thread t1(userLogs);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thread t2(user2Logs);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t1.join();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   t2.join();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200"/>
              </a:lnSpc>
            </a:pPr>
            <a:r>
              <a:rPr sz="12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sz="1200" b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4977130" y="2648585"/>
            <a:ext cx="0" cy="295402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Text Box 4"/>
          <p:cNvSpPr txBox="1"/>
          <p:nvPr/>
        </p:nvSpPr>
        <p:spPr>
          <a:xfrm>
            <a:off x="5213985" y="3119120"/>
            <a:ext cx="6096000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400" b="1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altLang="en-US" sz="140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40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4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instance of Logger created. Number of instances created: 1</a:t>
            </a:r>
            <a:endParaRPr lang="en-US" altLang="en-US" sz="140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4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msg is from user 1</a:t>
            </a:r>
            <a:endParaRPr lang="en-US" altLang="en-US" sz="140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40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4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msg is from user 2</a:t>
            </a:r>
            <a:endParaRPr lang="en-US" altLang="en-US" sz="140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5226</Words>
  <Application>WPS Presentation</Application>
  <PresentationFormat>Widescreen</PresentationFormat>
  <Paragraphs>313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SimSun</vt:lpstr>
      <vt:lpstr>Wingdings</vt:lpstr>
      <vt:lpstr>Calibri</vt:lpstr>
      <vt:lpstr>Times New Roman</vt:lpstr>
      <vt:lpstr>Calibri Light</vt:lpstr>
      <vt:lpstr>Microsoft YaHei</vt:lpstr>
      <vt:lpstr>Arial Unicode MS</vt:lpstr>
      <vt:lpstr>Consolas</vt:lpstr>
      <vt:lpstr>Retrospect</vt:lpstr>
      <vt:lpstr>CSE327  Software Engineering</vt:lpstr>
      <vt:lpstr>Singleton Design Pattern</vt:lpstr>
      <vt:lpstr>Singleton Design Pattern</vt:lpstr>
      <vt:lpstr>Singleton Design Pattern</vt:lpstr>
      <vt:lpstr>Eager Loading &amp; Lazy Loading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 K M Iqtidar Newaz</dc:creator>
  <cp:lastModifiedBy>iqtid</cp:lastModifiedBy>
  <cp:revision>47</cp:revision>
  <dcterms:created xsi:type="dcterms:W3CDTF">2024-09-23T05:24:00Z</dcterms:created>
  <dcterms:modified xsi:type="dcterms:W3CDTF">2025-02-25T13:59:30Z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DE6C64EEA9F84FBFA4AD5368F12AC707_12</vt:lpwstr>
  </property>
  <property fmtid="{D5CDD505-2E9C-101B-9397-08002B2CF9AE}" pid="3" name="KSOProductBuildVer">
    <vt:lpwstr>1033-12.2.0.19805</vt:lpwstr>
  </property>
</Properties>
</file>