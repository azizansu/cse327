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8" r:id="rId3"/>
    <p:sldId id="289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8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793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72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142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1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26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6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7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46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80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2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08B7E8-FFFA-4B69-B722-EE8EB26FCEFB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F4E36D-F334-4E2F-A349-236A1C51F0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291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3499F8A-9435-C0D9-A20B-1E2B3CDCA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35077"/>
            <a:ext cx="10058400" cy="356616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D17E59A-42EA-716B-9881-3C6515D631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- 9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44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Design Pattern (Behavioral)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Defines a family of algorithms and encapsulates each one and makes them interchangeable. The strategy lets the algorithm vary independently from clients that use it.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of an algorithm are needed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does not need to know the algorithm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should be exchangeable at the run time of a program</a:t>
            </a:r>
          </a:p>
          <a:p>
            <a:pPr lvl="1" algn="just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2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3"/>
            <a:ext cx="10118921" cy="4252459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Acts as the primary class that interacts with the clients and uses a Strategy object to perform specific behaviors.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Maintains a reference to a Strategy object and delegates the algorithm’s execution.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Can switch between different Strategy objects at runtime, enabling dynamic behavior changes.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Interface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Serves as a common contract for all concrete strategy implementations.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Declares a method (or methods) that all concrete strategies must implement.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consistency and allows the Context to work with any Strategy implementation interchangeably.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Strategies: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Provide specific implementations of the algorithm defined in the Strategy interface.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 different variation of the algorithm, encapsulating their details.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Allow easy addition of new behaviors without modifying the Context or other strategies.</a:t>
            </a:r>
          </a:p>
        </p:txBody>
      </p:sp>
    </p:spTree>
    <p:extLst>
      <p:ext uri="{BB962C8B-B14F-4D97-AF65-F5344CB8AC3E}">
        <p14:creationId xmlns:p14="http://schemas.microsoft.com/office/powerpoint/2010/main" val="3513880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 (Basic)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6224498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Strategy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Defines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interface for the family of algorithms.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ConcreteStrategy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an algorithm.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Manages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reference to a ConcreteStrategy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ConcreteStrategy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 context has a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ConcreteStrategy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encapsulated in an object.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ConcreteStrategy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the interface of Strategy.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Typically, the </a:t>
            </a:r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ConcreteStrategy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be adjusted during run time.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674" y="2289097"/>
            <a:ext cx="4528730" cy="280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9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(Basic [Code])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97280" y="2017222"/>
            <a:ext cx="320807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&lt;memory&gt;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&lt;utility&gt;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Interface or Abstract Class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execute()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~Strategy()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201" y="182949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Context holds a Concrete strategy that is encapsulated in an object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Context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setStrategy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(Strategy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s)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s;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-&gt;execute();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Strategy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strat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4637784" y="2197191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01534" y="4650941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45468" y="4650941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206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 (Basic [Code])</a:t>
            </a:r>
          </a:p>
        </p:txBody>
      </p:sp>
      <p:sp>
        <p:nvSpPr>
          <p:cNvPr id="4" name="Rectangle 3"/>
          <p:cNvSpPr/>
          <p:nvPr/>
        </p:nvSpPr>
        <p:spPr>
          <a:xfrm>
            <a:off x="206124" y="2079479"/>
            <a:ext cx="520791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Concrete Strategy1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Strategy1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execute() { std::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"Strategy1 executed\n"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Concrete Strategy2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Strategy2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execute() { std::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"Strategy2 executed\n"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Concrete Strategy3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Strategy3 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execute() { std::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"Strategy3 executed\n"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7250294" y="1903037"/>
            <a:ext cx="3905386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Context k;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k.setStrategy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Strategy1());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k.strategy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k.setStrategy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Strategy2());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k.strategy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k.setStrategy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Strategy3());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k.strategy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7334934" y="4723772"/>
            <a:ext cx="35852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Strategy1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executed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Strategy2 executed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Strategy3 executed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364618" y="2189083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86852" y="2079479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01534" y="4650941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08565" y="2004417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03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smtClean="0"/>
              <a:t>2 (SortSearch [Code])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77081" y="2465259"/>
            <a:ext cx="31620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Interface or Abstract Class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SortBehavior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sort()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6927073" y="1822880"/>
            <a:ext cx="5091696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Merge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SortBehavior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sort()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"Merge Sort()"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Quick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SortBehavior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sort()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"Quick Sort()"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Heap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SortBehavior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sort()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"Heap Sort()"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2780" y="4506915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31094" y="2095927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723222" y="2162769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43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 (SortSearch [Code])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6593" y="2097926"/>
            <a:ext cx="33001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Interface or Abstract class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SearchBehavior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search()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6420534" y="1807295"/>
            <a:ext cx="565743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Sequential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SearchBehavior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search()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"Sequential Search()"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BinaryTree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SearchBehavior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search()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BinaryTree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 Search()"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HashTable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SearchBehavior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search()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100" dirty="0" err="1">
                <a:solidFill>
                  <a:srgbClr val="A31515"/>
                </a:solidFill>
                <a:latin typeface="Consolas" panose="020B0609020204030204" pitchFamily="49" charset="0"/>
              </a:rPr>
              <a:t>HashTable</a:t>
            </a:r>
            <a:r>
              <a:rPr lang="en-US" sz="1100" dirty="0">
                <a:solidFill>
                  <a:srgbClr val="A31515"/>
                </a:solidFill>
                <a:latin typeface="Consolas" panose="020B0609020204030204" pitchFamily="49" charset="0"/>
              </a:rPr>
              <a:t> Search()"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1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723222" y="2162769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72780" y="4506915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70624" y="1978103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843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 (SortSearch [Code])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282" y="1596432"/>
            <a:ext cx="3218161" cy="4778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8000"/>
                </a:solidFill>
                <a:latin typeface="Consolas" panose="020B0609020204030204" pitchFamily="49" charset="0"/>
              </a:rPr>
              <a:t>// Context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Collection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Collection() {}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set_sort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SortBehavior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s)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m_sort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s;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set_search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SearchBehavior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s)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m_search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= s;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sort()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m_sort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-&gt;sort();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search() </a:t>
            </a: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m_search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-&gt;search();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SortBehavior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m_sort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SearchBehavior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m_search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4137605" y="1791087"/>
            <a:ext cx="39777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Merge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merge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Quick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quick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Heap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heap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Sequential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sequential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HashTable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hashTable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Collection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colA.set_sort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(&amp;merge);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colA.sort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Collection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colB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colB.set_search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(&amp;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binaryTree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colB.search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8907177" y="2987424"/>
            <a:ext cx="25918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Merge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Sort()</a:t>
            </a:r>
          </a:p>
          <a:p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BinaryTree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Search()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933893" y="2235132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8032247" y="2235132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84412" y="1865800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7727" y="1865800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48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(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RecordKeeper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[Code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6369" y="2463496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&lt;string&gt;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Interface or Abstract Class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Record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start_record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200" dirty="0" smtClean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store_field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name,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value) = </a:t>
            </a:r>
            <a:r>
              <a:rPr lang="en-US" sz="1200" dirty="0" smtClean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finish_record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() = </a:t>
            </a:r>
            <a:r>
              <a:rPr lang="en-US" sz="1200" dirty="0" smtClean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virtual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~Record() {}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98982" y="2630072"/>
            <a:ext cx="45303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1200" dirty="0" smtClean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record.h</a:t>
            </a:r>
            <a:r>
              <a:rPr lang="en-US" sz="12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2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2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cassert</a:t>
            </a:r>
            <a:r>
              <a:rPr lang="en-US" sz="12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 smtClean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ContactData</a:t>
            </a:r>
            <a:endParaRPr lang="en-US" sz="12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    string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first_name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last_name</a:t>
            </a:r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phone, email;</a:t>
            </a:r>
          </a:p>
          <a:p>
            <a:r>
              <a:rPr lang="en-US" sz="12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855808" y="2463496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836919" y="2214456"/>
            <a:ext cx="117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95384" y="2155250"/>
            <a:ext cx="203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contactRecord.h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652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55034"/>
            <a:ext cx="100584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RecordKeeper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[Code])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7280" y="1820804"/>
            <a:ext cx="5467980" cy="4356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ContactRecorder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ContactRecorder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(Record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a) :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(a)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(a !=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store(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ContactData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data)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assert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!=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store_field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"first name"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data.first_name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store_field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"last name"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data.last_name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store_field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"phone"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data.phone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store_field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"email"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data.email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finish_record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Record *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7070" y="2681523"/>
            <a:ext cx="2034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contactRecord.h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6452358" y="2318771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472093" y="1736810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9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record.h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MySql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US" sz="900" dirty="0">
                <a:solidFill>
                  <a:srgbClr val="008000"/>
                </a:solidFill>
                <a:latin typeface="Consolas" panose="020B0609020204030204" pitchFamily="49" charset="0"/>
              </a:rPr>
              <a:t> // Dummy class for MySQL connection simulation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DatabaseRecord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Record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DatabaseRecord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 :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m_dbConnection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MySql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start_record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"Start transaction"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store_field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name,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value)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"Insert into table: 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name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 = 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value &lt;&lt;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finish_record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"Finish transaction"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MySql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m_dbConnection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21429" y="2037934"/>
            <a:ext cx="2234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databaseRecord.h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28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RecordKeeper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[Code])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4978" y="1580454"/>
            <a:ext cx="5421931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#pragma </a:t>
            </a:r>
            <a:r>
              <a:rPr lang="en-US" sz="900" dirty="0">
                <a:solidFill>
                  <a:srgbClr val="E50000"/>
                </a:solidFill>
                <a:latin typeface="Consolas" panose="020B0609020204030204" pitchFamily="49" charset="0"/>
              </a:rPr>
              <a:t>once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record.h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900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StreamRecord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: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Record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StreamRecord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ostream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s,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record_name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string()) :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m_ostream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(s),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m_record_name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record_name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) {}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start_record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m_ostream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m_record_name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"( 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store_field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name,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value)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m_ostream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name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": 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value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"; 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finish_record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override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m_ostream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>
                <a:solidFill>
                  <a:srgbClr val="A31515"/>
                </a:solidFill>
                <a:latin typeface="Consolas" panose="020B0609020204030204" pitchFamily="49" charset="0"/>
              </a:rPr>
              <a:t>")"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set_record_name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name)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m_record_name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= name;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0000FF"/>
                </a:solidFill>
                <a:latin typeface="Consolas" panose="020B0609020204030204" pitchFamily="49" charset="0"/>
              </a:rPr>
              <a:t>private:</a:t>
            </a:r>
            <a:endParaRPr lang="en-US" sz="9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ostream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 &amp;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m_ostream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    string </a:t>
            </a:r>
            <a:r>
              <a:rPr lang="en-US" sz="900" dirty="0" err="1">
                <a:solidFill>
                  <a:srgbClr val="000000"/>
                </a:solidFill>
                <a:latin typeface="Consolas" panose="020B0609020204030204" pitchFamily="49" charset="0"/>
              </a:rPr>
              <a:t>m_record_name</a:t>
            </a:r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9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32463" y="1998464"/>
            <a:ext cx="184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streamRecord.h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96909" y="1795549"/>
            <a:ext cx="6032409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record.h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databaseRecord.h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contactRecorder.h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streamRecord.h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ContactData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data = {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"William"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"Smith"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"415-675-1874"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"smith@email.com"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nStreamRecorder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StreamRecord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sRecord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(std ::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"Contact"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ContactRecorder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contact(&amp;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sRecord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contact.store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(data);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050" dirty="0" err="1">
                <a:solidFill>
                  <a:srgbClr val="A31515"/>
                </a:solidFill>
                <a:latin typeface="Consolas" panose="020B0609020204030204" pitchFamily="49" charset="0"/>
              </a:rPr>
              <a:t>nDatabase</a:t>
            </a:r>
            <a:r>
              <a:rPr lang="en-US" sz="1050" dirty="0">
                <a:solidFill>
                  <a:srgbClr val="A31515"/>
                </a:solidFill>
                <a:latin typeface="Consolas" panose="020B0609020204030204" pitchFamily="49" charset="0"/>
              </a:rPr>
              <a:t> Recorder: "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DatabaseRecord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dbRecord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ContactRecorder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 contact2(&amp;</a:t>
            </a:r>
            <a:r>
              <a:rPr lang="en-US" sz="1050" dirty="0" err="1">
                <a:solidFill>
                  <a:srgbClr val="000000"/>
                </a:solidFill>
                <a:latin typeface="Consolas" panose="020B0609020204030204" pitchFamily="49" charset="0"/>
              </a:rPr>
              <a:t>dbRecord</a:t>
            </a:r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    contact2.store(data);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05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05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83056" y="1998464"/>
            <a:ext cx="184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ain.cpp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98310" y="4765941"/>
            <a:ext cx="483623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StreamRecorder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Contact( first name: William; last name: Smith; phone: 415-675-1874; email: smith@email.com; )</a:t>
            </a:r>
          </a:p>
          <a:p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Recorder: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transaction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table: first name = William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table: last name = Smith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table: phone = 415-675-1874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table: email = smith@email.com</a:t>
            </a:r>
          </a:p>
          <a:p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 transaction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5606112" y="2367796"/>
            <a:ext cx="19735" cy="319711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72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RecordKeeper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[Code])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15730" y="2167466"/>
            <a:ext cx="94215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r>
              <a:rPr lang="en-US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StreamRecorder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Contact( first name: William; last name: Smith; phone: 415-675-1874; email: smith@email.com; )</a:t>
            </a:r>
          </a:p>
          <a:p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Recorder: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transaction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table: first name = William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table: last name = Smith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table: phone = 415-675-1874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into table: email = smith@email.com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Finish transaction</a:t>
            </a:r>
          </a:p>
        </p:txBody>
      </p:sp>
    </p:spTree>
    <p:extLst>
      <p:ext uri="{BB962C8B-B14F-4D97-AF65-F5344CB8AC3E}">
        <p14:creationId xmlns:p14="http://schemas.microsoft.com/office/powerpoint/2010/main" val="130355184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966</TotalTime>
  <Words>692</Words>
  <Application>Microsoft Office PowerPoint</Application>
  <PresentationFormat>Widescreen</PresentationFormat>
  <Paragraphs>360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Calibri Light</vt:lpstr>
      <vt:lpstr>Consolas</vt:lpstr>
      <vt:lpstr>Times New Roman</vt:lpstr>
      <vt:lpstr>Wingdings</vt:lpstr>
      <vt:lpstr>Retrospect</vt:lpstr>
      <vt:lpstr>CSE327  Software Engineering</vt:lpstr>
      <vt:lpstr>Strategy Design Pattern (Behavioral)</vt:lpstr>
      <vt:lpstr>Key Components</vt:lpstr>
      <vt:lpstr>Example 1 (Basic)</vt:lpstr>
      <vt:lpstr>Example 1 (Basic [Code])</vt:lpstr>
      <vt:lpstr>Example 1 (Basic [Code])</vt:lpstr>
      <vt:lpstr>Example 2 (SortSearch [Code])</vt:lpstr>
      <vt:lpstr>Example 2 (SortSearch [Code])</vt:lpstr>
      <vt:lpstr>Example 2 (SortSearch [Code])</vt:lpstr>
      <vt:lpstr>Example 3 (RecordKeeper[Code])</vt:lpstr>
      <vt:lpstr>Example 3 (RecordKeeper[Code])</vt:lpstr>
      <vt:lpstr>Example 3 (RecordKeeper[Code])</vt:lpstr>
      <vt:lpstr>Example 3 (RecordKeeper[Code])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CSE327  Software Engineering</dc:title>
  <dc:creator>A K M Iqtidar Newaz</dc:creator>
  <cp:lastModifiedBy>A K M Iqtidar Newaz</cp:lastModifiedBy>
  <cp:revision>46</cp:revision>
  <dcterms:created xsi:type="dcterms:W3CDTF">2024-09-23T05:24:39Z</dcterms:created>
  <dcterms:modified xsi:type="dcterms:W3CDTF">2025-02-12T02:06:55Z</dcterms:modified>
</cp:coreProperties>
</file>