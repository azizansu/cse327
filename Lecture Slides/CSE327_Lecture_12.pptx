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1"/>
  </p:notesMasterIdLst>
  <p:sldIdLst>
    <p:sldId id="256" r:id="rId3"/>
    <p:sldId id="273" r:id="rId4"/>
    <p:sldId id="274" r:id="rId5"/>
    <p:sldId id="275" r:id="rId6"/>
    <p:sldId id="279" r:id="rId7"/>
    <p:sldId id="276" r:id="rId8"/>
    <p:sldId id="277" r:id="rId9"/>
    <p:sldId id="278" r:id="rId10"/>
    <p:sldId id="284" r:id="rId11"/>
    <p:sldId id="285" r:id="rId12"/>
    <p:sldId id="286" r:id="rId13"/>
    <p:sldId id="287" r:id="rId14"/>
    <p:sldId id="288" r:id="rId15"/>
    <p:sldId id="289" r:id="rId16"/>
    <p:sldId id="290" r:id="rId17"/>
    <p:sldId id="291" r:id="rId18"/>
    <p:sldId id="292" r:id="rId19"/>
    <p:sldId id="293"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73" autoAdjust="0"/>
    <p:restoredTop sz="87025" autoAdjust="0"/>
  </p:normalViewPr>
  <p:slideViewPr>
    <p:cSldViewPr snapToGrid="0">
      <p:cViewPr>
        <p:scale>
          <a:sx n="70" d="100"/>
          <a:sy n="70" d="100"/>
        </p:scale>
        <p:origin x="2132" y="7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notesMaster" Target="notesMasters/notesMaster1.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60CA33-806B-4F54-A6B9-BD827E2168F1}"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A0194F8-6598-4824-B2DB-DE7496B3104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508B7E8-FFFA-4B69-B722-EE8EB26FCEF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6F4E36D-F334-4E2F-A349-236A1C51F0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9508B7E8-FFFA-4B69-B722-EE8EB26FCEF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6F4E36D-F334-4E2F-A349-236A1C51F0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9508B7E8-FFFA-4B69-B722-EE8EB26FCEF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6F4E36D-F334-4E2F-A349-236A1C51F0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9508B7E8-FFFA-4B69-B722-EE8EB26FCEFB}"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6F4E36D-F334-4E2F-A349-236A1C51F0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9508B7E8-FFFA-4B69-B722-EE8EB26FCEFB}"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6F4E36D-F334-4E2F-A349-236A1C51F0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508B7E8-FFFA-4B69-B722-EE8EB26FCEFB}"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6F4E36D-F334-4E2F-A349-236A1C51F0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508B7E8-FFFA-4B69-B722-EE8EB26FCEFB}"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6F4E36D-F334-4E2F-A349-236A1C51F0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9508B7E8-FFFA-4B69-B722-EE8EB26FCEFB}"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6F4E36D-F334-4E2F-A349-236A1C51F0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9508B7E8-FFFA-4B69-B722-EE8EB26FCEFB}"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6F4E36D-F334-4E2F-A349-236A1C51F0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9508B7E8-FFFA-4B69-B722-EE8EB26FCEF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6F4E36D-F334-4E2F-A349-236A1C51F0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9508B7E8-FFFA-4B69-B722-EE8EB26FCEF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6F4E36D-F334-4E2F-A349-236A1C51F0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508B7E8-FFFA-4B69-B722-EE8EB26FCEFB}"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F4E36D-F334-4E2F-A349-236A1C51F0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66800" y="235077"/>
            <a:ext cx="10058400" cy="3566160"/>
          </a:xfrm>
        </p:spPr>
        <p:txBody>
          <a:bodyPr/>
          <a:lstStyle/>
          <a:p>
            <a:pPr algn="ctr"/>
            <a:r>
              <a:rPr lang="en-US" dirty="0">
                <a:latin typeface="Times New Roman" panose="02020603050405020304" pitchFamily="18" charset="0"/>
                <a:cs typeface="Times New Roman" panose="02020603050405020304" pitchFamily="18" charset="0"/>
              </a:rPr>
              <a:t>CSE327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Software Engineering</a:t>
            </a:r>
            <a:endParaRPr lang="en-US" dirty="0"/>
          </a:p>
        </p:txBody>
      </p:sp>
      <p:sp>
        <p:nvSpPr>
          <p:cNvPr id="3" name="Subtitle 2"/>
          <p:cNvSpPr>
            <a:spLocks noGrp="1"/>
          </p:cNvSpPr>
          <p:nvPr>
            <p:ph type="subTitle" idx="1"/>
          </p:nvPr>
        </p:nvSpPr>
        <p:spPr>
          <a:xfrm>
            <a:off x="1524000" y="3801237"/>
            <a:ext cx="9144000" cy="1655762"/>
          </a:xfrm>
        </p:spPr>
        <p:txBody>
          <a:bodyPr/>
          <a:lstStyle/>
          <a:p>
            <a:pPr algn="ctr"/>
            <a:r>
              <a:rPr lang="en-US" dirty="0">
                <a:latin typeface="Times New Roman" panose="02020603050405020304" pitchFamily="18" charset="0"/>
                <a:cs typeface="Times New Roman" panose="02020603050405020304" pitchFamily="18" charset="0"/>
              </a:rPr>
              <a:t>AKM iqtidar Newaz [</a:t>
            </a:r>
            <a:r>
              <a:rPr lang="en-US" dirty="0" err="1">
                <a:latin typeface="Times New Roman" panose="02020603050405020304" pitchFamily="18" charset="0"/>
                <a:cs typeface="Times New Roman" panose="02020603050405020304" pitchFamily="18" charset="0"/>
              </a:rPr>
              <a:t>IqN</a:t>
            </a:r>
            <a:r>
              <a:rPr lang="en-US"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Lecture - 12</a:t>
            </a:r>
            <a:endParaRPr lang="en-US" dirty="0">
              <a:latin typeface="Times New Roman" panose="02020603050405020304" pitchFamily="18" charset="0"/>
              <a:cs typeface="Times New Roman" panose="02020603050405020304" pitchFamily="18" charset="0"/>
            </a:endParaRPr>
          </a:p>
          <a:p>
            <a:pPr algn="ct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1312" y="0"/>
            <a:ext cx="10515600" cy="1325563"/>
          </a:xfrm>
        </p:spPr>
        <p:txBody>
          <a:bodyPr/>
          <a:lstStyle/>
          <a:p>
            <a:r>
              <a:rPr lang="en-US" b="1" dirty="0">
                <a:latin typeface="Times New Roman" panose="02020603050405020304" pitchFamily="18" charset="0"/>
                <a:cs typeface="Times New Roman" panose="02020603050405020304" pitchFamily="18" charset="0"/>
              </a:rPr>
              <a:t>Factory Design Pattern</a:t>
            </a:r>
            <a:endParaRPr lang="en-US" dirty="0"/>
          </a:p>
        </p:txBody>
      </p:sp>
      <p:sp>
        <p:nvSpPr>
          <p:cNvPr id="3" name="Content Placeholder 2"/>
          <p:cNvSpPr>
            <a:spLocks noGrp="1"/>
          </p:cNvSpPr>
          <p:nvPr>
            <p:ph idx="1"/>
          </p:nvPr>
        </p:nvSpPr>
        <p:spPr>
          <a:xfrm>
            <a:off x="561016" y="1187435"/>
            <a:ext cx="10954924" cy="235754"/>
          </a:xfrm>
        </p:spPr>
        <p:txBody>
          <a:bodyPr>
            <a:noAutofit/>
          </a:bodyPr>
          <a:lstStyle/>
          <a:p>
            <a:pPr>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 </a:t>
            </a:r>
            <a:r>
              <a:rPr lang="en-US" sz="1600" dirty="0" smtClean="0">
                <a:latin typeface="Times New Roman" panose="02020603050405020304" pitchFamily="18" charset="0"/>
                <a:cs typeface="Times New Roman" panose="02020603050405020304" pitchFamily="18" charset="0"/>
              </a:rPr>
              <a:t>Suppose, We have </a:t>
            </a:r>
            <a:r>
              <a:rPr lang="en-US" sz="1600" dirty="0">
                <a:latin typeface="Times New Roman" panose="02020603050405020304" pitchFamily="18" charset="0"/>
                <a:cs typeface="Times New Roman" panose="02020603050405020304" pitchFamily="18" charset="0"/>
              </a:rPr>
              <a:t>a Battleship superclass that extends into different types of subclasses like Destroyer, Carrier… etc.</a:t>
            </a:r>
            <a:endParaRPr lang="en-US" sz="1600" dirty="0">
              <a:latin typeface="Times New Roman" panose="02020603050405020304" pitchFamily="18" charset="0"/>
              <a:cs typeface="Times New Roman" panose="02020603050405020304" pitchFamily="18" charset="0"/>
            </a:endParaRPr>
          </a:p>
        </p:txBody>
      </p:sp>
      <p:sp>
        <p:nvSpPr>
          <p:cNvPr id="6" name="Rectangle 5"/>
          <p:cNvSpPr/>
          <p:nvPr/>
        </p:nvSpPr>
        <p:spPr>
          <a:xfrm>
            <a:off x="957484" y="1595021"/>
            <a:ext cx="4389120" cy="5262979"/>
          </a:xfrm>
          <a:prstGeom prst="rect">
            <a:avLst/>
          </a:prstGeom>
        </p:spPr>
        <p:txBody>
          <a:bodyPr wrap="square">
            <a:spAutoFit/>
          </a:bodyPr>
          <a:lstStyle/>
          <a:p>
            <a:r>
              <a:rPr lang="en-US" sz="1120" dirty="0">
                <a:solidFill>
                  <a:srgbClr val="0000FF"/>
                </a:solidFill>
                <a:latin typeface="Consolas" panose="020B0609020204030204" pitchFamily="49" charset="0"/>
              </a:rPr>
              <a:t>#include </a:t>
            </a:r>
            <a:r>
              <a:rPr lang="en-US" sz="1120" dirty="0">
                <a:solidFill>
                  <a:srgbClr val="A31515"/>
                </a:solidFill>
                <a:latin typeface="Consolas" panose="020B0609020204030204" pitchFamily="49" charset="0"/>
              </a:rPr>
              <a:t>&lt;</a:t>
            </a:r>
            <a:r>
              <a:rPr lang="en-US" sz="1120" dirty="0" err="1">
                <a:solidFill>
                  <a:srgbClr val="A31515"/>
                </a:solidFill>
                <a:latin typeface="Consolas" panose="020B0609020204030204" pitchFamily="49" charset="0"/>
              </a:rPr>
              <a:t>iostream</a:t>
            </a:r>
            <a:r>
              <a:rPr lang="en-US" sz="1120" dirty="0">
                <a:solidFill>
                  <a:srgbClr val="A31515"/>
                </a:solidFill>
                <a:latin typeface="Consolas" panose="020B0609020204030204" pitchFamily="49" charset="0"/>
              </a:rPr>
              <a:t>&gt;</a:t>
            </a:r>
            <a:endParaRPr lang="en-US" sz="1120" dirty="0">
              <a:solidFill>
                <a:srgbClr val="000000"/>
              </a:solidFill>
              <a:latin typeface="Consolas" panose="020B0609020204030204" pitchFamily="49" charset="0"/>
            </a:endParaRPr>
          </a:p>
          <a:p>
            <a:r>
              <a:rPr lang="en-US" sz="1120" dirty="0">
                <a:solidFill>
                  <a:srgbClr val="0000FF"/>
                </a:solidFill>
                <a:latin typeface="Consolas" panose="020B0609020204030204" pitchFamily="49" charset="0"/>
              </a:rPr>
              <a:t>using</a:t>
            </a:r>
            <a:r>
              <a:rPr lang="en-US" sz="1120" dirty="0">
                <a:solidFill>
                  <a:srgbClr val="000000"/>
                </a:solidFill>
                <a:latin typeface="Consolas" panose="020B0609020204030204" pitchFamily="49" charset="0"/>
              </a:rPr>
              <a:t> </a:t>
            </a:r>
            <a:r>
              <a:rPr lang="en-US" sz="1120" dirty="0">
                <a:solidFill>
                  <a:srgbClr val="0000FF"/>
                </a:solidFill>
                <a:latin typeface="Consolas" panose="020B0609020204030204" pitchFamily="49" charset="0"/>
              </a:rPr>
              <a:t>namespace</a:t>
            </a:r>
            <a:r>
              <a:rPr lang="en-US" sz="1120" dirty="0">
                <a:solidFill>
                  <a:srgbClr val="000000"/>
                </a:solidFill>
                <a:latin typeface="Consolas" panose="020B0609020204030204" pitchFamily="49" charset="0"/>
              </a:rPr>
              <a:t> std;</a:t>
            </a:r>
            <a:endParaRPr lang="en-US" sz="1120" dirty="0">
              <a:solidFill>
                <a:srgbClr val="000000"/>
              </a:solidFill>
              <a:latin typeface="Consolas" panose="020B0609020204030204" pitchFamily="49" charset="0"/>
            </a:endParaRPr>
          </a:p>
          <a:p>
            <a:r>
              <a:rPr lang="en-US" sz="1120" dirty="0">
                <a:solidFill>
                  <a:srgbClr val="0000FF"/>
                </a:solidFill>
                <a:latin typeface="Consolas" panose="020B0609020204030204" pitchFamily="49" charset="0"/>
              </a:rPr>
              <a:t>class</a:t>
            </a:r>
            <a:r>
              <a:rPr lang="en-US" sz="1120" dirty="0">
                <a:solidFill>
                  <a:srgbClr val="000000"/>
                </a:solidFill>
                <a:latin typeface="Consolas" panose="020B0609020204030204" pitchFamily="49" charset="0"/>
              </a:rPr>
              <a:t> Battleship</a:t>
            </a:r>
            <a:endParaRPr lang="en-US" sz="1120" dirty="0">
              <a:solidFill>
                <a:srgbClr val="000000"/>
              </a:solidFill>
              <a:latin typeface="Consolas" panose="020B0609020204030204" pitchFamily="49" charset="0"/>
            </a:endParaRPr>
          </a:p>
          <a:p>
            <a:r>
              <a:rPr lang="en-US" sz="1120" dirty="0">
                <a:solidFill>
                  <a:srgbClr val="000000"/>
                </a:solidFill>
                <a:latin typeface="Consolas" panose="020B0609020204030204" pitchFamily="49" charset="0"/>
              </a:rPr>
              <a:t>{</a:t>
            </a:r>
            <a:endParaRPr lang="en-US" sz="1120" dirty="0">
              <a:solidFill>
                <a:srgbClr val="000000"/>
              </a:solidFill>
              <a:latin typeface="Consolas" panose="020B0609020204030204" pitchFamily="49" charset="0"/>
            </a:endParaRPr>
          </a:p>
          <a:p>
            <a:r>
              <a:rPr lang="en-US" sz="1120" dirty="0">
                <a:solidFill>
                  <a:srgbClr val="0000FF"/>
                </a:solidFill>
                <a:latin typeface="Consolas" panose="020B0609020204030204" pitchFamily="49" charset="0"/>
              </a:rPr>
              <a:t>public:</a:t>
            </a:r>
            <a:endParaRPr lang="en-US" sz="1120" dirty="0">
              <a:solidFill>
                <a:srgbClr val="000000"/>
              </a:solidFill>
              <a:latin typeface="Consolas" panose="020B0609020204030204" pitchFamily="49" charset="0"/>
            </a:endParaRPr>
          </a:p>
          <a:p>
            <a:r>
              <a:rPr lang="en-US" sz="1120" dirty="0">
                <a:solidFill>
                  <a:srgbClr val="000000"/>
                </a:solidFill>
                <a:latin typeface="Consolas" panose="020B0609020204030204" pitchFamily="49" charset="0"/>
              </a:rPr>
              <a:t>    Battleship()</a:t>
            </a:r>
            <a:endParaRPr lang="en-US" sz="1120" dirty="0">
              <a:solidFill>
                <a:srgbClr val="000000"/>
              </a:solidFill>
              <a:latin typeface="Consolas" panose="020B0609020204030204" pitchFamily="49" charset="0"/>
            </a:endParaRPr>
          </a:p>
          <a:p>
            <a:r>
              <a:rPr lang="en-US" sz="1120" dirty="0">
                <a:solidFill>
                  <a:srgbClr val="000000"/>
                </a:solidFill>
                <a:latin typeface="Consolas" panose="020B0609020204030204" pitchFamily="49" charset="0"/>
              </a:rPr>
              <a:t>    {</a:t>
            </a:r>
            <a:endParaRPr lang="en-US" sz="1120" dirty="0">
              <a:solidFill>
                <a:srgbClr val="000000"/>
              </a:solidFill>
              <a:latin typeface="Consolas" panose="020B0609020204030204" pitchFamily="49" charset="0"/>
            </a:endParaRPr>
          </a:p>
          <a:p>
            <a:r>
              <a:rPr lang="en-US" sz="1120" dirty="0">
                <a:solidFill>
                  <a:srgbClr val="000000"/>
                </a:solidFill>
                <a:latin typeface="Consolas" panose="020B0609020204030204" pitchFamily="49" charset="0"/>
              </a:rPr>
              <a:t>        std::cout &lt;&lt; </a:t>
            </a:r>
            <a:r>
              <a:rPr lang="en-US" sz="1120" dirty="0">
                <a:solidFill>
                  <a:srgbClr val="A31515"/>
                </a:solidFill>
                <a:latin typeface="Consolas" panose="020B0609020204030204" pitchFamily="49" charset="0"/>
              </a:rPr>
              <a:t>"Battleship Created"</a:t>
            </a:r>
            <a:r>
              <a:rPr lang="en-US" sz="1120" dirty="0">
                <a:solidFill>
                  <a:srgbClr val="000000"/>
                </a:solidFill>
                <a:latin typeface="Consolas" panose="020B0609020204030204" pitchFamily="49" charset="0"/>
              </a:rPr>
              <a:t> &lt;&lt; std::endl;</a:t>
            </a:r>
            <a:endParaRPr lang="en-US" sz="1120" dirty="0">
              <a:solidFill>
                <a:srgbClr val="000000"/>
              </a:solidFill>
              <a:latin typeface="Consolas" panose="020B0609020204030204" pitchFamily="49" charset="0"/>
            </a:endParaRPr>
          </a:p>
          <a:p>
            <a:r>
              <a:rPr lang="en-US" sz="1120" dirty="0">
                <a:solidFill>
                  <a:srgbClr val="000000"/>
                </a:solidFill>
                <a:latin typeface="Consolas" panose="020B0609020204030204" pitchFamily="49" charset="0"/>
              </a:rPr>
              <a:t>    }</a:t>
            </a:r>
            <a:endParaRPr lang="en-US" sz="1120" dirty="0">
              <a:solidFill>
                <a:srgbClr val="000000"/>
              </a:solidFill>
              <a:latin typeface="Consolas" panose="020B0609020204030204" pitchFamily="49" charset="0"/>
            </a:endParaRPr>
          </a:p>
          <a:p>
            <a:r>
              <a:rPr lang="en-US" sz="1120" dirty="0">
                <a:solidFill>
                  <a:srgbClr val="000000"/>
                </a:solidFill>
                <a:latin typeface="Consolas" panose="020B0609020204030204" pitchFamily="49" charset="0"/>
              </a:rPr>
              <a:t>    </a:t>
            </a:r>
            <a:r>
              <a:rPr lang="en-US" sz="1120" dirty="0">
                <a:solidFill>
                  <a:srgbClr val="0000FF"/>
                </a:solidFill>
                <a:latin typeface="Consolas" panose="020B0609020204030204" pitchFamily="49" charset="0"/>
              </a:rPr>
              <a:t>virtual</a:t>
            </a:r>
            <a:r>
              <a:rPr lang="en-US" sz="1120" dirty="0">
                <a:solidFill>
                  <a:srgbClr val="000000"/>
                </a:solidFill>
                <a:latin typeface="Consolas" panose="020B0609020204030204" pitchFamily="49" charset="0"/>
              </a:rPr>
              <a:t> </a:t>
            </a:r>
            <a:r>
              <a:rPr lang="en-US" sz="1120" dirty="0">
                <a:solidFill>
                  <a:srgbClr val="0000FF"/>
                </a:solidFill>
                <a:latin typeface="Consolas" panose="020B0609020204030204" pitchFamily="49" charset="0"/>
              </a:rPr>
              <a:t>void</a:t>
            </a:r>
            <a:r>
              <a:rPr lang="en-US" sz="1120" dirty="0">
                <a:solidFill>
                  <a:srgbClr val="000000"/>
                </a:solidFill>
                <a:latin typeface="Consolas" panose="020B0609020204030204" pitchFamily="49" charset="0"/>
              </a:rPr>
              <a:t> Fire() = </a:t>
            </a:r>
            <a:r>
              <a:rPr lang="en-US" sz="1120" dirty="0">
                <a:solidFill>
                  <a:srgbClr val="098658"/>
                </a:solidFill>
                <a:latin typeface="Consolas" panose="020B0609020204030204" pitchFamily="49" charset="0"/>
              </a:rPr>
              <a:t>0</a:t>
            </a:r>
            <a:r>
              <a:rPr lang="en-US" sz="1120" dirty="0">
                <a:solidFill>
                  <a:srgbClr val="000000"/>
                </a:solidFill>
                <a:latin typeface="Consolas" panose="020B0609020204030204" pitchFamily="49" charset="0"/>
              </a:rPr>
              <a:t>;</a:t>
            </a:r>
            <a:endParaRPr lang="en-US" sz="1120" dirty="0">
              <a:solidFill>
                <a:srgbClr val="000000"/>
              </a:solidFill>
              <a:latin typeface="Consolas" panose="020B0609020204030204" pitchFamily="49" charset="0"/>
            </a:endParaRPr>
          </a:p>
          <a:p>
            <a:r>
              <a:rPr lang="en-US" sz="1120" dirty="0">
                <a:solidFill>
                  <a:srgbClr val="000000"/>
                </a:solidFill>
                <a:latin typeface="Consolas" panose="020B0609020204030204" pitchFamily="49" charset="0"/>
              </a:rPr>
              <a:t>    </a:t>
            </a:r>
            <a:r>
              <a:rPr lang="en-US" sz="1120" dirty="0">
                <a:solidFill>
                  <a:srgbClr val="0000FF"/>
                </a:solidFill>
                <a:latin typeface="Consolas" panose="020B0609020204030204" pitchFamily="49" charset="0"/>
              </a:rPr>
              <a:t>virtual</a:t>
            </a:r>
            <a:r>
              <a:rPr lang="en-US" sz="1120" dirty="0">
                <a:solidFill>
                  <a:srgbClr val="000000"/>
                </a:solidFill>
                <a:latin typeface="Consolas" panose="020B0609020204030204" pitchFamily="49" charset="0"/>
              </a:rPr>
              <a:t> </a:t>
            </a:r>
            <a:r>
              <a:rPr lang="en-US" sz="1120" dirty="0">
                <a:solidFill>
                  <a:srgbClr val="0000FF"/>
                </a:solidFill>
                <a:latin typeface="Consolas" panose="020B0609020204030204" pitchFamily="49" charset="0"/>
              </a:rPr>
              <a:t>void</a:t>
            </a:r>
            <a:r>
              <a:rPr lang="en-US" sz="1120" dirty="0">
                <a:solidFill>
                  <a:srgbClr val="000000"/>
                </a:solidFill>
                <a:latin typeface="Consolas" panose="020B0609020204030204" pitchFamily="49" charset="0"/>
              </a:rPr>
              <a:t> Steer() = </a:t>
            </a:r>
            <a:r>
              <a:rPr lang="en-US" sz="1120" dirty="0">
                <a:solidFill>
                  <a:srgbClr val="098658"/>
                </a:solidFill>
                <a:latin typeface="Consolas" panose="020B0609020204030204" pitchFamily="49" charset="0"/>
              </a:rPr>
              <a:t>0</a:t>
            </a:r>
            <a:r>
              <a:rPr lang="en-US" sz="1120" dirty="0">
                <a:solidFill>
                  <a:srgbClr val="000000"/>
                </a:solidFill>
                <a:latin typeface="Consolas" panose="020B0609020204030204" pitchFamily="49" charset="0"/>
              </a:rPr>
              <a:t>;</a:t>
            </a:r>
            <a:endParaRPr lang="en-US" sz="1120" dirty="0">
              <a:solidFill>
                <a:srgbClr val="000000"/>
              </a:solidFill>
              <a:latin typeface="Consolas" panose="020B0609020204030204" pitchFamily="49" charset="0"/>
            </a:endParaRPr>
          </a:p>
          <a:p>
            <a:r>
              <a:rPr lang="en-US" sz="1120" dirty="0">
                <a:solidFill>
                  <a:srgbClr val="000000"/>
                </a:solidFill>
                <a:latin typeface="Consolas" panose="020B0609020204030204" pitchFamily="49" charset="0"/>
              </a:rPr>
              <a:t>};</a:t>
            </a:r>
            <a:endParaRPr lang="en-US" sz="1120" dirty="0">
              <a:solidFill>
                <a:srgbClr val="000000"/>
              </a:solidFill>
              <a:latin typeface="Consolas" panose="020B0609020204030204" pitchFamily="49" charset="0"/>
            </a:endParaRPr>
          </a:p>
          <a:p>
            <a:br>
              <a:rPr lang="en-US" sz="1120" dirty="0">
                <a:solidFill>
                  <a:srgbClr val="000000"/>
                </a:solidFill>
                <a:latin typeface="Consolas" panose="020B0609020204030204" pitchFamily="49" charset="0"/>
              </a:rPr>
            </a:br>
            <a:r>
              <a:rPr lang="en-US" sz="1120" dirty="0">
                <a:solidFill>
                  <a:srgbClr val="0000FF"/>
                </a:solidFill>
                <a:latin typeface="Consolas" panose="020B0609020204030204" pitchFamily="49" charset="0"/>
              </a:rPr>
              <a:t>class</a:t>
            </a:r>
            <a:r>
              <a:rPr lang="en-US" sz="1120" dirty="0">
                <a:solidFill>
                  <a:srgbClr val="000000"/>
                </a:solidFill>
                <a:latin typeface="Consolas" panose="020B0609020204030204" pitchFamily="49" charset="0"/>
              </a:rPr>
              <a:t> Destroyer : </a:t>
            </a:r>
            <a:r>
              <a:rPr lang="en-US" sz="1120" dirty="0">
                <a:solidFill>
                  <a:srgbClr val="0000FF"/>
                </a:solidFill>
                <a:latin typeface="Consolas" panose="020B0609020204030204" pitchFamily="49" charset="0"/>
              </a:rPr>
              <a:t>public</a:t>
            </a:r>
            <a:r>
              <a:rPr lang="en-US" sz="1120" dirty="0">
                <a:solidFill>
                  <a:srgbClr val="000000"/>
                </a:solidFill>
                <a:latin typeface="Consolas" panose="020B0609020204030204" pitchFamily="49" charset="0"/>
              </a:rPr>
              <a:t> Battleship</a:t>
            </a:r>
            <a:endParaRPr lang="en-US" sz="1120" dirty="0">
              <a:solidFill>
                <a:srgbClr val="000000"/>
              </a:solidFill>
              <a:latin typeface="Consolas" panose="020B0609020204030204" pitchFamily="49" charset="0"/>
            </a:endParaRPr>
          </a:p>
          <a:p>
            <a:r>
              <a:rPr lang="en-US" sz="1120" dirty="0">
                <a:solidFill>
                  <a:srgbClr val="000000"/>
                </a:solidFill>
                <a:latin typeface="Consolas" panose="020B0609020204030204" pitchFamily="49" charset="0"/>
              </a:rPr>
              <a:t>{</a:t>
            </a:r>
            <a:endParaRPr lang="en-US" sz="1120" dirty="0">
              <a:solidFill>
                <a:srgbClr val="000000"/>
              </a:solidFill>
              <a:latin typeface="Consolas" panose="020B0609020204030204" pitchFamily="49" charset="0"/>
            </a:endParaRPr>
          </a:p>
          <a:p>
            <a:r>
              <a:rPr lang="en-US" sz="1120" dirty="0">
                <a:solidFill>
                  <a:srgbClr val="0000FF"/>
                </a:solidFill>
                <a:latin typeface="Consolas" panose="020B0609020204030204" pitchFamily="49" charset="0"/>
              </a:rPr>
              <a:t>public:</a:t>
            </a:r>
            <a:endParaRPr lang="en-US" sz="1120" dirty="0">
              <a:solidFill>
                <a:srgbClr val="000000"/>
              </a:solidFill>
              <a:latin typeface="Consolas" panose="020B0609020204030204" pitchFamily="49" charset="0"/>
            </a:endParaRPr>
          </a:p>
          <a:p>
            <a:r>
              <a:rPr lang="en-US" sz="1120" dirty="0">
                <a:solidFill>
                  <a:srgbClr val="000000"/>
                </a:solidFill>
                <a:latin typeface="Consolas" panose="020B0609020204030204" pitchFamily="49" charset="0"/>
              </a:rPr>
              <a:t>    Destroyer()</a:t>
            </a:r>
            <a:endParaRPr lang="en-US" sz="1120" dirty="0">
              <a:solidFill>
                <a:srgbClr val="000000"/>
              </a:solidFill>
              <a:latin typeface="Consolas" panose="020B0609020204030204" pitchFamily="49" charset="0"/>
            </a:endParaRPr>
          </a:p>
          <a:p>
            <a:r>
              <a:rPr lang="en-US" sz="1120" dirty="0">
                <a:solidFill>
                  <a:srgbClr val="000000"/>
                </a:solidFill>
                <a:latin typeface="Consolas" panose="020B0609020204030204" pitchFamily="49" charset="0"/>
              </a:rPr>
              <a:t>    {</a:t>
            </a:r>
            <a:endParaRPr lang="en-US" sz="1120" dirty="0">
              <a:solidFill>
                <a:srgbClr val="000000"/>
              </a:solidFill>
              <a:latin typeface="Consolas" panose="020B0609020204030204" pitchFamily="49" charset="0"/>
            </a:endParaRPr>
          </a:p>
          <a:p>
            <a:r>
              <a:rPr lang="en-US" sz="1120" dirty="0">
                <a:solidFill>
                  <a:srgbClr val="000000"/>
                </a:solidFill>
                <a:latin typeface="Consolas" panose="020B0609020204030204" pitchFamily="49" charset="0"/>
              </a:rPr>
              <a:t>        std::cout &lt;&lt; </a:t>
            </a:r>
            <a:r>
              <a:rPr lang="en-US" sz="1120" dirty="0">
                <a:solidFill>
                  <a:srgbClr val="A31515"/>
                </a:solidFill>
                <a:latin typeface="Consolas" panose="020B0609020204030204" pitchFamily="49" charset="0"/>
              </a:rPr>
              <a:t>"Destroyer Created"</a:t>
            </a:r>
            <a:r>
              <a:rPr lang="en-US" sz="1120" dirty="0">
                <a:solidFill>
                  <a:srgbClr val="000000"/>
                </a:solidFill>
                <a:latin typeface="Consolas" panose="020B0609020204030204" pitchFamily="49" charset="0"/>
              </a:rPr>
              <a:t> &lt;&lt; std::endl;</a:t>
            </a:r>
            <a:endParaRPr lang="en-US" sz="1120" dirty="0">
              <a:solidFill>
                <a:srgbClr val="000000"/>
              </a:solidFill>
              <a:latin typeface="Consolas" panose="020B0609020204030204" pitchFamily="49" charset="0"/>
            </a:endParaRPr>
          </a:p>
          <a:p>
            <a:r>
              <a:rPr lang="en-US" sz="1120" dirty="0">
                <a:solidFill>
                  <a:srgbClr val="000000"/>
                </a:solidFill>
                <a:latin typeface="Consolas" panose="020B0609020204030204" pitchFamily="49" charset="0"/>
              </a:rPr>
              <a:t>    }</a:t>
            </a:r>
            <a:endParaRPr lang="en-US" sz="1120" dirty="0">
              <a:solidFill>
                <a:srgbClr val="000000"/>
              </a:solidFill>
              <a:latin typeface="Consolas" panose="020B0609020204030204" pitchFamily="49" charset="0"/>
            </a:endParaRPr>
          </a:p>
          <a:p>
            <a:r>
              <a:rPr lang="en-US" sz="1120" dirty="0">
                <a:solidFill>
                  <a:srgbClr val="000000"/>
                </a:solidFill>
                <a:latin typeface="Consolas" panose="020B0609020204030204" pitchFamily="49" charset="0"/>
              </a:rPr>
              <a:t>    </a:t>
            </a:r>
            <a:r>
              <a:rPr lang="en-US" sz="1120" dirty="0">
                <a:solidFill>
                  <a:srgbClr val="0000FF"/>
                </a:solidFill>
                <a:latin typeface="Consolas" panose="020B0609020204030204" pitchFamily="49" charset="0"/>
              </a:rPr>
              <a:t>void</a:t>
            </a:r>
            <a:r>
              <a:rPr lang="en-US" sz="1120" dirty="0">
                <a:solidFill>
                  <a:srgbClr val="000000"/>
                </a:solidFill>
                <a:latin typeface="Consolas" panose="020B0609020204030204" pitchFamily="49" charset="0"/>
              </a:rPr>
              <a:t> Fire() </a:t>
            </a:r>
            <a:r>
              <a:rPr lang="en-US" sz="1120" dirty="0">
                <a:solidFill>
                  <a:srgbClr val="0000FF"/>
                </a:solidFill>
                <a:latin typeface="Consolas" panose="020B0609020204030204" pitchFamily="49" charset="0"/>
              </a:rPr>
              <a:t>override</a:t>
            </a:r>
            <a:endParaRPr lang="en-US" sz="1120" dirty="0">
              <a:solidFill>
                <a:srgbClr val="000000"/>
              </a:solidFill>
              <a:latin typeface="Consolas" panose="020B0609020204030204" pitchFamily="49" charset="0"/>
            </a:endParaRPr>
          </a:p>
          <a:p>
            <a:r>
              <a:rPr lang="en-US" sz="1120" dirty="0">
                <a:solidFill>
                  <a:srgbClr val="000000"/>
                </a:solidFill>
                <a:latin typeface="Consolas" panose="020B0609020204030204" pitchFamily="49" charset="0"/>
              </a:rPr>
              <a:t>    {</a:t>
            </a:r>
            <a:endParaRPr lang="en-US" sz="1120" dirty="0">
              <a:solidFill>
                <a:srgbClr val="000000"/>
              </a:solidFill>
              <a:latin typeface="Consolas" panose="020B0609020204030204" pitchFamily="49" charset="0"/>
            </a:endParaRPr>
          </a:p>
          <a:p>
            <a:r>
              <a:rPr lang="en-US" sz="1120" dirty="0">
                <a:solidFill>
                  <a:srgbClr val="000000"/>
                </a:solidFill>
                <a:latin typeface="Consolas" panose="020B0609020204030204" pitchFamily="49" charset="0"/>
              </a:rPr>
              <a:t>        std::cout &lt;&lt; </a:t>
            </a:r>
            <a:r>
              <a:rPr lang="en-US" sz="1120" dirty="0">
                <a:solidFill>
                  <a:srgbClr val="A31515"/>
                </a:solidFill>
                <a:latin typeface="Consolas" panose="020B0609020204030204" pitchFamily="49" charset="0"/>
              </a:rPr>
              <a:t>"</a:t>
            </a:r>
            <a:r>
              <a:rPr lang="en-US" sz="1120" dirty="0" err="1">
                <a:solidFill>
                  <a:srgbClr val="A31515"/>
                </a:solidFill>
                <a:latin typeface="Consolas" panose="020B0609020204030204" pitchFamily="49" charset="0"/>
              </a:rPr>
              <a:t>Destoryer</a:t>
            </a:r>
            <a:r>
              <a:rPr lang="en-US" sz="1120" dirty="0">
                <a:solidFill>
                  <a:srgbClr val="A31515"/>
                </a:solidFill>
                <a:latin typeface="Consolas" panose="020B0609020204030204" pitchFamily="49" charset="0"/>
              </a:rPr>
              <a:t> Fire"</a:t>
            </a:r>
            <a:r>
              <a:rPr lang="en-US" sz="1120" dirty="0">
                <a:solidFill>
                  <a:srgbClr val="000000"/>
                </a:solidFill>
                <a:latin typeface="Consolas" panose="020B0609020204030204" pitchFamily="49" charset="0"/>
              </a:rPr>
              <a:t> &lt;&lt; std::endl;</a:t>
            </a:r>
            <a:endParaRPr lang="en-US" sz="1120" dirty="0">
              <a:solidFill>
                <a:srgbClr val="000000"/>
              </a:solidFill>
              <a:latin typeface="Consolas" panose="020B0609020204030204" pitchFamily="49" charset="0"/>
            </a:endParaRPr>
          </a:p>
          <a:p>
            <a:r>
              <a:rPr lang="en-US" sz="1120" dirty="0">
                <a:solidFill>
                  <a:srgbClr val="000000"/>
                </a:solidFill>
                <a:latin typeface="Consolas" panose="020B0609020204030204" pitchFamily="49" charset="0"/>
              </a:rPr>
              <a:t>    }</a:t>
            </a:r>
            <a:endParaRPr lang="en-US" sz="1120" dirty="0">
              <a:solidFill>
                <a:srgbClr val="000000"/>
              </a:solidFill>
              <a:latin typeface="Consolas" panose="020B0609020204030204" pitchFamily="49" charset="0"/>
            </a:endParaRPr>
          </a:p>
          <a:p>
            <a:r>
              <a:rPr lang="en-US" sz="1120" dirty="0">
                <a:solidFill>
                  <a:srgbClr val="000000"/>
                </a:solidFill>
                <a:latin typeface="Consolas" panose="020B0609020204030204" pitchFamily="49" charset="0"/>
              </a:rPr>
              <a:t>    </a:t>
            </a:r>
            <a:r>
              <a:rPr lang="en-US" sz="1120" dirty="0">
                <a:solidFill>
                  <a:srgbClr val="0000FF"/>
                </a:solidFill>
                <a:latin typeface="Consolas" panose="020B0609020204030204" pitchFamily="49" charset="0"/>
              </a:rPr>
              <a:t>void</a:t>
            </a:r>
            <a:r>
              <a:rPr lang="en-US" sz="1120" dirty="0">
                <a:solidFill>
                  <a:srgbClr val="000000"/>
                </a:solidFill>
                <a:latin typeface="Consolas" panose="020B0609020204030204" pitchFamily="49" charset="0"/>
              </a:rPr>
              <a:t> Steer() </a:t>
            </a:r>
            <a:r>
              <a:rPr lang="en-US" sz="1120" dirty="0">
                <a:solidFill>
                  <a:srgbClr val="0000FF"/>
                </a:solidFill>
                <a:latin typeface="Consolas" panose="020B0609020204030204" pitchFamily="49" charset="0"/>
              </a:rPr>
              <a:t>override</a:t>
            </a:r>
            <a:endParaRPr lang="en-US" sz="1120" dirty="0">
              <a:solidFill>
                <a:srgbClr val="000000"/>
              </a:solidFill>
              <a:latin typeface="Consolas" panose="020B0609020204030204" pitchFamily="49" charset="0"/>
            </a:endParaRPr>
          </a:p>
          <a:p>
            <a:r>
              <a:rPr lang="en-US" sz="1120" dirty="0">
                <a:solidFill>
                  <a:srgbClr val="000000"/>
                </a:solidFill>
                <a:latin typeface="Consolas" panose="020B0609020204030204" pitchFamily="49" charset="0"/>
              </a:rPr>
              <a:t>    {</a:t>
            </a:r>
            <a:endParaRPr lang="en-US" sz="1120" dirty="0">
              <a:solidFill>
                <a:srgbClr val="000000"/>
              </a:solidFill>
              <a:latin typeface="Consolas" panose="020B0609020204030204" pitchFamily="49" charset="0"/>
            </a:endParaRPr>
          </a:p>
          <a:p>
            <a:r>
              <a:rPr lang="en-US" sz="1120" dirty="0">
                <a:solidFill>
                  <a:srgbClr val="000000"/>
                </a:solidFill>
                <a:latin typeface="Consolas" panose="020B0609020204030204" pitchFamily="49" charset="0"/>
              </a:rPr>
              <a:t>        std::cout &lt;&lt; </a:t>
            </a:r>
            <a:r>
              <a:rPr lang="en-US" sz="1120" dirty="0">
                <a:solidFill>
                  <a:srgbClr val="A31515"/>
                </a:solidFill>
                <a:latin typeface="Consolas" panose="020B0609020204030204" pitchFamily="49" charset="0"/>
              </a:rPr>
              <a:t>"Destroyer Steer"</a:t>
            </a:r>
            <a:r>
              <a:rPr lang="en-US" sz="1120" dirty="0">
                <a:solidFill>
                  <a:srgbClr val="000000"/>
                </a:solidFill>
                <a:latin typeface="Consolas" panose="020B0609020204030204" pitchFamily="49" charset="0"/>
              </a:rPr>
              <a:t> &lt;&lt; std::endl;</a:t>
            </a:r>
            <a:endParaRPr lang="en-US" sz="1120" dirty="0">
              <a:solidFill>
                <a:srgbClr val="000000"/>
              </a:solidFill>
              <a:latin typeface="Consolas" panose="020B0609020204030204" pitchFamily="49" charset="0"/>
            </a:endParaRPr>
          </a:p>
          <a:p>
            <a:r>
              <a:rPr lang="en-US" sz="1120" dirty="0">
                <a:solidFill>
                  <a:srgbClr val="000000"/>
                </a:solidFill>
                <a:latin typeface="Consolas" panose="020B0609020204030204" pitchFamily="49" charset="0"/>
              </a:rPr>
              <a:t>    }</a:t>
            </a:r>
            <a:endParaRPr lang="en-US" sz="1120" dirty="0">
              <a:solidFill>
                <a:srgbClr val="000000"/>
              </a:solidFill>
              <a:latin typeface="Consolas" panose="020B0609020204030204" pitchFamily="49" charset="0"/>
            </a:endParaRPr>
          </a:p>
          <a:p>
            <a:r>
              <a:rPr lang="en-US" sz="1120" dirty="0">
                <a:solidFill>
                  <a:srgbClr val="000000"/>
                </a:solidFill>
                <a:latin typeface="Consolas" panose="020B0609020204030204" pitchFamily="49" charset="0"/>
              </a:rPr>
              <a:t>};</a:t>
            </a:r>
            <a:endParaRPr lang="en-US" sz="1120" dirty="0">
              <a:solidFill>
                <a:srgbClr val="000000"/>
              </a:solidFill>
              <a:latin typeface="Consolas" panose="020B0609020204030204" pitchFamily="49" charset="0"/>
            </a:endParaRPr>
          </a:p>
        </p:txBody>
      </p:sp>
      <p:cxnSp>
        <p:nvCxnSpPr>
          <p:cNvPr id="8" name="Straight Connector 7"/>
          <p:cNvCxnSpPr/>
          <p:nvPr/>
        </p:nvCxnSpPr>
        <p:spPr>
          <a:xfrm flipH="1">
            <a:off x="6037529" y="2684746"/>
            <a:ext cx="13751" cy="347197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a:off x="6100582" y="1600160"/>
            <a:ext cx="4562833" cy="3046988"/>
          </a:xfrm>
          <a:prstGeom prst="rect">
            <a:avLst/>
          </a:prstGeom>
        </p:spPr>
        <p:txBody>
          <a:bodyPr wrap="square">
            <a:spAutoFit/>
          </a:bodyPr>
          <a:lstStyle/>
          <a:p>
            <a:r>
              <a:rPr lang="en-US" sz="1200" dirty="0" smtClean="0">
                <a:solidFill>
                  <a:srgbClr val="0000FF"/>
                </a:solidFill>
                <a:latin typeface="Consolas" panose="020B0609020204030204" pitchFamily="49" charset="0"/>
              </a:rPr>
              <a:t>class</a:t>
            </a:r>
            <a:r>
              <a:rPr lang="en-US" sz="1200" dirty="0" smtClean="0">
                <a:solidFill>
                  <a:srgbClr val="000000"/>
                </a:solidFill>
                <a:latin typeface="Consolas" panose="020B0609020204030204" pitchFamily="49" charset="0"/>
              </a:rPr>
              <a:t> Carrier : </a:t>
            </a:r>
            <a:r>
              <a:rPr lang="en-US" sz="1200" dirty="0" smtClean="0">
                <a:solidFill>
                  <a:srgbClr val="0000FF"/>
                </a:solidFill>
                <a:latin typeface="Consolas" panose="020B0609020204030204" pitchFamily="49" charset="0"/>
              </a:rPr>
              <a:t>public</a:t>
            </a:r>
            <a:r>
              <a:rPr lang="en-US" sz="1200" dirty="0" smtClean="0">
                <a:solidFill>
                  <a:srgbClr val="000000"/>
                </a:solidFill>
                <a:latin typeface="Consolas" panose="020B0609020204030204" pitchFamily="49" charset="0"/>
              </a:rPr>
              <a:t> Battleship</a:t>
            </a:r>
            <a:endParaRPr lang="en-US" sz="1200" dirty="0" smtClean="0">
              <a:solidFill>
                <a:srgbClr val="000000"/>
              </a:solidFill>
              <a:latin typeface="Consolas" panose="020B0609020204030204" pitchFamily="49" charset="0"/>
            </a:endParaRPr>
          </a:p>
          <a:p>
            <a:r>
              <a:rPr lang="en-US" sz="1200" dirty="0" smtClean="0">
                <a:solidFill>
                  <a:srgbClr val="000000"/>
                </a:solidFill>
                <a:latin typeface="Consolas" panose="020B0609020204030204" pitchFamily="49" charset="0"/>
              </a:rPr>
              <a:t>{</a:t>
            </a:r>
            <a:endParaRPr lang="en-US" sz="1200" dirty="0" smtClean="0">
              <a:solidFill>
                <a:srgbClr val="000000"/>
              </a:solidFill>
              <a:latin typeface="Consolas" panose="020B0609020204030204" pitchFamily="49" charset="0"/>
            </a:endParaRPr>
          </a:p>
          <a:p>
            <a:r>
              <a:rPr lang="en-US" sz="1200" dirty="0" smtClean="0">
                <a:solidFill>
                  <a:srgbClr val="0000FF"/>
                </a:solidFill>
                <a:latin typeface="Consolas" panose="020B0609020204030204" pitchFamily="49" charset="0"/>
              </a:rPr>
              <a:t>public:</a:t>
            </a:r>
            <a:endParaRPr lang="en-US" sz="1200" dirty="0" smtClean="0">
              <a:solidFill>
                <a:srgbClr val="000000"/>
              </a:solidFill>
              <a:latin typeface="Consolas" panose="020B0609020204030204" pitchFamily="49" charset="0"/>
            </a:endParaRPr>
          </a:p>
          <a:p>
            <a:r>
              <a:rPr lang="en-US" sz="1200" dirty="0" smtClean="0">
                <a:solidFill>
                  <a:srgbClr val="000000"/>
                </a:solidFill>
                <a:latin typeface="Consolas" panose="020B0609020204030204" pitchFamily="49" charset="0"/>
              </a:rPr>
              <a:t>    Carrier()</a:t>
            </a:r>
            <a:endParaRPr lang="en-US" sz="1200" dirty="0" smtClean="0">
              <a:solidFill>
                <a:srgbClr val="000000"/>
              </a:solidFill>
              <a:latin typeface="Consolas" panose="020B0609020204030204" pitchFamily="49" charset="0"/>
            </a:endParaRPr>
          </a:p>
          <a:p>
            <a:r>
              <a:rPr lang="en-US" sz="1200" dirty="0" smtClean="0">
                <a:solidFill>
                  <a:srgbClr val="000000"/>
                </a:solidFill>
                <a:latin typeface="Consolas" panose="020B0609020204030204" pitchFamily="49" charset="0"/>
              </a:rPr>
              <a:t>    {</a:t>
            </a:r>
            <a:endParaRPr lang="en-US" sz="1200" dirty="0" smtClean="0">
              <a:solidFill>
                <a:srgbClr val="000000"/>
              </a:solidFill>
              <a:latin typeface="Consolas" panose="020B0609020204030204" pitchFamily="49" charset="0"/>
            </a:endParaRPr>
          </a:p>
          <a:p>
            <a:r>
              <a:rPr lang="en-US" sz="1200" dirty="0" smtClean="0">
                <a:solidFill>
                  <a:srgbClr val="000000"/>
                </a:solidFill>
                <a:latin typeface="Consolas" panose="020B0609020204030204" pitchFamily="49" charset="0"/>
              </a:rPr>
              <a:t>        std::cout &lt;&lt; </a:t>
            </a:r>
            <a:r>
              <a:rPr lang="en-US" sz="1200" dirty="0" smtClean="0">
                <a:solidFill>
                  <a:srgbClr val="A31515"/>
                </a:solidFill>
                <a:latin typeface="Consolas" panose="020B0609020204030204" pitchFamily="49" charset="0"/>
              </a:rPr>
              <a:t>"Carrier Created"</a:t>
            </a:r>
            <a:r>
              <a:rPr lang="en-US" sz="1200" dirty="0" smtClean="0">
                <a:solidFill>
                  <a:srgbClr val="000000"/>
                </a:solidFill>
                <a:latin typeface="Consolas" panose="020B0609020204030204" pitchFamily="49" charset="0"/>
              </a:rPr>
              <a:t> &lt;&lt; std::endl;</a:t>
            </a:r>
            <a:endParaRPr lang="en-US" sz="1200" dirty="0" smtClean="0">
              <a:solidFill>
                <a:srgbClr val="000000"/>
              </a:solidFill>
              <a:latin typeface="Consolas" panose="020B0609020204030204" pitchFamily="49" charset="0"/>
            </a:endParaRPr>
          </a:p>
          <a:p>
            <a:r>
              <a:rPr lang="en-US" sz="1200" dirty="0" smtClean="0">
                <a:solidFill>
                  <a:srgbClr val="000000"/>
                </a:solidFill>
                <a:latin typeface="Consolas" panose="020B0609020204030204" pitchFamily="49" charset="0"/>
              </a:rPr>
              <a:t>    }</a:t>
            </a:r>
            <a:endParaRPr lang="en-US" sz="1200" dirty="0" smtClean="0">
              <a:solidFill>
                <a:srgbClr val="000000"/>
              </a:solidFill>
              <a:latin typeface="Consolas" panose="020B0609020204030204" pitchFamily="49" charset="0"/>
            </a:endParaRPr>
          </a:p>
          <a:p>
            <a:r>
              <a:rPr lang="en-US" sz="1200" dirty="0" smtClean="0">
                <a:solidFill>
                  <a:srgbClr val="000000"/>
                </a:solidFill>
                <a:latin typeface="Consolas" panose="020B0609020204030204" pitchFamily="49" charset="0"/>
              </a:rPr>
              <a:t>    </a:t>
            </a:r>
            <a:r>
              <a:rPr lang="en-US" sz="1200" dirty="0" smtClean="0">
                <a:solidFill>
                  <a:srgbClr val="0000FF"/>
                </a:solidFill>
                <a:latin typeface="Consolas" panose="020B0609020204030204" pitchFamily="49" charset="0"/>
              </a:rPr>
              <a:t>void</a:t>
            </a:r>
            <a:r>
              <a:rPr lang="en-US" sz="1200" dirty="0" smtClean="0">
                <a:solidFill>
                  <a:srgbClr val="000000"/>
                </a:solidFill>
                <a:latin typeface="Consolas" panose="020B0609020204030204" pitchFamily="49" charset="0"/>
              </a:rPr>
              <a:t> Fire() </a:t>
            </a:r>
            <a:r>
              <a:rPr lang="en-US" sz="1200" dirty="0" smtClean="0">
                <a:solidFill>
                  <a:srgbClr val="0000FF"/>
                </a:solidFill>
                <a:latin typeface="Consolas" panose="020B0609020204030204" pitchFamily="49" charset="0"/>
              </a:rPr>
              <a:t>override</a:t>
            </a:r>
            <a:endParaRPr lang="en-US" sz="1200" dirty="0" smtClean="0">
              <a:solidFill>
                <a:srgbClr val="000000"/>
              </a:solidFill>
              <a:latin typeface="Consolas" panose="020B0609020204030204" pitchFamily="49" charset="0"/>
            </a:endParaRPr>
          </a:p>
          <a:p>
            <a:r>
              <a:rPr lang="en-US" sz="1200" dirty="0" smtClean="0">
                <a:solidFill>
                  <a:srgbClr val="000000"/>
                </a:solidFill>
                <a:latin typeface="Consolas" panose="020B0609020204030204" pitchFamily="49" charset="0"/>
              </a:rPr>
              <a:t>    {</a:t>
            </a:r>
            <a:endParaRPr lang="en-US" sz="1200" dirty="0" smtClean="0">
              <a:solidFill>
                <a:srgbClr val="000000"/>
              </a:solidFill>
              <a:latin typeface="Consolas" panose="020B0609020204030204" pitchFamily="49" charset="0"/>
            </a:endParaRPr>
          </a:p>
          <a:p>
            <a:r>
              <a:rPr lang="en-US" sz="1200" dirty="0" smtClean="0">
                <a:solidFill>
                  <a:srgbClr val="000000"/>
                </a:solidFill>
                <a:latin typeface="Consolas" panose="020B0609020204030204" pitchFamily="49" charset="0"/>
              </a:rPr>
              <a:t>        std::cout &lt;&lt; </a:t>
            </a:r>
            <a:r>
              <a:rPr lang="en-US" sz="1200" dirty="0" smtClean="0">
                <a:solidFill>
                  <a:srgbClr val="A31515"/>
                </a:solidFill>
                <a:latin typeface="Consolas" panose="020B0609020204030204" pitchFamily="49" charset="0"/>
              </a:rPr>
              <a:t>"Carrier Fire"</a:t>
            </a:r>
            <a:r>
              <a:rPr lang="en-US" sz="1200" dirty="0" smtClean="0">
                <a:solidFill>
                  <a:srgbClr val="000000"/>
                </a:solidFill>
                <a:latin typeface="Consolas" panose="020B0609020204030204" pitchFamily="49" charset="0"/>
              </a:rPr>
              <a:t> &lt;&lt; std::endl;</a:t>
            </a:r>
            <a:endParaRPr lang="en-US" sz="1200" dirty="0" smtClean="0">
              <a:solidFill>
                <a:srgbClr val="000000"/>
              </a:solidFill>
              <a:latin typeface="Consolas" panose="020B0609020204030204" pitchFamily="49" charset="0"/>
            </a:endParaRPr>
          </a:p>
          <a:p>
            <a:r>
              <a:rPr lang="en-US" sz="1200" dirty="0" smtClean="0">
                <a:solidFill>
                  <a:srgbClr val="000000"/>
                </a:solidFill>
                <a:latin typeface="Consolas" panose="020B0609020204030204" pitchFamily="49" charset="0"/>
              </a:rPr>
              <a:t>    }</a:t>
            </a:r>
            <a:endParaRPr lang="en-US" sz="1200" dirty="0" smtClean="0">
              <a:solidFill>
                <a:srgbClr val="000000"/>
              </a:solidFill>
              <a:latin typeface="Consolas" panose="020B0609020204030204" pitchFamily="49" charset="0"/>
            </a:endParaRPr>
          </a:p>
          <a:p>
            <a:r>
              <a:rPr lang="en-US" sz="1200" dirty="0" smtClean="0">
                <a:solidFill>
                  <a:srgbClr val="000000"/>
                </a:solidFill>
                <a:latin typeface="Consolas" panose="020B0609020204030204" pitchFamily="49" charset="0"/>
              </a:rPr>
              <a:t>    </a:t>
            </a:r>
            <a:r>
              <a:rPr lang="en-US" sz="1200" dirty="0" smtClean="0">
                <a:solidFill>
                  <a:srgbClr val="0000FF"/>
                </a:solidFill>
                <a:latin typeface="Consolas" panose="020B0609020204030204" pitchFamily="49" charset="0"/>
              </a:rPr>
              <a:t>void</a:t>
            </a:r>
            <a:r>
              <a:rPr lang="en-US" sz="1200" dirty="0" smtClean="0">
                <a:solidFill>
                  <a:srgbClr val="000000"/>
                </a:solidFill>
                <a:latin typeface="Consolas" panose="020B0609020204030204" pitchFamily="49" charset="0"/>
              </a:rPr>
              <a:t> Steer() </a:t>
            </a:r>
            <a:r>
              <a:rPr lang="en-US" sz="1200" dirty="0" smtClean="0">
                <a:solidFill>
                  <a:srgbClr val="0000FF"/>
                </a:solidFill>
                <a:latin typeface="Consolas" panose="020B0609020204030204" pitchFamily="49" charset="0"/>
              </a:rPr>
              <a:t>override</a:t>
            </a:r>
            <a:endParaRPr lang="en-US" sz="1200" dirty="0" smtClean="0">
              <a:solidFill>
                <a:srgbClr val="000000"/>
              </a:solidFill>
              <a:latin typeface="Consolas" panose="020B0609020204030204" pitchFamily="49" charset="0"/>
            </a:endParaRPr>
          </a:p>
          <a:p>
            <a:r>
              <a:rPr lang="en-US" sz="1200" dirty="0" smtClean="0">
                <a:solidFill>
                  <a:srgbClr val="000000"/>
                </a:solidFill>
                <a:latin typeface="Consolas" panose="020B0609020204030204" pitchFamily="49" charset="0"/>
              </a:rPr>
              <a:t>    {</a:t>
            </a:r>
            <a:endParaRPr lang="en-US" sz="1200" dirty="0" smtClean="0">
              <a:solidFill>
                <a:srgbClr val="000000"/>
              </a:solidFill>
              <a:latin typeface="Consolas" panose="020B0609020204030204" pitchFamily="49" charset="0"/>
            </a:endParaRPr>
          </a:p>
          <a:p>
            <a:r>
              <a:rPr lang="en-US" sz="1200" dirty="0" smtClean="0">
                <a:solidFill>
                  <a:srgbClr val="000000"/>
                </a:solidFill>
                <a:latin typeface="Consolas" panose="020B0609020204030204" pitchFamily="49" charset="0"/>
              </a:rPr>
              <a:t>        std::cout &lt;&lt; </a:t>
            </a:r>
            <a:r>
              <a:rPr lang="en-US" sz="1200" dirty="0" smtClean="0">
                <a:solidFill>
                  <a:srgbClr val="A31515"/>
                </a:solidFill>
                <a:latin typeface="Consolas" panose="020B0609020204030204" pitchFamily="49" charset="0"/>
              </a:rPr>
              <a:t>"Carrier Steer"</a:t>
            </a:r>
            <a:r>
              <a:rPr lang="en-US" sz="1200" dirty="0" smtClean="0">
                <a:solidFill>
                  <a:srgbClr val="000000"/>
                </a:solidFill>
                <a:latin typeface="Consolas" panose="020B0609020204030204" pitchFamily="49" charset="0"/>
              </a:rPr>
              <a:t> &lt;&lt; std::endl;</a:t>
            </a:r>
            <a:endParaRPr lang="en-US" sz="1200" dirty="0" smtClean="0">
              <a:solidFill>
                <a:srgbClr val="000000"/>
              </a:solidFill>
              <a:latin typeface="Consolas" panose="020B0609020204030204" pitchFamily="49" charset="0"/>
            </a:endParaRPr>
          </a:p>
          <a:p>
            <a:r>
              <a:rPr lang="en-US" sz="1200" dirty="0" smtClean="0">
                <a:solidFill>
                  <a:srgbClr val="000000"/>
                </a:solidFill>
                <a:latin typeface="Consolas" panose="020B0609020204030204" pitchFamily="49" charset="0"/>
              </a:rPr>
              <a:t>    }</a:t>
            </a:r>
            <a:endParaRPr lang="en-US" sz="1200" dirty="0" smtClean="0">
              <a:solidFill>
                <a:srgbClr val="000000"/>
              </a:solidFill>
              <a:latin typeface="Consolas" panose="020B0609020204030204" pitchFamily="49" charset="0"/>
            </a:endParaRPr>
          </a:p>
          <a:p>
            <a:r>
              <a:rPr lang="en-US" sz="1200" dirty="0" smtClean="0">
                <a:solidFill>
                  <a:srgbClr val="000000"/>
                </a:solidFill>
                <a:latin typeface="Consolas" panose="020B0609020204030204" pitchFamily="49" charset="0"/>
              </a:rPr>
              <a:t>};</a:t>
            </a:r>
            <a:endParaRPr lang="en-US" sz="1200" dirty="0">
              <a:solidFill>
                <a:srgbClr val="000000"/>
              </a:solidFill>
              <a:latin typeface="Consolas" panose="020B0609020204030204" pitchFamily="49" charset="0"/>
            </a:endParaRPr>
          </a:p>
        </p:txBody>
      </p:sp>
      <p:sp>
        <p:nvSpPr>
          <p:cNvPr id="10" name="Rectangle 9"/>
          <p:cNvSpPr/>
          <p:nvPr/>
        </p:nvSpPr>
        <p:spPr>
          <a:xfrm>
            <a:off x="6320589" y="4647148"/>
            <a:ext cx="4012818" cy="1600438"/>
          </a:xfrm>
          <a:prstGeom prst="rect">
            <a:avLst/>
          </a:prstGeom>
        </p:spPr>
        <p:txBody>
          <a:bodyPr wrap="square">
            <a:spAutoFit/>
          </a:bodyPr>
          <a:lstStyle/>
          <a:p>
            <a:r>
              <a:rPr lang="en-US" sz="1400" dirty="0">
                <a:solidFill>
                  <a:srgbClr val="0000FF"/>
                </a:solidFill>
                <a:latin typeface="Consolas" panose="020B0609020204030204" pitchFamily="49" charset="0"/>
              </a:rPr>
              <a:t>int</a:t>
            </a:r>
            <a:r>
              <a:rPr lang="en-US" sz="1400" dirty="0">
                <a:solidFill>
                  <a:srgbClr val="000000"/>
                </a:solidFill>
                <a:latin typeface="Consolas" panose="020B0609020204030204" pitchFamily="49" charset="0"/>
              </a:rPr>
              <a:t> main() {</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Destroyer d;</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Carrier c;</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d.Fire();</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c.Fire();</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return</a:t>
            </a:r>
            <a:r>
              <a:rPr lang="en-US" sz="1400" dirty="0">
                <a:solidFill>
                  <a:srgbClr val="000000"/>
                </a:solidFill>
                <a:latin typeface="Consolas" panose="020B0609020204030204" pitchFamily="49" charset="0"/>
              </a:rPr>
              <a:t> </a:t>
            </a:r>
            <a:r>
              <a:rPr lang="en-US" sz="1400" dirty="0">
                <a:solidFill>
                  <a:srgbClr val="098658"/>
                </a:solidFill>
                <a:latin typeface="Consolas" panose="020B0609020204030204" pitchFamily="49" charset="0"/>
              </a:rPr>
              <a:t>0</a:t>
            </a:r>
            <a:r>
              <a:rPr lang="en-US" sz="1400" dirty="0">
                <a:solidFill>
                  <a:srgbClr val="000000"/>
                </a:solidFill>
                <a:latin typeface="Consolas" panose="020B0609020204030204" pitchFamily="49" charset="0"/>
              </a:rPr>
              <a:t>;</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a:t>
            </a:r>
            <a:endParaRPr lang="en-US" sz="1400" b="0" dirty="0">
              <a:solidFill>
                <a:srgbClr val="000000"/>
              </a:solidFill>
              <a:effectLst/>
              <a:latin typeface="Consolas" panose="020B0609020204030204" pitchFamily="49" charset="0"/>
            </a:endParaRPr>
          </a:p>
        </p:txBody>
      </p:sp>
      <p:sp>
        <p:nvSpPr>
          <p:cNvPr id="11" name="TextBox 10"/>
          <p:cNvSpPr txBox="1"/>
          <p:nvPr/>
        </p:nvSpPr>
        <p:spPr>
          <a:xfrm>
            <a:off x="3471970" y="1600160"/>
            <a:ext cx="1120656" cy="369332"/>
          </a:xfrm>
          <a:prstGeom prst="rect">
            <a:avLst/>
          </a:prstGeom>
          <a:noFill/>
        </p:spPr>
        <p:txBody>
          <a:bodyPr wrap="square" rtlCol="0">
            <a:spAutoFit/>
          </a:bodyPr>
          <a:lstStyle/>
          <a:p>
            <a:r>
              <a:rPr lang="en-US" b="1" dirty="0">
                <a:solidFill>
                  <a:srgbClr val="C00000"/>
                </a:solidFill>
                <a:latin typeface="Times New Roman" panose="02020603050405020304" pitchFamily="18" charset="0"/>
                <a:cs typeface="Times New Roman" panose="02020603050405020304" pitchFamily="18" charset="0"/>
              </a:rPr>
              <a:t>m</a:t>
            </a:r>
            <a:r>
              <a:rPr lang="en-US" b="1" dirty="0" smtClean="0">
                <a:solidFill>
                  <a:srgbClr val="C00000"/>
                </a:solidFill>
                <a:latin typeface="Times New Roman" panose="02020603050405020304" pitchFamily="18" charset="0"/>
                <a:cs typeface="Times New Roman" panose="02020603050405020304" pitchFamily="18" charset="0"/>
              </a:rPr>
              <a:t>ain.cpp</a:t>
            </a:r>
            <a:endParaRPr lang="en-US" b="1" dirty="0">
              <a:solidFill>
                <a:srgbClr val="C00000"/>
              </a:solidFill>
              <a:latin typeface="Times New Roman" panose="02020603050405020304" pitchFamily="18" charset="0"/>
              <a:cs typeface="Times New Roman" panose="02020603050405020304" pitchFamily="18" charset="0"/>
            </a:endParaRPr>
          </a:p>
        </p:txBody>
      </p:sp>
      <p:sp>
        <p:nvSpPr>
          <p:cNvPr id="12" name="TextBox 11"/>
          <p:cNvSpPr txBox="1"/>
          <p:nvPr/>
        </p:nvSpPr>
        <p:spPr>
          <a:xfrm>
            <a:off x="9372027" y="1873453"/>
            <a:ext cx="1120656" cy="369332"/>
          </a:xfrm>
          <a:prstGeom prst="rect">
            <a:avLst/>
          </a:prstGeom>
          <a:noFill/>
        </p:spPr>
        <p:txBody>
          <a:bodyPr wrap="square" rtlCol="0">
            <a:spAutoFit/>
          </a:bodyPr>
          <a:lstStyle/>
          <a:p>
            <a:r>
              <a:rPr lang="en-US" b="1" dirty="0">
                <a:solidFill>
                  <a:srgbClr val="C00000"/>
                </a:solidFill>
                <a:latin typeface="Times New Roman" panose="02020603050405020304" pitchFamily="18" charset="0"/>
                <a:cs typeface="Times New Roman" panose="02020603050405020304" pitchFamily="18" charset="0"/>
              </a:rPr>
              <a:t>m</a:t>
            </a:r>
            <a:r>
              <a:rPr lang="en-US" b="1" dirty="0" smtClean="0">
                <a:solidFill>
                  <a:srgbClr val="C00000"/>
                </a:solidFill>
                <a:latin typeface="Times New Roman" panose="02020603050405020304" pitchFamily="18" charset="0"/>
                <a:cs typeface="Times New Roman" panose="02020603050405020304" pitchFamily="18" charset="0"/>
              </a:rPr>
              <a:t>ain.cpp</a:t>
            </a:r>
            <a:endParaRPr lang="en-US" b="1" dirty="0">
              <a:solidFill>
                <a:srgbClr val="C0000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Factory Design Pattern</a:t>
            </a:r>
            <a:endParaRPr lang="en-US" dirty="0"/>
          </a:p>
        </p:txBody>
      </p:sp>
      <p:sp>
        <p:nvSpPr>
          <p:cNvPr id="3" name="Content Placeholder 2"/>
          <p:cNvSpPr>
            <a:spLocks noGrp="1"/>
          </p:cNvSpPr>
          <p:nvPr>
            <p:ph idx="1"/>
          </p:nvPr>
        </p:nvSpPr>
        <p:spPr>
          <a:xfrm>
            <a:off x="590550" y="1591945"/>
            <a:ext cx="10515600" cy="5019040"/>
          </a:xfrm>
        </p:spPr>
        <p:txBody>
          <a:bodyPr>
            <a:noAutofit/>
          </a:bodyPr>
          <a:lstStyle/>
          <a:p>
            <a:pPr algn="just">
              <a:buFont typeface="Wingdings" panose="05000000000000000000" pitchFamily="2" charset="2"/>
              <a:buChar char="§"/>
            </a:pPr>
            <a:r>
              <a:rPr lang="en-US" sz="2400" dirty="0" smtClean="0">
                <a:latin typeface="Times New Roman" panose="02020603050405020304" pitchFamily="18" charset="0"/>
                <a:cs typeface="Times New Roman" panose="02020603050405020304" pitchFamily="18" charset="0"/>
              </a:rPr>
              <a:t>Factory Method is a </a:t>
            </a:r>
            <a:r>
              <a:rPr lang="en-US" sz="2400" b="1" dirty="0" smtClean="0">
                <a:latin typeface="Times New Roman" panose="02020603050405020304" pitchFamily="18" charset="0"/>
                <a:cs typeface="Times New Roman" panose="02020603050405020304" pitchFamily="18" charset="0"/>
              </a:rPr>
              <a:t>creational design pattern </a:t>
            </a:r>
            <a:r>
              <a:rPr lang="en-US" sz="2400" dirty="0" smtClean="0">
                <a:latin typeface="Times New Roman" panose="02020603050405020304" pitchFamily="18" charset="0"/>
                <a:cs typeface="Times New Roman" panose="02020603050405020304" pitchFamily="18" charset="0"/>
              </a:rPr>
              <a:t>that provides an interface for creating objects in a superclass, but allows subclasses to alter the type of objects that will be created.</a:t>
            </a:r>
            <a:endParaRPr lang="en-US" sz="2400" dirty="0" smtClean="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Create objects without specifying the exact class of the object that will be created.</a:t>
            </a:r>
            <a:endParaRPr lang="en-US" sz="2400" dirty="0">
              <a:latin typeface="Times New Roman" panose="02020603050405020304" pitchFamily="18" charset="0"/>
              <a:cs typeface="Times New Roman" panose="02020603050405020304" pitchFamily="18" charset="0"/>
            </a:endParaRPr>
          </a:p>
          <a:p>
            <a:pPr lvl="1" algn="just">
              <a:buFont typeface="Wingdings" panose="05000000000000000000" charset="0"/>
              <a:buChar char="v"/>
            </a:pPr>
            <a:r>
              <a:rPr lang="en-US" sz="1800" dirty="0">
                <a:gradFill>
                  <a:gsLst>
                    <a:gs pos="0">
                      <a:srgbClr val="012D86"/>
                    </a:gs>
                    <a:gs pos="100000">
                      <a:srgbClr val="0E2557"/>
                    </a:gs>
                  </a:gsLst>
                  <a:lin scaled="0"/>
                </a:gradFill>
                <a:latin typeface="Times New Roman" panose="02020603050405020304" pitchFamily="18" charset="0"/>
                <a:cs typeface="Times New Roman" panose="02020603050405020304" pitchFamily="18" charset="0"/>
              </a:rPr>
              <a:t>This means that before running the factory method, we don’t know which type of object we are going to get after the method completes.</a:t>
            </a:r>
            <a:endParaRPr lang="en-US" sz="1800" dirty="0">
              <a:gradFill>
                <a:gsLst>
                  <a:gs pos="0">
                    <a:srgbClr val="012D86"/>
                  </a:gs>
                  <a:gs pos="100000">
                    <a:srgbClr val="0E2557"/>
                  </a:gs>
                </a:gsLst>
                <a:lin scaled="0"/>
              </a:gradFill>
              <a:latin typeface="Times New Roman" panose="02020603050405020304" pitchFamily="18" charset="0"/>
              <a:cs typeface="Times New Roman" panose="02020603050405020304" pitchFamily="18" charset="0"/>
            </a:endParaRPr>
          </a:p>
          <a:p>
            <a:pPr lvl="1" algn="just">
              <a:buFont typeface="Wingdings" panose="05000000000000000000" charset="0"/>
              <a:buChar char="v"/>
            </a:pPr>
            <a:r>
              <a:rPr lang="en-US" sz="1800" dirty="0">
                <a:gradFill>
                  <a:gsLst>
                    <a:gs pos="0">
                      <a:srgbClr val="012D86"/>
                    </a:gs>
                    <a:gs pos="100000">
                      <a:srgbClr val="0E2557"/>
                    </a:gs>
                  </a:gsLst>
                  <a:lin scaled="0"/>
                </a:gradFill>
                <a:latin typeface="Times New Roman" panose="02020603050405020304" pitchFamily="18" charset="0"/>
                <a:cs typeface="Times New Roman" panose="02020603050405020304" pitchFamily="18" charset="0"/>
              </a:rPr>
              <a:t>The type of the object is determined at runtime: This flexibiltiy is crucial because if we knew the exact type at compile time, we would not need the factory method.</a:t>
            </a:r>
            <a:endParaRPr lang="en-US" sz="1800" dirty="0">
              <a:gradFill>
                <a:gsLst>
                  <a:gs pos="0">
                    <a:srgbClr val="012D86"/>
                  </a:gs>
                  <a:gs pos="100000">
                    <a:srgbClr val="0E2557"/>
                  </a:gs>
                </a:gsLst>
                <a:lin scaled="0"/>
              </a:gradFill>
              <a:latin typeface="Times New Roman" panose="02020603050405020304" pitchFamily="18" charset="0"/>
              <a:cs typeface="Times New Roman" panose="02020603050405020304" pitchFamily="18" charset="0"/>
            </a:endParaRPr>
          </a:p>
          <a:p>
            <a:pPr lvl="1" algn="just">
              <a:buFont typeface="Wingdings" panose="05000000000000000000" charset="0"/>
              <a:buChar char="v"/>
            </a:pPr>
            <a:r>
              <a:rPr lang="en-US" sz="1800" dirty="0">
                <a:gradFill>
                  <a:gsLst>
                    <a:gs pos="0">
                      <a:srgbClr val="012D86"/>
                    </a:gs>
                    <a:gs pos="100000">
                      <a:srgbClr val="0E2557"/>
                    </a:gs>
                  </a:gsLst>
                  <a:lin scaled="0"/>
                </a:gradFill>
                <a:latin typeface="Times New Roman" panose="02020603050405020304" pitchFamily="18" charset="0"/>
                <a:cs typeface="Times New Roman" panose="02020603050405020304" pitchFamily="18" charset="0"/>
              </a:rPr>
              <a:t>We need pointer or reference to a base class: We require a virtual factory method in the base class in order to call the correct instance methods of the object created by the factory method. This is polymorphism.</a:t>
            </a:r>
            <a:endParaRPr lang="en-US" sz="1800" dirty="0">
              <a:gradFill>
                <a:gsLst>
                  <a:gs pos="0">
                    <a:srgbClr val="012D86"/>
                  </a:gs>
                  <a:gs pos="100000">
                    <a:srgbClr val="0E2557"/>
                  </a:gs>
                </a:gsLst>
                <a:lin scaled="0"/>
              </a:gradFill>
              <a:latin typeface="Times New Roman" panose="02020603050405020304" pitchFamily="18" charset="0"/>
              <a:cs typeface="Times New Roman" panose="02020603050405020304" pitchFamily="18" charset="0"/>
            </a:endParaRPr>
          </a:p>
          <a:p>
            <a:pPr lvl="0" algn="just">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It provides an itnerface for creating objects in a superclass but allows subclasses to alter the type of objects that will be created.</a:t>
            </a:r>
            <a:endParaRPr lang="en-US" sz="2400" dirty="0">
              <a:latin typeface="Times New Roman" panose="02020603050405020304" pitchFamily="18" charset="0"/>
              <a:cs typeface="Times New Roman" panose="02020603050405020304" pitchFamily="18" charset="0"/>
            </a:endParaRPr>
          </a:p>
          <a:p>
            <a:pPr lvl="1" algn="just">
              <a:buFont typeface="Wingdings" panose="05000000000000000000" charset="0"/>
              <a:buChar char="v"/>
            </a:pPr>
            <a:r>
              <a:rPr lang="en-US" sz="1800" dirty="0">
                <a:gradFill>
                  <a:gsLst>
                    <a:gs pos="0">
                      <a:srgbClr val="012D86"/>
                    </a:gs>
                    <a:gs pos="100000">
                      <a:srgbClr val="0E2557"/>
                    </a:gs>
                  </a:gsLst>
                  <a:lin scaled="0"/>
                </a:gradFill>
                <a:latin typeface="Times New Roman" panose="02020603050405020304" pitchFamily="18" charset="0"/>
                <a:cs typeface="Times New Roman" panose="02020603050405020304" pitchFamily="18" charset="0"/>
              </a:rPr>
              <a:t>This means, an interface declares a method for creating objects, but the actual implementation of that method is left to the subclasses. This allows subclasses to decide the type of object it wants to create without modifying the client code.</a:t>
            </a:r>
            <a:endParaRPr lang="en-US" sz="1800" dirty="0">
              <a:gradFill>
                <a:gsLst>
                  <a:gs pos="0">
                    <a:srgbClr val="012D86"/>
                  </a:gs>
                  <a:gs pos="100000">
                    <a:srgbClr val="0E2557"/>
                  </a:gs>
                </a:gsLst>
                <a:lin scaled="0"/>
              </a:gra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Factory Design Pattern</a:t>
            </a:r>
            <a:endParaRPr lang="en-US" dirty="0"/>
          </a:p>
        </p:txBody>
      </p:sp>
      <p:sp>
        <p:nvSpPr>
          <p:cNvPr id="3" name="Content Placeholder 2"/>
          <p:cNvSpPr>
            <a:spLocks noGrp="1"/>
          </p:cNvSpPr>
          <p:nvPr>
            <p:ph idx="1"/>
          </p:nvPr>
        </p:nvSpPr>
        <p:spPr>
          <a:xfrm>
            <a:off x="262890" y="1640840"/>
            <a:ext cx="5305425" cy="4047490"/>
          </a:xfrm>
        </p:spPr>
        <p:txBody>
          <a:bodyPr>
            <a:normAutofit/>
          </a:bodyPr>
          <a:lstStyle/>
          <a:p>
            <a:pPr algn="just">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Product means the superclass, or interface, the objects we ought to create implements</a:t>
            </a:r>
            <a:r>
              <a:rPr lang="en-US" sz="1800" dirty="0" smtClean="0">
                <a:latin typeface="Times New Roman" panose="02020603050405020304" pitchFamily="18" charset="0"/>
                <a:cs typeface="Times New Roman" panose="02020603050405020304" pitchFamily="18" charset="0"/>
              </a:rPr>
              <a:t>.</a:t>
            </a:r>
            <a:endParaRPr lang="en-US" sz="1800" dirty="0" smtClean="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Concrete Products are the actual objects we ought to create</a:t>
            </a:r>
            <a:r>
              <a:rPr lang="en-US" sz="1800" dirty="0" smtClean="0">
                <a:latin typeface="Times New Roman" panose="02020603050405020304" pitchFamily="18" charset="0"/>
                <a:cs typeface="Times New Roman" panose="02020603050405020304" pitchFamily="18" charset="0"/>
              </a:rPr>
              <a:t>.</a:t>
            </a:r>
            <a:endParaRPr lang="en-US" sz="1800" dirty="0" smtClean="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In our previous example, </a:t>
            </a:r>
            <a:r>
              <a:rPr lang="en-US" sz="1800" b="1" i="1" dirty="0">
                <a:latin typeface="Times New Roman" panose="02020603050405020304" pitchFamily="18" charset="0"/>
                <a:cs typeface="Times New Roman" panose="02020603050405020304" pitchFamily="18" charset="0"/>
              </a:rPr>
              <a:t>BattleShip</a:t>
            </a:r>
            <a:r>
              <a:rPr lang="en-US" sz="1800" dirty="0">
                <a:latin typeface="Times New Roman" panose="02020603050405020304" pitchFamily="18" charset="0"/>
                <a:cs typeface="Times New Roman" panose="02020603050405020304" pitchFamily="18" charset="0"/>
              </a:rPr>
              <a:t> class is the Product, and </a:t>
            </a:r>
            <a:r>
              <a:rPr lang="en-US" sz="1800" b="1" i="1" dirty="0">
                <a:latin typeface="Times New Roman" panose="02020603050405020304" pitchFamily="18" charset="0"/>
                <a:cs typeface="Times New Roman" panose="02020603050405020304" pitchFamily="18" charset="0"/>
              </a:rPr>
              <a:t>Destroyer</a:t>
            </a:r>
            <a:r>
              <a:rPr lang="en-US" sz="1800" dirty="0">
                <a:latin typeface="Times New Roman" panose="02020603050405020304" pitchFamily="18" charset="0"/>
                <a:cs typeface="Times New Roman" panose="02020603050405020304" pitchFamily="18" charset="0"/>
              </a:rPr>
              <a:t> and </a:t>
            </a:r>
            <a:r>
              <a:rPr lang="en-US" sz="1800" b="1" i="1" dirty="0">
                <a:latin typeface="Times New Roman" panose="02020603050405020304" pitchFamily="18" charset="0"/>
                <a:cs typeface="Times New Roman" panose="02020603050405020304" pitchFamily="18" charset="0"/>
              </a:rPr>
              <a:t>Carrier</a:t>
            </a:r>
            <a:r>
              <a:rPr lang="en-US" sz="1800" dirty="0">
                <a:latin typeface="Times New Roman" panose="02020603050405020304" pitchFamily="18" charset="0"/>
                <a:cs typeface="Times New Roman" panose="02020603050405020304" pitchFamily="18" charset="0"/>
              </a:rPr>
              <a:t> are the Concrete </a:t>
            </a:r>
            <a:r>
              <a:rPr lang="en-US" sz="1800" dirty="0" smtClean="0">
                <a:latin typeface="Times New Roman" panose="02020603050405020304" pitchFamily="18" charset="0"/>
                <a:cs typeface="Times New Roman" panose="02020603050405020304" pitchFamily="18" charset="0"/>
              </a:rPr>
              <a:t>Products.</a:t>
            </a:r>
            <a:endParaRPr lang="en-US" sz="1800" dirty="0" smtClean="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Creator is the “</a:t>
            </a:r>
            <a:r>
              <a:rPr lang="en-US" sz="1800" b="1" dirty="0">
                <a:latin typeface="Times New Roman" panose="02020603050405020304" pitchFamily="18" charset="0"/>
                <a:cs typeface="Times New Roman" panose="02020603050405020304" pitchFamily="18" charset="0"/>
              </a:rPr>
              <a:t>Factory Class</a:t>
            </a:r>
            <a:r>
              <a:rPr lang="en-US" sz="1800" dirty="0">
                <a:latin typeface="Times New Roman" panose="02020603050405020304" pitchFamily="18" charset="0"/>
                <a:cs typeface="Times New Roman" panose="02020603050405020304" pitchFamily="18" charset="0"/>
              </a:rPr>
              <a:t>” which extends into </a:t>
            </a:r>
            <a:r>
              <a:rPr lang="en-US" sz="1800" b="1" dirty="0">
                <a:latin typeface="Times New Roman" panose="02020603050405020304" pitchFamily="18" charset="0"/>
                <a:cs typeface="Times New Roman" panose="02020603050405020304" pitchFamily="18" charset="0"/>
              </a:rPr>
              <a:t>Concrete Creators </a:t>
            </a:r>
            <a:r>
              <a:rPr lang="en-US" sz="1800" dirty="0">
                <a:latin typeface="Times New Roman" panose="02020603050405020304" pitchFamily="18" charset="0"/>
                <a:cs typeface="Times New Roman" panose="02020603050405020304" pitchFamily="18" charset="0"/>
              </a:rPr>
              <a:t>which will create the </a:t>
            </a:r>
            <a:r>
              <a:rPr lang="en-US" sz="1800" b="1" dirty="0">
                <a:latin typeface="Times New Roman" panose="02020603050405020304" pitchFamily="18" charset="0"/>
                <a:cs typeface="Times New Roman" panose="02020603050405020304" pitchFamily="18" charset="0"/>
              </a:rPr>
              <a:t>Concrete Products </a:t>
            </a:r>
            <a:r>
              <a:rPr lang="en-US" sz="1800" dirty="0">
                <a:latin typeface="Times New Roman" panose="02020603050405020304" pitchFamily="18" charset="0"/>
                <a:cs typeface="Times New Roman" panose="02020603050405020304" pitchFamily="18" charset="0"/>
              </a:rPr>
              <a:t>for us</a:t>
            </a:r>
            <a:r>
              <a:rPr lang="en-US" sz="1800" dirty="0" smtClean="0">
                <a:latin typeface="Times New Roman" panose="02020603050405020304" pitchFamily="18" charset="0"/>
                <a:cs typeface="Times New Roman" panose="02020603050405020304" pitchFamily="18" charset="0"/>
              </a:rPr>
              <a:t>.</a:t>
            </a:r>
            <a:endParaRPr lang="en-US" sz="1800" dirty="0" smtClean="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
            </a:pPr>
            <a:r>
              <a:rPr lang="en-US" sz="1800" dirty="0" smtClean="0">
                <a:latin typeface="Times New Roman" panose="02020603050405020304" pitchFamily="18" charset="0"/>
                <a:cs typeface="Times New Roman" panose="02020603050405020304" pitchFamily="18" charset="0"/>
              </a:rPr>
              <a:t>There </a:t>
            </a:r>
            <a:r>
              <a:rPr lang="en-US" sz="1800" dirty="0">
                <a:latin typeface="Times New Roman" panose="02020603050405020304" pitchFamily="18" charset="0"/>
                <a:cs typeface="Times New Roman" panose="02020603050405020304" pitchFamily="18" charset="0"/>
              </a:rPr>
              <a:t>will be a </a:t>
            </a:r>
            <a:r>
              <a:rPr lang="en-US" sz="1800" b="1" dirty="0">
                <a:latin typeface="Times New Roman" panose="02020603050405020304" pitchFamily="18" charset="0"/>
                <a:cs typeface="Times New Roman" panose="02020603050405020304" pitchFamily="18" charset="0"/>
              </a:rPr>
              <a:t>Concrete Creator </a:t>
            </a:r>
            <a:r>
              <a:rPr lang="en-US" sz="1800" dirty="0">
                <a:latin typeface="Times New Roman" panose="02020603050405020304" pitchFamily="18" charset="0"/>
                <a:cs typeface="Times New Roman" panose="02020603050405020304" pitchFamily="18" charset="0"/>
              </a:rPr>
              <a:t>— </a:t>
            </a:r>
            <a:r>
              <a:rPr lang="en-US" sz="1800" b="1" i="1" dirty="0">
                <a:latin typeface="Times New Roman" panose="02020603050405020304" pitchFamily="18" charset="0"/>
                <a:cs typeface="Times New Roman" panose="02020603050405020304" pitchFamily="18" charset="0"/>
              </a:rPr>
              <a:t>DestroyerCreator</a:t>
            </a:r>
            <a:r>
              <a:rPr lang="en-US" sz="1800" dirty="0">
                <a:latin typeface="Times New Roman" panose="02020603050405020304" pitchFamily="18" charset="0"/>
                <a:cs typeface="Times New Roman" panose="02020603050405020304" pitchFamily="18" charset="0"/>
              </a:rPr>
              <a:t> that creates Destroyer’s, and similarly a </a:t>
            </a:r>
            <a:r>
              <a:rPr lang="en-US" sz="1800" b="1" i="1" dirty="0">
                <a:latin typeface="Times New Roman" panose="02020603050405020304" pitchFamily="18" charset="0"/>
                <a:cs typeface="Times New Roman" panose="02020603050405020304" pitchFamily="18" charset="0"/>
              </a:rPr>
              <a:t>CarrierCreator</a:t>
            </a:r>
            <a:r>
              <a:rPr lang="en-US" sz="1800" dirty="0">
                <a:latin typeface="Times New Roman" panose="02020603050405020304" pitchFamily="18" charset="0"/>
                <a:cs typeface="Times New Roman" panose="02020603050405020304" pitchFamily="18" charset="0"/>
              </a:rPr>
              <a:t> that creates Carrier’s</a:t>
            </a:r>
            <a:endParaRPr lang="en-US" sz="18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1"/>
          <a:stretch>
            <a:fillRect/>
          </a:stretch>
        </p:blipFill>
        <p:spPr>
          <a:xfrm>
            <a:off x="5568315" y="1562100"/>
            <a:ext cx="6463030" cy="3615055"/>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Factory Design Pattern Steps to Follow</a:t>
            </a:r>
            <a:endParaRPr lang="en-US" b="1" dirty="0">
              <a:latin typeface="Times New Roman" panose="02020603050405020304" pitchFamily="18" charset="0"/>
              <a:cs typeface="Times New Roman" panose="02020603050405020304" pitchFamily="18" charset="0"/>
            </a:endParaRPr>
          </a:p>
        </p:txBody>
      </p:sp>
      <p:sp>
        <p:nvSpPr>
          <p:cNvPr id="4" name="Rectangle 1"/>
          <p:cNvSpPr>
            <a:spLocks noGrp="1" noChangeArrowheads="1"/>
          </p:cNvSpPr>
          <p:nvPr>
            <p:ph idx="1"/>
          </p:nvPr>
        </p:nvSpPr>
        <p:spPr bwMode="auto">
          <a:xfrm>
            <a:off x="838200" y="2356637"/>
            <a:ext cx="11055875"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
            </a:pPr>
            <a:r>
              <a:rPr kumimoji="0" lang="en-US" altLang="en-US" sz="2000" b="1" u="none" strike="noStrike" cap="none" normalizeH="0" baseline="0" dirty="0" smtClean="0">
                <a:ln>
                  <a:noFill/>
                </a:ln>
                <a:solidFill>
                  <a:srgbClr val="242424"/>
                </a:solidFill>
                <a:effectLst/>
                <a:latin typeface="Times New Roman" panose="02020603050405020304" pitchFamily="18" charset="0"/>
                <a:cs typeface="Times New Roman" panose="02020603050405020304" pitchFamily="18" charset="0"/>
              </a:rPr>
              <a:t>Step 1</a:t>
            </a:r>
            <a:r>
              <a:rPr kumimoji="0" lang="en-US" altLang="en-US" sz="2000" u="none" strike="noStrike" cap="none" normalizeH="0" baseline="0" dirty="0" smtClean="0">
                <a:ln>
                  <a:noFill/>
                </a:ln>
                <a:solidFill>
                  <a:srgbClr val="242424"/>
                </a:solidFill>
                <a:effectLst/>
                <a:latin typeface="Times New Roman" panose="02020603050405020304" pitchFamily="18" charset="0"/>
                <a:cs typeface="Times New Roman" panose="02020603050405020304" pitchFamily="18" charset="0"/>
              </a:rPr>
              <a:t>: Make all products follow the same interface. This interface should declare methods that make sense</a:t>
            </a:r>
            <a:r>
              <a:rPr kumimoji="0" lang="en-US" altLang="en-US" sz="2000" u="none" strike="noStrike" cap="none" normalizeH="0" dirty="0" smtClean="0">
                <a:ln>
                  <a:noFill/>
                </a:ln>
                <a:solidFill>
                  <a:srgbClr val="242424"/>
                </a:solidFill>
                <a:effectLst/>
                <a:latin typeface="Times New Roman" panose="02020603050405020304" pitchFamily="18" charset="0"/>
                <a:cs typeface="Times New Roman" panose="02020603050405020304" pitchFamily="18" charset="0"/>
              </a:rPr>
              <a:t> </a:t>
            </a:r>
            <a:r>
              <a:rPr kumimoji="0" lang="en-US" altLang="en-US" sz="2000" u="none" strike="noStrike" cap="none" normalizeH="0" baseline="0" dirty="0" smtClean="0">
                <a:ln>
                  <a:noFill/>
                </a:ln>
                <a:solidFill>
                  <a:srgbClr val="242424"/>
                </a:solidFill>
                <a:effectLst/>
                <a:latin typeface="Times New Roman" panose="02020603050405020304" pitchFamily="18" charset="0"/>
                <a:cs typeface="Times New Roman" panose="02020603050405020304" pitchFamily="18" charset="0"/>
              </a:rPr>
              <a:t>in every product.</a:t>
            </a:r>
            <a:endParaRPr kumimoji="0" lang="en-US" altLang="en-US" sz="2000" u="none" strike="noStrike" cap="none" normalizeH="0" baseline="0" dirty="0" smtClean="0">
              <a:ln>
                <a:noFill/>
              </a:ln>
              <a:solidFill>
                <a:srgbClr val="242424"/>
              </a:solidFill>
              <a:effectLst/>
              <a:latin typeface="Times New Roman" panose="02020603050405020304" pitchFamily="18" charset="0"/>
              <a:cs typeface="Times New Roman" panose="02020603050405020304" pitchFamily="18" charset="0"/>
            </a:endParaRPr>
          </a:p>
          <a:p>
            <a:pPr lvl="0" algn="just" eaLnBrk="0" fontAlgn="base" hangingPunct="0">
              <a:lnSpc>
                <a:spcPct val="100000"/>
              </a:lnSpc>
              <a:spcBef>
                <a:spcPct val="0"/>
              </a:spcBef>
              <a:spcAft>
                <a:spcPct val="0"/>
              </a:spcAft>
              <a:buFont typeface="Wingdings" panose="05000000000000000000" pitchFamily="2" charset="2"/>
              <a:buChar char="§"/>
            </a:pPr>
            <a:r>
              <a:rPr kumimoji="0" lang="en-US" altLang="en-US" sz="2000" b="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Step 2</a:t>
            </a:r>
            <a:r>
              <a:rPr kumimoji="0" lang="en-US" altLang="en-US" sz="200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2000" u="none" strike="noStrike" cap="none" normalizeH="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Add an empty factory method inside the creator class. The return type of the method should match the common product interface.</a:t>
            </a:r>
            <a:endParaRPr kumimoji="0" lang="en-US" altLang="en-US" sz="200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lvl="0" algn="just" eaLnBrk="0" fontAlgn="base" hangingPunct="0">
              <a:lnSpc>
                <a:spcPct val="100000"/>
              </a:lnSpc>
              <a:spcBef>
                <a:spcPct val="0"/>
              </a:spcBef>
              <a:spcAft>
                <a:spcPct val="0"/>
              </a:spcAft>
              <a:buFont typeface="Wingdings" panose="05000000000000000000" pitchFamily="2" charset="2"/>
              <a:buChar char="§"/>
            </a:pPr>
            <a:r>
              <a:rPr lang="en-US" altLang="en-US" sz="2000" b="1" dirty="0" smtClean="0">
                <a:latin typeface="Times New Roman" panose="02020603050405020304" pitchFamily="18" charset="0"/>
                <a:cs typeface="Times New Roman" panose="02020603050405020304" pitchFamily="18" charset="0"/>
              </a:rPr>
              <a:t>Step 3</a:t>
            </a:r>
            <a:r>
              <a:rPr lang="en-US" altLang="en-US" sz="2000" dirty="0" smtClean="0">
                <a:latin typeface="Times New Roman" panose="02020603050405020304" pitchFamily="18" charset="0"/>
                <a:cs typeface="Times New Roman" panose="02020603050405020304" pitchFamily="18" charset="0"/>
              </a:rPr>
              <a:t>:  In the creator’s code find all references to product constructors. One by one, replace them with calls to the factory method, while extracting the product creation code into the factory method.</a:t>
            </a:r>
            <a:endParaRPr lang="en-US" altLang="en-US" sz="2000" dirty="0" smtClean="0">
              <a:latin typeface="Times New Roman" panose="02020603050405020304" pitchFamily="18" charset="0"/>
              <a:cs typeface="Times New Roman" panose="02020603050405020304" pitchFamily="18" charset="0"/>
            </a:endParaRPr>
          </a:p>
          <a:p>
            <a:pPr lvl="0" algn="just" eaLnBrk="0" fontAlgn="base" hangingPunct="0">
              <a:lnSpc>
                <a:spcPct val="100000"/>
              </a:lnSpc>
              <a:spcBef>
                <a:spcPct val="0"/>
              </a:spcBef>
              <a:spcAft>
                <a:spcPct val="0"/>
              </a:spcAft>
              <a:buFont typeface="Wingdings" panose="05000000000000000000" pitchFamily="2" charset="2"/>
              <a:buChar char="§"/>
            </a:pPr>
            <a:r>
              <a:rPr kumimoji="0" lang="en-US" altLang="en-US" sz="2000" b="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Step 4</a:t>
            </a:r>
            <a:r>
              <a:rPr lang="en-US" altLang="en-US" sz="2000" dirty="0">
                <a:latin typeface="Times New Roman" panose="02020603050405020304" pitchFamily="18" charset="0"/>
                <a:cs typeface="Times New Roman" panose="02020603050405020304" pitchFamily="18" charset="0"/>
              </a:rPr>
              <a:t>:</a:t>
            </a:r>
            <a:r>
              <a:rPr kumimoji="0" lang="en-US" altLang="en-US" sz="200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Now, create a set of creator subclasses for each type of product listed in the factory method. Override the factory method in the subclasses and extract the appropriate bits of construction code from the base method.</a:t>
            </a:r>
            <a:endParaRPr kumimoji="0" lang="en-US" altLang="en-US" sz="200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pPr>
            <a:br>
              <a:rPr kumimoji="0" lang="en-US" altLang="en-US" sz="200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200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Example 1 - Code</a:t>
            </a:r>
            <a:endParaRPr lang="en-US" b="1" dirty="0">
              <a:latin typeface="Times New Roman" panose="02020603050405020304" pitchFamily="18" charset="0"/>
              <a:cs typeface="Times New Roman" panose="02020603050405020304" pitchFamily="18" charset="0"/>
            </a:endParaRPr>
          </a:p>
        </p:txBody>
      </p:sp>
      <p:sp>
        <p:nvSpPr>
          <p:cNvPr id="4" name="Rectangle 3"/>
          <p:cNvSpPr/>
          <p:nvPr/>
        </p:nvSpPr>
        <p:spPr>
          <a:xfrm>
            <a:off x="838200" y="1873948"/>
            <a:ext cx="4920343" cy="4185761"/>
          </a:xfrm>
          <a:prstGeom prst="rect">
            <a:avLst/>
          </a:prstGeom>
        </p:spPr>
        <p:txBody>
          <a:bodyPr wrap="square">
            <a:spAutoFit/>
          </a:bodyPr>
          <a:lstStyle/>
          <a:p>
            <a:r>
              <a:rPr lang="en-US" sz="1400" dirty="0">
                <a:solidFill>
                  <a:srgbClr val="0000FF"/>
                </a:solidFill>
                <a:latin typeface="Consolas" panose="020B0609020204030204" pitchFamily="49" charset="0"/>
              </a:rPr>
              <a:t>#include </a:t>
            </a:r>
            <a:r>
              <a:rPr lang="en-US" sz="1400" dirty="0">
                <a:solidFill>
                  <a:srgbClr val="A31515"/>
                </a:solidFill>
                <a:latin typeface="Consolas" panose="020B0609020204030204" pitchFamily="49" charset="0"/>
              </a:rPr>
              <a:t>&lt;</a:t>
            </a:r>
            <a:r>
              <a:rPr lang="en-US" sz="1400" dirty="0" err="1">
                <a:solidFill>
                  <a:srgbClr val="A31515"/>
                </a:solidFill>
                <a:latin typeface="Consolas" panose="020B0609020204030204" pitchFamily="49" charset="0"/>
              </a:rPr>
              <a:t>iostream</a:t>
            </a:r>
            <a:r>
              <a:rPr lang="en-US" sz="1400" dirty="0">
                <a:solidFill>
                  <a:srgbClr val="A31515"/>
                </a:solidFill>
                <a:latin typeface="Consolas" panose="020B0609020204030204" pitchFamily="49" charset="0"/>
              </a:rPr>
              <a:t>&gt;</a:t>
            </a:r>
            <a:endParaRPr lang="en-US" sz="1400" dirty="0">
              <a:solidFill>
                <a:srgbClr val="000000"/>
              </a:solidFill>
              <a:latin typeface="Consolas" panose="020B0609020204030204" pitchFamily="49" charset="0"/>
            </a:endParaRPr>
          </a:p>
          <a:p>
            <a:r>
              <a:rPr lang="en-US" sz="1400" dirty="0">
                <a:solidFill>
                  <a:srgbClr val="0000FF"/>
                </a:solidFill>
                <a:latin typeface="Consolas" panose="020B0609020204030204" pitchFamily="49" charset="0"/>
              </a:rPr>
              <a:t>using</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namespace</a:t>
            </a:r>
            <a:r>
              <a:rPr lang="en-US" sz="1400" dirty="0">
                <a:solidFill>
                  <a:srgbClr val="000000"/>
                </a:solidFill>
                <a:latin typeface="Consolas" panose="020B0609020204030204" pitchFamily="49" charset="0"/>
              </a:rPr>
              <a:t> std;</a:t>
            </a:r>
            <a:endParaRPr lang="en-US" sz="1400" dirty="0">
              <a:solidFill>
                <a:srgbClr val="000000"/>
              </a:solidFill>
              <a:latin typeface="Consolas" panose="020B0609020204030204" pitchFamily="49" charset="0"/>
            </a:endParaRPr>
          </a:p>
          <a:p>
            <a:br>
              <a:rPr lang="en-US" sz="1400" dirty="0">
                <a:solidFill>
                  <a:srgbClr val="000000"/>
                </a:solidFill>
                <a:latin typeface="Consolas" panose="020B0609020204030204" pitchFamily="49" charset="0"/>
              </a:rPr>
            </a:br>
            <a:r>
              <a:rPr lang="en-US" sz="1400" dirty="0">
                <a:solidFill>
                  <a:srgbClr val="0000FF"/>
                </a:solidFill>
                <a:latin typeface="Consolas" panose="020B0609020204030204" pitchFamily="49" charset="0"/>
              </a:rPr>
              <a:t>class</a:t>
            </a:r>
            <a:r>
              <a:rPr lang="en-US" sz="1400" dirty="0">
                <a:solidFill>
                  <a:srgbClr val="000000"/>
                </a:solidFill>
                <a:latin typeface="Consolas" panose="020B0609020204030204" pitchFamily="49" charset="0"/>
              </a:rPr>
              <a:t> Battleship</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a:t>
            </a:r>
            <a:endParaRPr lang="en-US" sz="1400" dirty="0">
              <a:solidFill>
                <a:srgbClr val="000000"/>
              </a:solidFill>
              <a:latin typeface="Consolas" panose="020B0609020204030204" pitchFamily="49" charset="0"/>
            </a:endParaRPr>
          </a:p>
          <a:p>
            <a:r>
              <a:rPr lang="en-US" sz="1400" dirty="0">
                <a:solidFill>
                  <a:srgbClr val="0000FF"/>
                </a:solidFill>
                <a:latin typeface="Consolas" panose="020B0609020204030204" pitchFamily="49" charset="0"/>
              </a:rPr>
              <a:t>public:</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Battleship()</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cout &lt;&lt; </a:t>
            </a:r>
            <a:r>
              <a:rPr lang="en-US" sz="1400" dirty="0">
                <a:solidFill>
                  <a:srgbClr val="A31515"/>
                </a:solidFill>
                <a:latin typeface="Consolas" panose="020B0609020204030204" pitchFamily="49" charset="0"/>
              </a:rPr>
              <a:t>"Battleship Created"</a:t>
            </a:r>
            <a:r>
              <a:rPr lang="en-US" sz="1400" dirty="0">
                <a:solidFill>
                  <a:srgbClr val="000000"/>
                </a:solidFill>
                <a:latin typeface="Consolas" panose="020B0609020204030204" pitchFamily="49" charset="0"/>
              </a:rPr>
              <a:t> &lt;&lt; endl;</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a:t>
            </a:r>
            <a:endParaRPr lang="en-US" sz="1400" dirty="0">
              <a:solidFill>
                <a:srgbClr val="000000"/>
              </a:solidFill>
              <a:latin typeface="Consolas" panose="020B0609020204030204" pitchFamily="49" charset="0"/>
            </a:endParaRPr>
          </a:p>
          <a:p>
            <a:br>
              <a:rPr lang="en-US" sz="1400" dirty="0">
                <a:solidFill>
                  <a:srgbClr val="000000"/>
                </a:solidFill>
                <a:latin typeface="Consolas" panose="020B0609020204030204" pitchFamily="49" charset="0"/>
              </a:rPr>
            </a:b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virtual</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void</a:t>
            </a:r>
            <a:r>
              <a:rPr lang="en-US" sz="1400" dirty="0">
                <a:solidFill>
                  <a:srgbClr val="000000"/>
                </a:solidFill>
                <a:latin typeface="Consolas" panose="020B0609020204030204" pitchFamily="49" charset="0"/>
              </a:rPr>
              <a:t> Fire() = </a:t>
            </a:r>
            <a:r>
              <a:rPr lang="en-US" sz="1400" dirty="0">
                <a:solidFill>
                  <a:srgbClr val="098658"/>
                </a:solidFill>
                <a:latin typeface="Consolas" panose="020B0609020204030204" pitchFamily="49" charset="0"/>
              </a:rPr>
              <a:t>0</a:t>
            </a:r>
            <a:r>
              <a:rPr lang="en-US" sz="1400" dirty="0">
                <a:solidFill>
                  <a:srgbClr val="000000"/>
                </a:solidFill>
                <a:latin typeface="Consolas" panose="020B0609020204030204" pitchFamily="49" charset="0"/>
              </a:rPr>
              <a:t>;</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virtual</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void</a:t>
            </a:r>
            <a:r>
              <a:rPr lang="en-US" sz="1400" dirty="0">
                <a:solidFill>
                  <a:srgbClr val="000000"/>
                </a:solidFill>
                <a:latin typeface="Consolas" panose="020B0609020204030204" pitchFamily="49" charset="0"/>
              </a:rPr>
              <a:t> Steer() = </a:t>
            </a:r>
            <a:r>
              <a:rPr lang="en-US" sz="1400" dirty="0">
                <a:solidFill>
                  <a:srgbClr val="098658"/>
                </a:solidFill>
                <a:latin typeface="Consolas" panose="020B0609020204030204" pitchFamily="49" charset="0"/>
              </a:rPr>
              <a:t>0</a:t>
            </a:r>
            <a:r>
              <a:rPr lang="en-US" sz="1400" dirty="0">
                <a:solidFill>
                  <a:srgbClr val="000000"/>
                </a:solidFill>
                <a:latin typeface="Consolas" panose="020B0609020204030204" pitchFamily="49" charset="0"/>
              </a:rPr>
              <a:t>;</a:t>
            </a:r>
            <a:endParaRPr lang="en-US" sz="1400" dirty="0">
              <a:solidFill>
                <a:srgbClr val="000000"/>
              </a:solidFill>
              <a:latin typeface="Consolas" panose="020B0609020204030204" pitchFamily="49" charset="0"/>
            </a:endParaRPr>
          </a:p>
          <a:p>
            <a:br>
              <a:rPr lang="en-US" sz="1400" dirty="0">
                <a:solidFill>
                  <a:srgbClr val="000000"/>
                </a:solidFill>
                <a:latin typeface="Consolas" panose="020B0609020204030204" pitchFamily="49" charset="0"/>
              </a:rPr>
            </a:b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virtual</a:t>
            </a:r>
            <a:r>
              <a:rPr lang="en-US" sz="1400" dirty="0">
                <a:solidFill>
                  <a:srgbClr val="000000"/>
                </a:solidFill>
                <a:latin typeface="Consolas" panose="020B0609020204030204" pitchFamily="49" charset="0"/>
              </a:rPr>
              <a:t> ~Battleship()</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cout &lt;&lt; </a:t>
            </a:r>
            <a:r>
              <a:rPr lang="en-US" sz="1400" dirty="0">
                <a:solidFill>
                  <a:srgbClr val="A31515"/>
                </a:solidFill>
                <a:latin typeface="Consolas" panose="020B0609020204030204" pitchFamily="49" charset="0"/>
              </a:rPr>
              <a:t>"Battleship destroyed"</a:t>
            </a:r>
            <a:r>
              <a:rPr lang="en-US" sz="1400" dirty="0">
                <a:solidFill>
                  <a:srgbClr val="000000"/>
                </a:solidFill>
                <a:latin typeface="Consolas" panose="020B0609020204030204" pitchFamily="49" charset="0"/>
              </a:rPr>
              <a:t> &lt;&lt; endl;</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a:t>
            </a:r>
            <a:endParaRPr lang="en-US" sz="1400" b="0" dirty="0">
              <a:solidFill>
                <a:srgbClr val="000000"/>
              </a:solidFill>
              <a:effectLst/>
              <a:latin typeface="Consolas" panose="020B0609020204030204" pitchFamily="49" charset="0"/>
            </a:endParaRPr>
          </a:p>
        </p:txBody>
      </p:sp>
      <p:sp>
        <p:nvSpPr>
          <p:cNvPr id="5" name="Rectangle 4"/>
          <p:cNvSpPr/>
          <p:nvPr/>
        </p:nvSpPr>
        <p:spPr>
          <a:xfrm>
            <a:off x="6570961" y="1873948"/>
            <a:ext cx="4782839" cy="3754874"/>
          </a:xfrm>
          <a:prstGeom prst="rect">
            <a:avLst/>
          </a:prstGeom>
        </p:spPr>
        <p:txBody>
          <a:bodyPr wrap="square">
            <a:spAutoFit/>
          </a:bodyPr>
          <a:lstStyle/>
          <a:p>
            <a:r>
              <a:rPr lang="en-US" sz="1400" dirty="0">
                <a:solidFill>
                  <a:srgbClr val="0000FF"/>
                </a:solidFill>
                <a:latin typeface="Consolas" panose="020B0609020204030204" pitchFamily="49" charset="0"/>
              </a:rPr>
              <a:t>class</a:t>
            </a:r>
            <a:r>
              <a:rPr lang="en-US" sz="1400" dirty="0">
                <a:solidFill>
                  <a:srgbClr val="000000"/>
                </a:solidFill>
                <a:latin typeface="Consolas" panose="020B0609020204030204" pitchFamily="49" charset="0"/>
              </a:rPr>
              <a:t> Destroyer : </a:t>
            </a:r>
            <a:r>
              <a:rPr lang="en-US" sz="1400" dirty="0">
                <a:solidFill>
                  <a:srgbClr val="0000FF"/>
                </a:solidFill>
                <a:latin typeface="Consolas" panose="020B0609020204030204" pitchFamily="49" charset="0"/>
              </a:rPr>
              <a:t>public</a:t>
            </a:r>
            <a:r>
              <a:rPr lang="en-US" sz="1400" dirty="0">
                <a:solidFill>
                  <a:srgbClr val="000000"/>
                </a:solidFill>
                <a:latin typeface="Consolas" panose="020B0609020204030204" pitchFamily="49" charset="0"/>
              </a:rPr>
              <a:t> Battleship</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a:t>
            </a:r>
            <a:endParaRPr lang="en-US" sz="1400" dirty="0">
              <a:solidFill>
                <a:srgbClr val="000000"/>
              </a:solidFill>
              <a:latin typeface="Consolas" panose="020B0609020204030204" pitchFamily="49" charset="0"/>
            </a:endParaRPr>
          </a:p>
          <a:p>
            <a:r>
              <a:rPr lang="en-US" sz="1400" dirty="0">
                <a:solidFill>
                  <a:srgbClr val="0000FF"/>
                </a:solidFill>
                <a:latin typeface="Consolas" panose="020B0609020204030204" pitchFamily="49" charset="0"/>
              </a:rPr>
              <a:t>public:</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Destroyer()</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cout &lt;&lt; </a:t>
            </a:r>
            <a:r>
              <a:rPr lang="en-US" sz="1400" dirty="0">
                <a:solidFill>
                  <a:srgbClr val="A31515"/>
                </a:solidFill>
                <a:latin typeface="Consolas" panose="020B0609020204030204" pitchFamily="49" charset="0"/>
              </a:rPr>
              <a:t>"Destroyer Created"</a:t>
            </a:r>
            <a:r>
              <a:rPr lang="en-US" sz="1400" dirty="0">
                <a:solidFill>
                  <a:srgbClr val="000000"/>
                </a:solidFill>
                <a:latin typeface="Consolas" panose="020B0609020204030204" pitchFamily="49" charset="0"/>
              </a:rPr>
              <a:t> &lt;&lt; endl;</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void</a:t>
            </a:r>
            <a:r>
              <a:rPr lang="en-US" sz="1400" dirty="0">
                <a:solidFill>
                  <a:srgbClr val="000000"/>
                </a:solidFill>
                <a:latin typeface="Consolas" panose="020B0609020204030204" pitchFamily="49" charset="0"/>
              </a:rPr>
              <a:t> Fire() </a:t>
            </a:r>
            <a:r>
              <a:rPr lang="en-US" sz="1400" dirty="0">
                <a:solidFill>
                  <a:srgbClr val="0000FF"/>
                </a:solidFill>
                <a:latin typeface="Consolas" panose="020B0609020204030204" pitchFamily="49" charset="0"/>
              </a:rPr>
              <a:t>override</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cout &lt;&lt; </a:t>
            </a:r>
            <a:r>
              <a:rPr lang="en-US" sz="1400" dirty="0">
                <a:solidFill>
                  <a:srgbClr val="A31515"/>
                </a:solidFill>
                <a:latin typeface="Consolas" panose="020B0609020204030204" pitchFamily="49" charset="0"/>
              </a:rPr>
              <a:t>"Destroyer Fire"</a:t>
            </a:r>
            <a:r>
              <a:rPr lang="en-US" sz="1400" dirty="0">
                <a:solidFill>
                  <a:srgbClr val="000000"/>
                </a:solidFill>
                <a:latin typeface="Consolas" panose="020B0609020204030204" pitchFamily="49" charset="0"/>
              </a:rPr>
              <a:t> &lt;&lt; endl;</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a:t>
            </a:r>
            <a:endParaRPr lang="en-US" sz="1400" dirty="0">
              <a:solidFill>
                <a:srgbClr val="000000"/>
              </a:solidFill>
              <a:latin typeface="Consolas" panose="020B0609020204030204" pitchFamily="49" charset="0"/>
            </a:endParaRPr>
          </a:p>
          <a:p>
            <a:br>
              <a:rPr lang="en-US" sz="1400" dirty="0">
                <a:solidFill>
                  <a:srgbClr val="000000"/>
                </a:solidFill>
                <a:latin typeface="Consolas" panose="020B0609020204030204" pitchFamily="49" charset="0"/>
              </a:rPr>
            </a:b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void</a:t>
            </a:r>
            <a:r>
              <a:rPr lang="en-US" sz="1400" dirty="0">
                <a:solidFill>
                  <a:srgbClr val="000000"/>
                </a:solidFill>
                <a:latin typeface="Consolas" panose="020B0609020204030204" pitchFamily="49" charset="0"/>
              </a:rPr>
              <a:t> Steer() </a:t>
            </a:r>
            <a:r>
              <a:rPr lang="en-US" sz="1400" dirty="0">
                <a:solidFill>
                  <a:srgbClr val="0000FF"/>
                </a:solidFill>
                <a:latin typeface="Consolas" panose="020B0609020204030204" pitchFamily="49" charset="0"/>
              </a:rPr>
              <a:t>override</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cout &lt;&lt; </a:t>
            </a:r>
            <a:r>
              <a:rPr lang="en-US" sz="1400" dirty="0">
                <a:solidFill>
                  <a:srgbClr val="A31515"/>
                </a:solidFill>
                <a:latin typeface="Consolas" panose="020B0609020204030204" pitchFamily="49" charset="0"/>
              </a:rPr>
              <a:t>"Destroyer Steer"</a:t>
            </a:r>
            <a:r>
              <a:rPr lang="en-US" sz="1400" dirty="0">
                <a:solidFill>
                  <a:srgbClr val="000000"/>
                </a:solidFill>
                <a:latin typeface="Consolas" panose="020B0609020204030204" pitchFamily="49" charset="0"/>
              </a:rPr>
              <a:t> &lt;&lt; endl;</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a:t>
            </a:r>
            <a:endParaRPr lang="en-US" sz="1400" b="0" dirty="0">
              <a:solidFill>
                <a:srgbClr val="000000"/>
              </a:solidFill>
              <a:effectLst/>
              <a:latin typeface="Consolas" panose="020B0609020204030204" pitchFamily="49" charset="0"/>
            </a:endParaRPr>
          </a:p>
        </p:txBody>
      </p:sp>
      <p:cxnSp>
        <p:nvCxnSpPr>
          <p:cNvPr id="6" name="Straight Connector 5"/>
          <p:cNvCxnSpPr/>
          <p:nvPr/>
        </p:nvCxnSpPr>
        <p:spPr>
          <a:xfrm flipH="1">
            <a:off x="6096000" y="2065979"/>
            <a:ext cx="13751" cy="347197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3932608" y="1869681"/>
            <a:ext cx="1120656" cy="369332"/>
          </a:xfrm>
          <a:prstGeom prst="rect">
            <a:avLst/>
          </a:prstGeom>
          <a:noFill/>
        </p:spPr>
        <p:txBody>
          <a:bodyPr wrap="square" rtlCol="0">
            <a:spAutoFit/>
          </a:bodyPr>
          <a:lstStyle/>
          <a:p>
            <a:r>
              <a:rPr lang="en-US" b="1" dirty="0">
                <a:solidFill>
                  <a:srgbClr val="C00000"/>
                </a:solidFill>
                <a:latin typeface="Times New Roman" panose="02020603050405020304" pitchFamily="18" charset="0"/>
                <a:cs typeface="Times New Roman" panose="02020603050405020304" pitchFamily="18" charset="0"/>
              </a:rPr>
              <a:t>m</a:t>
            </a:r>
            <a:r>
              <a:rPr lang="en-US" b="1" dirty="0" smtClean="0">
                <a:solidFill>
                  <a:srgbClr val="C00000"/>
                </a:solidFill>
                <a:latin typeface="Times New Roman" panose="02020603050405020304" pitchFamily="18" charset="0"/>
                <a:cs typeface="Times New Roman" panose="02020603050405020304" pitchFamily="18" charset="0"/>
              </a:rPr>
              <a:t>ain.cpp</a:t>
            </a:r>
            <a:endParaRPr lang="en-US" b="1" dirty="0">
              <a:solidFill>
                <a:srgbClr val="C00000"/>
              </a:solidFill>
              <a:latin typeface="Times New Roman" panose="02020603050405020304" pitchFamily="18" charset="0"/>
              <a:cs typeface="Times New Roman" panose="02020603050405020304" pitchFamily="18" charset="0"/>
            </a:endParaRPr>
          </a:p>
        </p:txBody>
      </p:sp>
      <p:sp>
        <p:nvSpPr>
          <p:cNvPr id="8" name="TextBox 7"/>
          <p:cNvSpPr txBox="1"/>
          <p:nvPr/>
        </p:nvSpPr>
        <p:spPr>
          <a:xfrm>
            <a:off x="10354033" y="2075463"/>
            <a:ext cx="1120656" cy="369332"/>
          </a:xfrm>
          <a:prstGeom prst="rect">
            <a:avLst/>
          </a:prstGeom>
          <a:noFill/>
        </p:spPr>
        <p:txBody>
          <a:bodyPr wrap="square" rtlCol="0">
            <a:spAutoFit/>
          </a:bodyPr>
          <a:lstStyle/>
          <a:p>
            <a:r>
              <a:rPr lang="en-US" b="1" dirty="0">
                <a:solidFill>
                  <a:srgbClr val="C00000"/>
                </a:solidFill>
                <a:latin typeface="Times New Roman" panose="02020603050405020304" pitchFamily="18" charset="0"/>
                <a:cs typeface="Times New Roman" panose="02020603050405020304" pitchFamily="18" charset="0"/>
              </a:rPr>
              <a:t>m</a:t>
            </a:r>
            <a:r>
              <a:rPr lang="en-US" b="1" dirty="0" smtClean="0">
                <a:solidFill>
                  <a:srgbClr val="C00000"/>
                </a:solidFill>
                <a:latin typeface="Times New Roman" panose="02020603050405020304" pitchFamily="18" charset="0"/>
                <a:cs typeface="Times New Roman" panose="02020603050405020304" pitchFamily="18" charset="0"/>
              </a:rPr>
              <a:t>ain.cpp</a:t>
            </a:r>
            <a:endParaRPr lang="en-US" b="1" dirty="0">
              <a:solidFill>
                <a:srgbClr val="C0000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Example 1 - Code</a:t>
            </a:r>
            <a:endParaRPr lang="en-US" dirty="0"/>
          </a:p>
        </p:txBody>
      </p:sp>
      <p:sp>
        <p:nvSpPr>
          <p:cNvPr id="4" name="Rectangle 3"/>
          <p:cNvSpPr/>
          <p:nvPr/>
        </p:nvSpPr>
        <p:spPr>
          <a:xfrm>
            <a:off x="838200" y="2116949"/>
            <a:ext cx="4380068" cy="3754874"/>
          </a:xfrm>
          <a:prstGeom prst="rect">
            <a:avLst/>
          </a:prstGeom>
        </p:spPr>
        <p:txBody>
          <a:bodyPr wrap="square">
            <a:spAutoFit/>
          </a:bodyPr>
          <a:lstStyle/>
          <a:p>
            <a:r>
              <a:rPr lang="en-US" sz="1400" dirty="0">
                <a:solidFill>
                  <a:srgbClr val="0000FF"/>
                </a:solidFill>
                <a:latin typeface="Consolas" panose="020B0609020204030204" pitchFamily="49" charset="0"/>
              </a:rPr>
              <a:t>class</a:t>
            </a:r>
            <a:r>
              <a:rPr lang="en-US" sz="1400" dirty="0">
                <a:solidFill>
                  <a:srgbClr val="000000"/>
                </a:solidFill>
                <a:latin typeface="Consolas" panose="020B0609020204030204" pitchFamily="49" charset="0"/>
              </a:rPr>
              <a:t> Carrier : </a:t>
            </a:r>
            <a:r>
              <a:rPr lang="en-US" sz="1400" dirty="0">
                <a:solidFill>
                  <a:srgbClr val="0000FF"/>
                </a:solidFill>
                <a:latin typeface="Consolas" panose="020B0609020204030204" pitchFamily="49" charset="0"/>
              </a:rPr>
              <a:t>public</a:t>
            </a:r>
            <a:r>
              <a:rPr lang="en-US" sz="1400" dirty="0">
                <a:solidFill>
                  <a:srgbClr val="000000"/>
                </a:solidFill>
                <a:latin typeface="Consolas" panose="020B0609020204030204" pitchFamily="49" charset="0"/>
              </a:rPr>
              <a:t> Battleship</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a:t>
            </a:r>
            <a:endParaRPr lang="en-US" sz="1400" dirty="0">
              <a:solidFill>
                <a:srgbClr val="000000"/>
              </a:solidFill>
              <a:latin typeface="Consolas" panose="020B0609020204030204" pitchFamily="49" charset="0"/>
            </a:endParaRPr>
          </a:p>
          <a:p>
            <a:r>
              <a:rPr lang="en-US" sz="1400" dirty="0">
                <a:solidFill>
                  <a:srgbClr val="0000FF"/>
                </a:solidFill>
                <a:latin typeface="Consolas" panose="020B0609020204030204" pitchFamily="49" charset="0"/>
              </a:rPr>
              <a:t>public:</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Carrier()</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cout &lt;&lt; </a:t>
            </a:r>
            <a:r>
              <a:rPr lang="en-US" sz="1400" dirty="0">
                <a:solidFill>
                  <a:srgbClr val="A31515"/>
                </a:solidFill>
                <a:latin typeface="Consolas" panose="020B0609020204030204" pitchFamily="49" charset="0"/>
              </a:rPr>
              <a:t>"Carrier Created"</a:t>
            </a:r>
            <a:r>
              <a:rPr lang="en-US" sz="1400" dirty="0">
                <a:solidFill>
                  <a:srgbClr val="000000"/>
                </a:solidFill>
                <a:latin typeface="Consolas" panose="020B0609020204030204" pitchFamily="49" charset="0"/>
              </a:rPr>
              <a:t> &lt;&lt; endl;</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void</a:t>
            </a:r>
            <a:r>
              <a:rPr lang="en-US" sz="1400" dirty="0">
                <a:solidFill>
                  <a:srgbClr val="000000"/>
                </a:solidFill>
                <a:latin typeface="Consolas" panose="020B0609020204030204" pitchFamily="49" charset="0"/>
              </a:rPr>
              <a:t> Fire() </a:t>
            </a:r>
            <a:r>
              <a:rPr lang="en-US" sz="1400" dirty="0">
                <a:solidFill>
                  <a:srgbClr val="0000FF"/>
                </a:solidFill>
                <a:latin typeface="Consolas" panose="020B0609020204030204" pitchFamily="49" charset="0"/>
              </a:rPr>
              <a:t>override</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cout &lt;&lt; </a:t>
            </a:r>
            <a:r>
              <a:rPr lang="en-US" sz="1400" dirty="0">
                <a:solidFill>
                  <a:srgbClr val="A31515"/>
                </a:solidFill>
                <a:latin typeface="Consolas" panose="020B0609020204030204" pitchFamily="49" charset="0"/>
              </a:rPr>
              <a:t>"Carrier Fire"</a:t>
            </a:r>
            <a:r>
              <a:rPr lang="en-US" sz="1400" dirty="0">
                <a:solidFill>
                  <a:srgbClr val="000000"/>
                </a:solidFill>
                <a:latin typeface="Consolas" panose="020B0609020204030204" pitchFamily="49" charset="0"/>
              </a:rPr>
              <a:t> &lt;&lt; endl;</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a:t>
            </a:r>
            <a:endParaRPr lang="en-US" sz="1400" dirty="0">
              <a:solidFill>
                <a:srgbClr val="000000"/>
              </a:solidFill>
              <a:latin typeface="Consolas" panose="020B0609020204030204" pitchFamily="49" charset="0"/>
            </a:endParaRPr>
          </a:p>
          <a:p>
            <a:br>
              <a:rPr lang="en-US" sz="1400" dirty="0">
                <a:solidFill>
                  <a:srgbClr val="000000"/>
                </a:solidFill>
                <a:latin typeface="Consolas" panose="020B0609020204030204" pitchFamily="49" charset="0"/>
              </a:rPr>
            </a:b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void</a:t>
            </a:r>
            <a:r>
              <a:rPr lang="en-US" sz="1400" dirty="0">
                <a:solidFill>
                  <a:srgbClr val="000000"/>
                </a:solidFill>
                <a:latin typeface="Consolas" panose="020B0609020204030204" pitchFamily="49" charset="0"/>
              </a:rPr>
              <a:t> Steer() </a:t>
            </a:r>
            <a:r>
              <a:rPr lang="en-US" sz="1400" dirty="0">
                <a:solidFill>
                  <a:srgbClr val="0000FF"/>
                </a:solidFill>
                <a:latin typeface="Consolas" panose="020B0609020204030204" pitchFamily="49" charset="0"/>
              </a:rPr>
              <a:t>override</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cout &lt;&lt; </a:t>
            </a:r>
            <a:r>
              <a:rPr lang="en-US" sz="1400" dirty="0">
                <a:solidFill>
                  <a:srgbClr val="A31515"/>
                </a:solidFill>
                <a:latin typeface="Consolas" panose="020B0609020204030204" pitchFamily="49" charset="0"/>
              </a:rPr>
              <a:t>"Carrier Steer"</a:t>
            </a:r>
            <a:r>
              <a:rPr lang="en-US" sz="1400" dirty="0">
                <a:solidFill>
                  <a:srgbClr val="000000"/>
                </a:solidFill>
                <a:latin typeface="Consolas" panose="020B0609020204030204" pitchFamily="49" charset="0"/>
              </a:rPr>
              <a:t> &lt;&lt; endl;</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a:t>
            </a:r>
            <a:endParaRPr lang="en-US" sz="1400" b="0" dirty="0">
              <a:solidFill>
                <a:srgbClr val="000000"/>
              </a:solidFill>
              <a:effectLst/>
              <a:latin typeface="Consolas" panose="020B0609020204030204" pitchFamily="49" charset="0"/>
            </a:endParaRPr>
          </a:p>
        </p:txBody>
      </p:sp>
      <p:sp>
        <p:nvSpPr>
          <p:cNvPr id="5" name="Rectangle 4"/>
          <p:cNvSpPr/>
          <p:nvPr/>
        </p:nvSpPr>
        <p:spPr>
          <a:xfrm>
            <a:off x="6515386" y="1791471"/>
            <a:ext cx="5041805" cy="4832092"/>
          </a:xfrm>
          <a:prstGeom prst="rect">
            <a:avLst/>
          </a:prstGeom>
        </p:spPr>
        <p:txBody>
          <a:bodyPr wrap="square">
            <a:spAutoFit/>
          </a:bodyPr>
          <a:lstStyle/>
          <a:p>
            <a:r>
              <a:rPr lang="en-US" sz="1400" dirty="0">
                <a:solidFill>
                  <a:srgbClr val="008000"/>
                </a:solidFill>
                <a:latin typeface="Consolas" panose="020B0609020204030204" pitchFamily="49" charset="0"/>
              </a:rPr>
              <a:t>// run-time polymorphism</a:t>
            </a:r>
            <a:endParaRPr lang="en-US" sz="1400" dirty="0">
              <a:solidFill>
                <a:srgbClr val="000000"/>
              </a:solidFill>
              <a:latin typeface="Consolas" panose="020B0609020204030204" pitchFamily="49" charset="0"/>
            </a:endParaRPr>
          </a:p>
          <a:p>
            <a:r>
              <a:rPr lang="en-US" sz="1400" dirty="0">
                <a:solidFill>
                  <a:srgbClr val="0000FF"/>
                </a:solidFill>
                <a:latin typeface="Consolas" panose="020B0609020204030204" pitchFamily="49" charset="0"/>
              </a:rPr>
              <a:t>class</a:t>
            </a:r>
            <a:r>
              <a:rPr lang="en-US" sz="1400" dirty="0">
                <a:solidFill>
                  <a:srgbClr val="000000"/>
                </a:solidFill>
                <a:latin typeface="Consolas" panose="020B0609020204030204" pitchFamily="49" charset="0"/>
              </a:rPr>
              <a:t> ShipCreator</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a:t>
            </a:r>
            <a:endParaRPr lang="en-US" sz="1400" dirty="0">
              <a:solidFill>
                <a:srgbClr val="000000"/>
              </a:solidFill>
              <a:latin typeface="Consolas" panose="020B0609020204030204" pitchFamily="49" charset="0"/>
            </a:endParaRPr>
          </a:p>
          <a:p>
            <a:r>
              <a:rPr lang="en-US" sz="1400" dirty="0">
                <a:solidFill>
                  <a:srgbClr val="0000FF"/>
                </a:solidFill>
                <a:latin typeface="Consolas" panose="020B0609020204030204" pitchFamily="49" charset="0"/>
              </a:rPr>
              <a:t>public:</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virtual</a:t>
            </a:r>
            <a:r>
              <a:rPr lang="en-US" sz="1400" dirty="0">
                <a:solidFill>
                  <a:srgbClr val="000000"/>
                </a:solidFill>
                <a:latin typeface="Consolas" panose="020B0609020204030204" pitchFamily="49" charset="0"/>
              </a:rPr>
              <a:t> Battleship </a:t>
            </a:r>
            <a:r>
              <a:rPr lang="en-US" sz="1400" dirty="0">
                <a:solidFill>
                  <a:srgbClr val="0000FF"/>
                </a:solidFill>
                <a:latin typeface="Consolas" panose="020B0609020204030204" pitchFamily="49" charset="0"/>
              </a:rPr>
              <a:t>*</a:t>
            </a:r>
            <a:r>
              <a:rPr lang="en-US" sz="1400" dirty="0">
                <a:solidFill>
                  <a:srgbClr val="000000"/>
                </a:solidFill>
                <a:latin typeface="Consolas" panose="020B0609020204030204" pitchFamily="49" charset="0"/>
              </a:rPr>
              <a:t>FactoryMethod() = </a:t>
            </a:r>
            <a:r>
              <a:rPr lang="en-US" sz="1400" dirty="0">
                <a:solidFill>
                  <a:srgbClr val="098658"/>
                </a:solidFill>
                <a:latin typeface="Consolas" panose="020B0609020204030204" pitchFamily="49" charset="0"/>
              </a:rPr>
              <a:t>0</a:t>
            </a:r>
            <a:r>
              <a:rPr lang="en-US" sz="1400" dirty="0">
                <a:solidFill>
                  <a:srgbClr val="000000"/>
                </a:solidFill>
                <a:latin typeface="Consolas" panose="020B0609020204030204" pitchFamily="49" charset="0"/>
              </a:rPr>
              <a:t>;</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virtual</a:t>
            </a:r>
            <a:r>
              <a:rPr lang="en-US" sz="1400" dirty="0">
                <a:solidFill>
                  <a:srgbClr val="000000"/>
                </a:solidFill>
                <a:latin typeface="Consolas" panose="020B0609020204030204" pitchFamily="49" charset="0"/>
              </a:rPr>
              <a:t> ~ShipCreator() {}</a:t>
            </a:r>
            <a:endParaRPr lang="en-US" sz="1400" dirty="0">
              <a:solidFill>
                <a:srgbClr val="000000"/>
              </a:solidFill>
              <a:latin typeface="Consolas" panose="020B0609020204030204" pitchFamily="49" charset="0"/>
            </a:endParaRPr>
          </a:p>
          <a:p>
            <a:br>
              <a:rPr lang="en-US" sz="1400" dirty="0">
                <a:solidFill>
                  <a:srgbClr val="000000"/>
                </a:solidFill>
                <a:latin typeface="Consolas" panose="020B0609020204030204" pitchFamily="49" charset="0"/>
              </a:rPr>
            </a:br>
            <a:r>
              <a:rPr lang="en-US" sz="1400" dirty="0">
                <a:solidFill>
                  <a:srgbClr val="000000"/>
                </a:solidFill>
                <a:latin typeface="Consolas" panose="020B0609020204030204" pitchFamily="49" charset="0"/>
              </a:rPr>
              <a:t>    Battleship </a:t>
            </a:r>
            <a:r>
              <a:rPr lang="en-US" sz="1400" dirty="0">
                <a:solidFill>
                  <a:srgbClr val="0000FF"/>
                </a:solidFill>
                <a:latin typeface="Consolas" panose="020B0609020204030204" pitchFamily="49" charset="0"/>
              </a:rPr>
              <a:t>*</a:t>
            </a:r>
            <a:r>
              <a:rPr lang="en-US" sz="1400" dirty="0">
                <a:solidFill>
                  <a:srgbClr val="000000"/>
                </a:solidFill>
                <a:latin typeface="Consolas" panose="020B0609020204030204" pitchFamily="49" charset="0"/>
              </a:rPr>
              <a:t>CreateShip()</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Battleship *ptr = </a:t>
            </a:r>
            <a:r>
              <a:rPr lang="en-US" sz="1400" dirty="0">
                <a:solidFill>
                  <a:srgbClr val="0000FF"/>
                </a:solidFill>
                <a:latin typeface="Consolas" panose="020B0609020204030204" pitchFamily="49" charset="0"/>
              </a:rPr>
              <a:t>this</a:t>
            </a:r>
            <a:r>
              <a:rPr lang="en-US" sz="1400" dirty="0">
                <a:solidFill>
                  <a:srgbClr val="000000"/>
                </a:solidFill>
                <a:latin typeface="Consolas" panose="020B0609020204030204" pitchFamily="49" charset="0"/>
              </a:rPr>
              <a:t>-&gt;FactoryMethod();</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return</a:t>
            </a:r>
            <a:r>
              <a:rPr lang="en-US" sz="1400" dirty="0">
                <a:solidFill>
                  <a:srgbClr val="000000"/>
                </a:solidFill>
                <a:latin typeface="Consolas" panose="020B0609020204030204" pitchFamily="49" charset="0"/>
              </a:rPr>
              <a:t> ptr;</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a:t>
            </a:r>
            <a:endParaRPr lang="en-US" sz="1400" dirty="0">
              <a:solidFill>
                <a:srgbClr val="000000"/>
              </a:solidFill>
              <a:latin typeface="Consolas" panose="020B0609020204030204" pitchFamily="49" charset="0"/>
            </a:endParaRPr>
          </a:p>
          <a:p>
            <a:br>
              <a:rPr lang="en-US" sz="1400" dirty="0">
                <a:solidFill>
                  <a:srgbClr val="000000"/>
                </a:solidFill>
                <a:latin typeface="Consolas" panose="020B0609020204030204" pitchFamily="49" charset="0"/>
              </a:rPr>
            </a:br>
            <a:r>
              <a:rPr lang="en-US" sz="1400" dirty="0">
                <a:solidFill>
                  <a:srgbClr val="0000FF"/>
                </a:solidFill>
                <a:latin typeface="Consolas" panose="020B0609020204030204" pitchFamily="49" charset="0"/>
              </a:rPr>
              <a:t>class</a:t>
            </a:r>
            <a:r>
              <a:rPr lang="en-US" sz="1400" dirty="0">
                <a:solidFill>
                  <a:srgbClr val="000000"/>
                </a:solidFill>
                <a:latin typeface="Consolas" panose="020B0609020204030204" pitchFamily="49" charset="0"/>
              </a:rPr>
              <a:t> CarrierCreator : </a:t>
            </a:r>
            <a:r>
              <a:rPr lang="en-US" sz="1400" dirty="0">
                <a:solidFill>
                  <a:srgbClr val="0000FF"/>
                </a:solidFill>
                <a:latin typeface="Consolas" panose="020B0609020204030204" pitchFamily="49" charset="0"/>
              </a:rPr>
              <a:t>public</a:t>
            </a:r>
            <a:r>
              <a:rPr lang="en-US" sz="1400" dirty="0">
                <a:solidFill>
                  <a:srgbClr val="000000"/>
                </a:solidFill>
                <a:latin typeface="Consolas" panose="020B0609020204030204" pitchFamily="49" charset="0"/>
              </a:rPr>
              <a:t> ShipCreator</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a:t>
            </a:r>
            <a:endParaRPr lang="en-US" sz="1400" dirty="0">
              <a:solidFill>
                <a:srgbClr val="000000"/>
              </a:solidFill>
              <a:latin typeface="Consolas" panose="020B0609020204030204" pitchFamily="49" charset="0"/>
            </a:endParaRPr>
          </a:p>
          <a:p>
            <a:r>
              <a:rPr lang="en-US" sz="1400" dirty="0">
                <a:solidFill>
                  <a:srgbClr val="0000FF"/>
                </a:solidFill>
                <a:latin typeface="Consolas" panose="020B0609020204030204" pitchFamily="49" charset="0"/>
              </a:rPr>
              <a:t>public:</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Battleship </a:t>
            </a:r>
            <a:r>
              <a:rPr lang="en-US" sz="1400" dirty="0">
                <a:solidFill>
                  <a:srgbClr val="0000FF"/>
                </a:solidFill>
                <a:latin typeface="Consolas" panose="020B0609020204030204" pitchFamily="49" charset="0"/>
              </a:rPr>
              <a:t>*</a:t>
            </a:r>
            <a:r>
              <a:rPr lang="en-US" sz="1400" dirty="0">
                <a:solidFill>
                  <a:srgbClr val="000000"/>
                </a:solidFill>
                <a:latin typeface="Consolas" panose="020B0609020204030204" pitchFamily="49" charset="0"/>
              </a:rPr>
              <a:t>FactoryMethod() </a:t>
            </a:r>
            <a:r>
              <a:rPr lang="en-US" sz="1400" dirty="0">
                <a:solidFill>
                  <a:srgbClr val="0000FF"/>
                </a:solidFill>
                <a:latin typeface="Consolas" panose="020B0609020204030204" pitchFamily="49" charset="0"/>
              </a:rPr>
              <a:t>override</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return</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new</a:t>
            </a:r>
            <a:r>
              <a:rPr lang="en-US" sz="1400" dirty="0">
                <a:solidFill>
                  <a:srgbClr val="000000"/>
                </a:solidFill>
                <a:latin typeface="Consolas" panose="020B0609020204030204" pitchFamily="49" charset="0"/>
              </a:rPr>
              <a:t> Carrier();</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a:t>
            </a:r>
            <a:endParaRPr lang="en-US" sz="1400" b="0" dirty="0">
              <a:solidFill>
                <a:srgbClr val="000000"/>
              </a:solidFill>
              <a:effectLst/>
              <a:latin typeface="Consolas" panose="020B0609020204030204" pitchFamily="49" charset="0"/>
            </a:endParaRPr>
          </a:p>
        </p:txBody>
      </p:sp>
      <p:cxnSp>
        <p:nvCxnSpPr>
          <p:cNvPr id="6" name="Straight Connector 5"/>
          <p:cNvCxnSpPr/>
          <p:nvPr/>
        </p:nvCxnSpPr>
        <p:spPr>
          <a:xfrm flipH="1">
            <a:off x="5910370" y="2399853"/>
            <a:ext cx="13751" cy="347197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3933754" y="2550325"/>
            <a:ext cx="1120656" cy="369332"/>
          </a:xfrm>
          <a:prstGeom prst="rect">
            <a:avLst/>
          </a:prstGeom>
          <a:noFill/>
        </p:spPr>
        <p:txBody>
          <a:bodyPr wrap="square" rtlCol="0">
            <a:spAutoFit/>
          </a:bodyPr>
          <a:lstStyle/>
          <a:p>
            <a:r>
              <a:rPr lang="en-US" b="1" dirty="0">
                <a:solidFill>
                  <a:srgbClr val="C00000"/>
                </a:solidFill>
                <a:latin typeface="Times New Roman" panose="02020603050405020304" pitchFamily="18" charset="0"/>
                <a:cs typeface="Times New Roman" panose="02020603050405020304" pitchFamily="18" charset="0"/>
              </a:rPr>
              <a:t>m</a:t>
            </a:r>
            <a:r>
              <a:rPr lang="en-US" b="1" dirty="0" smtClean="0">
                <a:solidFill>
                  <a:srgbClr val="C00000"/>
                </a:solidFill>
                <a:latin typeface="Times New Roman" panose="02020603050405020304" pitchFamily="18" charset="0"/>
                <a:cs typeface="Times New Roman" panose="02020603050405020304" pitchFamily="18" charset="0"/>
              </a:rPr>
              <a:t>ain.cpp</a:t>
            </a:r>
            <a:endParaRPr lang="en-US" b="1" dirty="0">
              <a:solidFill>
                <a:srgbClr val="C00000"/>
              </a:solidFill>
              <a:latin typeface="Times New Roman" panose="02020603050405020304" pitchFamily="18" charset="0"/>
              <a:cs typeface="Times New Roman" panose="02020603050405020304" pitchFamily="18" charset="0"/>
            </a:endParaRPr>
          </a:p>
        </p:txBody>
      </p:sp>
      <p:sp>
        <p:nvSpPr>
          <p:cNvPr id="8" name="TextBox 7"/>
          <p:cNvSpPr txBox="1"/>
          <p:nvPr/>
        </p:nvSpPr>
        <p:spPr>
          <a:xfrm>
            <a:off x="9419008" y="2180993"/>
            <a:ext cx="1120656" cy="369332"/>
          </a:xfrm>
          <a:prstGeom prst="rect">
            <a:avLst/>
          </a:prstGeom>
          <a:noFill/>
        </p:spPr>
        <p:txBody>
          <a:bodyPr wrap="square" rtlCol="0">
            <a:spAutoFit/>
          </a:bodyPr>
          <a:lstStyle/>
          <a:p>
            <a:r>
              <a:rPr lang="en-US" b="1" dirty="0">
                <a:solidFill>
                  <a:srgbClr val="C00000"/>
                </a:solidFill>
                <a:latin typeface="Times New Roman" panose="02020603050405020304" pitchFamily="18" charset="0"/>
                <a:cs typeface="Times New Roman" panose="02020603050405020304" pitchFamily="18" charset="0"/>
              </a:rPr>
              <a:t>m</a:t>
            </a:r>
            <a:r>
              <a:rPr lang="en-US" b="1" dirty="0" smtClean="0">
                <a:solidFill>
                  <a:srgbClr val="C00000"/>
                </a:solidFill>
                <a:latin typeface="Times New Roman" panose="02020603050405020304" pitchFamily="18" charset="0"/>
                <a:cs typeface="Times New Roman" panose="02020603050405020304" pitchFamily="18" charset="0"/>
              </a:rPr>
              <a:t>ain.cpp</a:t>
            </a:r>
            <a:endParaRPr lang="en-US" b="1" dirty="0">
              <a:solidFill>
                <a:srgbClr val="C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Example 1 - Code</a:t>
            </a:r>
            <a:endParaRPr lang="en-US" dirty="0"/>
          </a:p>
        </p:txBody>
      </p:sp>
      <p:sp>
        <p:nvSpPr>
          <p:cNvPr id="4" name="Rectangle 3"/>
          <p:cNvSpPr/>
          <p:nvPr/>
        </p:nvSpPr>
        <p:spPr>
          <a:xfrm>
            <a:off x="838200" y="1834826"/>
            <a:ext cx="4545072" cy="1815882"/>
          </a:xfrm>
          <a:prstGeom prst="rect">
            <a:avLst/>
          </a:prstGeom>
        </p:spPr>
        <p:txBody>
          <a:bodyPr wrap="square">
            <a:spAutoFit/>
          </a:bodyPr>
          <a:lstStyle/>
          <a:p>
            <a:r>
              <a:rPr lang="en-US" sz="1400" dirty="0">
                <a:solidFill>
                  <a:srgbClr val="0000FF"/>
                </a:solidFill>
                <a:latin typeface="Consolas" panose="020B0609020204030204" pitchFamily="49" charset="0"/>
              </a:rPr>
              <a:t>class</a:t>
            </a:r>
            <a:r>
              <a:rPr lang="en-US" sz="1400" dirty="0">
                <a:solidFill>
                  <a:srgbClr val="000000"/>
                </a:solidFill>
                <a:latin typeface="Consolas" panose="020B0609020204030204" pitchFamily="49" charset="0"/>
              </a:rPr>
              <a:t> DestroyerCreator : </a:t>
            </a:r>
            <a:r>
              <a:rPr lang="en-US" sz="1400" dirty="0">
                <a:solidFill>
                  <a:srgbClr val="0000FF"/>
                </a:solidFill>
                <a:latin typeface="Consolas" panose="020B0609020204030204" pitchFamily="49" charset="0"/>
              </a:rPr>
              <a:t>public</a:t>
            </a:r>
            <a:r>
              <a:rPr lang="en-US" sz="1400" dirty="0">
                <a:solidFill>
                  <a:srgbClr val="000000"/>
                </a:solidFill>
                <a:latin typeface="Consolas" panose="020B0609020204030204" pitchFamily="49" charset="0"/>
              </a:rPr>
              <a:t> ShipCreator</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a:t>
            </a:r>
            <a:endParaRPr lang="en-US" sz="1400" dirty="0">
              <a:solidFill>
                <a:srgbClr val="000000"/>
              </a:solidFill>
              <a:latin typeface="Consolas" panose="020B0609020204030204" pitchFamily="49" charset="0"/>
            </a:endParaRPr>
          </a:p>
          <a:p>
            <a:r>
              <a:rPr lang="en-US" sz="1400" dirty="0">
                <a:solidFill>
                  <a:srgbClr val="0000FF"/>
                </a:solidFill>
                <a:latin typeface="Consolas" panose="020B0609020204030204" pitchFamily="49" charset="0"/>
              </a:rPr>
              <a:t>public:</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Battleship </a:t>
            </a:r>
            <a:r>
              <a:rPr lang="en-US" sz="1400" dirty="0">
                <a:solidFill>
                  <a:srgbClr val="0000FF"/>
                </a:solidFill>
                <a:latin typeface="Consolas" panose="020B0609020204030204" pitchFamily="49" charset="0"/>
              </a:rPr>
              <a:t>*</a:t>
            </a:r>
            <a:r>
              <a:rPr lang="en-US" sz="1400" dirty="0">
                <a:solidFill>
                  <a:srgbClr val="000000"/>
                </a:solidFill>
                <a:latin typeface="Consolas" panose="020B0609020204030204" pitchFamily="49" charset="0"/>
              </a:rPr>
              <a:t>FactoryMethod() </a:t>
            </a:r>
            <a:r>
              <a:rPr lang="en-US" sz="1400" dirty="0">
                <a:solidFill>
                  <a:srgbClr val="0000FF"/>
                </a:solidFill>
                <a:latin typeface="Consolas" panose="020B0609020204030204" pitchFamily="49" charset="0"/>
              </a:rPr>
              <a:t>override</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return</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new</a:t>
            </a:r>
            <a:r>
              <a:rPr lang="en-US" sz="1400" dirty="0">
                <a:solidFill>
                  <a:srgbClr val="000000"/>
                </a:solidFill>
                <a:latin typeface="Consolas" panose="020B0609020204030204" pitchFamily="49" charset="0"/>
              </a:rPr>
              <a:t> Destroyer();</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a:t>
            </a:r>
            <a:endParaRPr lang="en-US" sz="1400" b="0" dirty="0">
              <a:solidFill>
                <a:srgbClr val="000000"/>
              </a:solidFill>
              <a:effectLst/>
              <a:latin typeface="Consolas" panose="020B0609020204030204" pitchFamily="49" charset="0"/>
            </a:endParaRPr>
          </a:p>
        </p:txBody>
      </p:sp>
      <p:sp>
        <p:nvSpPr>
          <p:cNvPr id="5" name="Rectangle 4"/>
          <p:cNvSpPr/>
          <p:nvPr/>
        </p:nvSpPr>
        <p:spPr>
          <a:xfrm>
            <a:off x="5997455" y="1834826"/>
            <a:ext cx="5435983" cy="3970318"/>
          </a:xfrm>
          <a:prstGeom prst="rect">
            <a:avLst/>
          </a:prstGeom>
        </p:spPr>
        <p:txBody>
          <a:bodyPr wrap="square">
            <a:spAutoFit/>
          </a:bodyPr>
          <a:lstStyle/>
          <a:p>
            <a:r>
              <a:rPr lang="en-US" sz="1400" dirty="0">
                <a:solidFill>
                  <a:srgbClr val="0000FF"/>
                </a:solidFill>
                <a:latin typeface="Consolas" panose="020B0609020204030204" pitchFamily="49" charset="0"/>
              </a:rPr>
              <a:t>int</a:t>
            </a:r>
            <a:r>
              <a:rPr lang="en-US" sz="1400" dirty="0">
                <a:solidFill>
                  <a:srgbClr val="000000"/>
                </a:solidFill>
                <a:latin typeface="Consolas" panose="020B0609020204030204" pitchFamily="49" charset="0"/>
              </a:rPr>
              <a:t> main()</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ShipCreator *creator = </a:t>
            </a:r>
            <a:r>
              <a:rPr lang="en-US" sz="1400" dirty="0">
                <a:solidFill>
                  <a:srgbClr val="0000FF"/>
                </a:solidFill>
                <a:latin typeface="Consolas" panose="020B0609020204030204" pitchFamily="49" charset="0"/>
              </a:rPr>
              <a:t>new</a:t>
            </a:r>
            <a:r>
              <a:rPr lang="en-US" sz="1400" dirty="0">
                <a:solidFill>
                  <a:srgbClr val="000000"/>
                </a:solidFill>
                <a:latin typeface="Consolas" panose="020B0609020204030204" pitchFamily="49" charset="0"/>
              </a:rPr>
              <a:t> CarrierCreator();</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Battleship *battleship1 = creator-&gt;CreateShip();</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battleship1-&gt;Fire();</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battleship1-&gt;Steer();</a:t>
            </a:r>
            <a:endParaRPr lang="en-US" sz="1400" dirty="0">
              <a:solidFill>
                <a:srgbClr val="000000"/>
              </a:solidFill>
              <a:latin typeface="Consolas" panose="020B0609020204030204" pitchFamily="49" charset="0"/>
            </a:endParaRPr>
          </a:p>
          <a:p>
            <a:br>
              <a:rPr lang="en-US" sz="1400" dirty="0">
                <a:solidFill>
                  <a:srgbClr val="000000"/>
                </a:solidFill>
                <a:latin typeface="Consolas" panose="020B0609020204030204" pitchFamily="49" charset="0"/>
              </a:rPr>
            </a:br>
            <a:r>
              <a:rPr lang="en-US" sz="1400" dirty="0">
                <a:solidFill>
                  <a:srgbClr val="000000"/>
                </a:solidFill>
                <a:latin typeface="Consolas" panose="020B0609020204030204" pitchFamily="49" charset="0"/>
              </a:rPr>
              <a:t>    cout &lt;&lt; </a:t>
            </a:r>
            <a:r>
              <a:rPr lang="en-US" sz="1400" dirty="0">
                <a:solidFill>
                  <a:srgbClr val="A31515"/>
                </a:solidFill>
                <a:latin typeface="Consolas" panose="020B0609020204030204" pitchFamily="49" charset="0"/>
              </a:rPr>
              <a:t>"\</a:t>
            </a:r>
            <a:r>
              <a:rPr lang="en-US" sz="1400" dirty="0" err="1">
                <a:solidFill>
                  <a:srgbClr val="A31515"/>
                </a:solidFill>
                <a:latin typeface="Consolas" panose="020B0609020204030204" pitchFamily="49" charset="0"/>
              </a:rPr>
              <a:t>nSecond</a:t>
            </a:r>
            <a:r>
              <a:rPr lang="en-US" sz="1400" dirty="0">
                <a:solidFill>
                  <a:srgbClr val="A31515"/>
                </a:solidFill>
                <a:latin typeface="Consolas" panose="020B0609020204030204" pitchFamily="49" charset="0"/>
              </a:rPr>
              <a:t> Battleship:\n"</a:t>
            </a:r>
            <a:r>
              <a:rPr lang="en-US" sz="1400" dirty="0">
                <a:solidFill>
                  <a:srgbClr val="000000"/>
                </a:solidFill>
                <a:latin typeface="Consolas" panose="020B0609020204030204" pitchFamily="49" charset="0"/>
              </a:rPr>
              <a:t>;</a:t>
            </a:r>
            <a:endParaRPr lang="en-US" sz="1400" dirty="0">
              <a:solidFill>
                <a:srgbClr val="000000"/>
              </a:solidFill>
              <a:latin typeface="Consolas" panose="020B0609020204030204" pitchFamily="49" charset="0"/>
            </a:endParaRPr>
          </a:p>
          <a:p>
            <a:br>
              <a:rPr lang="en-US" sz="1400" dirty="0">
                <a:solidFill>
                  <a:srgbClr val="000000"/>
                </a:solidFill>
                <a:latin typeface="Consolas" panose="020B0609020204030204" pitchFamily="49" charset="0"/>
              </a:rPr>
            </a:br>
            <a:r>
              <a:rPr lang="en-US" sz="1400" dirty="0">
                <a:solidFill>
                  <a:srgbClr val="000000"/>
                </a:solidFill>
                <a:latin typeface="Consolas" panose="020B0609020204030204" pitchFamily="49" charset="0"/>
              </a:rPr>
              <a:t>    creator = </a:t>
            </a:r>
            <a:r>
              <a:rPr lang="en-US" sz="1400" dirty="0">
                <a:solidFill>
                  <a:srgbClr val="0000FF"/>
                </a:solidFill>
                <a:latin typeface="Consolas" panose="020B0609020204030204" pitchFamily="49" charset="0"/>
              </a:rPr>
              <a:t>new</a:t>
            </a:r>
            <a:r>
              <a:rPr lang="en-US" sz="1400" dirty="0">
                <a:solidFill>
                  <a:srgbClr val="000000"/>
                </a:solidFill>
                <a:latin typeface="Consolas" panose="020B0609020204030204" pitchFamily="49" charset="0"/>
              </a:rPr>
              <a:t> DestroyerCreator();</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Battleship *battleship2 = creator-&gt;CreateShip();</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battleship2-&gt;Fire();</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battleship2-&gt;Steer();</a:t>
            </a:r>
            <a:endParaRPr lang="en-US" sz="1400" dirty="0">
              <a:solidFill>
                <a:srgbClr val="000000"/>
              </a:solidFill>
              <a:latin typeface="Consolas" panose="020B0609020204030204" pitchFamily="49" charset="0"/>
            </a:endParaRPr>
          </a:p>
          <a:p>
            <a:br>
              <a:rPr lang="en-US" sz="1400" dirty="0">
                <a:solidFill>
                  <a:srgbClr val="000000"/>
                </a:solidFill>
                <a:latin typeface="Consolas" panose="020B0609020204030204" pitchFamily="49" charset="0"/>
              </a:rPr>
            </a:b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delete</a:t>
            </a:r>
            <a:r>
              <a:rPr lang="en-US" sz="1400" dirty="0">
                <a:solidFill>
                  <a:srgbClr val="000000"/>
                </a:solidFill>
                <a:latin typeface="Consolas" panose="020B0609020204030204" pitchFamily="49" charset="0"/>
              </a:rPr>
              <a:t> battleship1;</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delete</a:t>
            </a:r>
            <a:r>
              <a:rPr lang="en-US" sz="1400" dirty="0">
                <a:solidFill>
                  <a:srgbClr val="000000"/>
                </a:solidFill>
                <a:latin typeface="Consolas" panose="020B0609020204030204" pitchFamily="49" charset="0"/>
              </a:rPr>
              <a:t> battleship2;</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delete</a:t>
            </a:r>
            <a:r>
              <a:rPr lang="en-US" sz="1400" dirty="0">
                <a:solidFill>
                  <a:srgbClr val="000000"/>
                </a:solidFill>
                <a:latin typeface="Consolas" panose="020B0609020204030204" pitchFamily="49" charset="0"/>
              </a:rPr>
              <a:t> creator;</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a:t>
            </a:r>
            <a:endParaRPr lang="en-US" sz="1400" b="0" dirty="0">
              <a:solidFill>
                <a:srgbClr val="000000"/>
              </a:solidFill>
              <a:effectLst/>
              <a:latin typeface="Consolas" panose="020B0609020204030204" pitchFamily="49" charset="0"/>
            </a:endParaRPr>
          </a:p>
        </p:txBody>
      </p:sp>
      <p:sp>
        <p:nvSpPr>
          <p:cNvPr id="6" name="TextBox 5"/>
          <p:cNvSpPr txBox="1"/>
          <p:nvPr/>
        </p:nvSpPr>
        <p:spPr>
          <a:xfrm>
            <a:off x="3863856" y="2034685"/>
            <a:ext cx="1120656" cy="369332"/>
          </a:xfrm>
          <a:prstGeom prst="rect">
            <a:avLst/>
          </a:prstGeom>
          <a:noFill/>
        </p:spPr>
        <p:txBody>
          <a:bodyPr wrap="square" rtlCol="0">
            <a:spAutoFit/>
          </a:bodyPr>
          <a:lstStyle/>
          <a:p>
            <a:r>
              <a:rPr lang="en-US" b="1" dirty="0">
                <a:solidFill>
                  <a:srgbClr val="C00000"/>
                </a:solidFill>
                <a:latin typeface="Times New Roman" panose="02020603050405020304" pitchFamily="18" charset="0"/>
                <a:cs typeface="Times New Roman" panose="02020603050405020304" pitchFamily="18" charset="0"/>
              </a:rPr>
              <a:t>m</a:t>
            </a:r>
            <a:r>
              <a:rPr lang="en-US" b="1" dirty="0" smtClean="0">
                <a:solidFill>
                  <a:srgbClr val="C00000"/>
                </a:solidFill>
                <a:latin typeface="Times New Roman" panose="02020603050405020304" pitchFamily="18" charset="0"/>
                <a:cs typeface="Times New Roman" panose="02020603050405020304" pitchFamily="18" charset="0"/>
              </a:rPr>
              <a:t>ain.cpp</a:t>
            </a:r>
            <a:endParaRPr lang="en-US" b="1" dirty="0">
              <a:solidFill>
                <a:srgbClr val="C00000"/>
              </a:solidFill>
              <a:latin typeface="Times New Roman" panose="02020603050405020304" pitchFamily="18" charset="0"/>
              <a:cs typeface="Times New Roman" panose="02020603050405020304" pitchFamily="18" charset="0"/>
            </a:endParaRPr>
          </a:p>
        </p:txBody>
      </p:sp>
      <p:sp>
        <p:nvSpPr>
          <p:cNvPr id="7" name="TextBox 6"/>
          <p:cNvSpPr txBox="1"/>
          <p:nvPr/>
        </p:nvSpPr>
        <p:spPr>
          <a:xfrm>
            <a:off x="9494635" y="2742767"/>
            <a:ext cx="1106905" cy="369332"/>
          </a:xfrm>
          <a:prstGeom prst="rect">
            <a:avLst/>
          </a:prstGeom>
          <a:noFill/>
        </p:spPr>
        <p:txBody>
          <a:bodyPr wrap="square" rtlCol="0">
            <a:spAutoFit/>
          </a:bodyPr>
          <a:lstStyle/>
          <a:p>
            <a:r>
              <a:rPr lang="en-US" b="1" dirty="0">
                <a:solidFill>
                  <a:srgbClr val="C00000"/>
                </a:solidFill>
                <a:latin typeface="Times New Roman" panose="02020603050405020304" pitchFamily="18" charset="0"/>
                <a:cs typeface="Times New Roman" panose="02020603050405020304" pitchFamily="18" charset="0"/>
              </a:rPr>
              <a:t>m</a:t>
            </a:r>
            <a:r>
              <a:rPr lang="en-US" b="1" dirty="0" smtClean="0">
                <a:solidFill>
                  <a:srgbClr val="C00000"/>
                </a:solidFill>
                <a:latin typeface="Times New Roman" panose="02020603050405020304" pitchFamily="18" charset="0"/>
                <a:cs typeface="Times New Roman" panose="02020603050405020304" pitchFamily="18" charset="0"/>
              </a:rPr>
              <a:t>ain.cpp</a:t>
            </a:r>
            <a:endParaRPr lang="en-US" b="1" dirty="0">
              <a:solidFill>
                <a:srgbClr val="C00000"/>
              </a:solidFill>
              <a:latin typeface="Times New Roman" panose="02020603050405020304" pitchFamily="18" charset="0"/>
              <a:cs typeface="Times New Roman" panose="02020603050405020304" pitchFamily="18" charset="0"/>
            </a:endParaRPr>
          </a:p>
        </p:txBody>
      </p:sp>
      <p:cxnSp>
        <p:nvCxnSpPr>
          <p:cNvPr id="8" name="Straight Connector 7"/>
          <p:cNvCxnSpPr/>
          <p:nvPr/>
        </p:nvCxnSpPr>
        <p:spPr>
          <a:xfrm flipH="1">
            <a:off x="5683488" y="2404017"/>
            <a:ext cx="13751" cy="347197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a:off x="2499131" y="3581841"/>
            <a:ext cx="2232144" cy="2893100"/>
          </a:xfrm>
          <a:prstGeom prst="rect">
            <a:avLst/>
          </a:prstGeom>
        </p:spPr>
        <p:txBody>
          <a:bodyPr wrap="square">
            <a:spAutoFit/>
          </a:bodyPr>
          <a:lstStyle/>
          <a:p>
            <a:r>
              <a:rPr lang="en-US" sz="1400" b="1" dirty="0" smtClean="0">
                <a:solidFill>
                  <a:srgbClr val="C00000"/>
                </a:solidFill>
                <a:latin typeface="Times New Roman" panose="02020603050405020304" pitchFamily="18" charset="0"/>
                <a:cs typeface="Times New Roman" panose="02020603050405020304" pitchFamily="18" charset="0"/>
              </a:rPr>
              <a:t>Output:</a:t>
            </a:r>
            <a:endParaRPr lang="en-US" sz="1400" b="1" dirty="0" smtClean="0">
              <a:solidFill>
                <a:srgbClr val="C00000"/>
              </a:solidFill>
              <a:latin typeface="Times New Roman" panose="02020603050405020304" pitchFamily="18" charset="0"/>
              <a:cs typeface="Times New Roman" panose="02020603050405020304" pitchFamily="18" charset="0"/>
            </a:endParaRPr>
          </a:p>
          <a:p>
            <a:r>
              <a:rPr lang="en-US" sz="1400" dirty="0" smtClean="0">
                <a:solidFill>
                  <a:srgbClr val="7030A0"/>
                </a:solidFill>
                <a:latin typeface="Times New Roman" panose="02020603050405020304" pitchFamily="18" charset="0"/>
                <a:cs typeface="Times New Roman" panose="02020603050405020304" pitchFamily="18" charset="0"/>
              </a:rPr>
              <a:t>Battleship </a:t>
            </a:r>
            <a:r>
              <a:rPr lang="en-US" sz="1400" dirty="0">
                <a:solidFill>
                  <a:srgbClr val="7030A0"/>
                </a:solidFill>
                <a:latin typeface="Times New Roman" panose="02020603050405020304" pitchFamily="18" charset="0"/>
                <a:cs typeface="Times New Roman" panose="02020603050405020304" pitchFamily="18" charset="0"/>
              </a:rPr>
              <a:t>Created</a:t>
            </a:r>
            <a:endParaRPr lang="en-US" sz="1400" dirty="0">
              <a:solidFill>
                <a:srgbClr val="7030A0"/>
              </a:solidFill>
              <a:latin typeface="Times New Roman" panose="02020603050405020304" pitchFamily="18" charset="0"/>
              <a:cs typeface="Times New Roman" panose="02020603050405020304" pitchFamily="18" charset="0"/>
            </a:endParaRPr>
          </a:p>
          <a:p>
            <a:r>
              <a:rPr lang="en-US" sz="1400" dirty="0">
                <a:solidFill>
                  <a:srgbClr val="7030A0"/>
                </a:solidFill>
                <a:latin typeface="Times New Roman" panose="02020603050405020304" pitchFamily="18" charset="0"/>
                <a:cs typeface="Times New Roman" panose="02020603050405020304" pitchFamily="18" charset="0"/>
              </a:rPr>
              <a:t>Carrier Created</a:t>
            </a:r>
            <a:endParaRPr lang="en-US" sz="1400" dirty="0">
              <a:solidFill>
                <a:srgbClr val="7030A0"/>
              </a:solidFill>
              <a:latin typeface="Times New Roman" panose="02020603050405020304" pitchFamily="18" charset="0"/>
              <a:cs typeface="Times New Roman" panose="02020603050405020304" pitchFamily="18" charset="0"/>
            </a:endParaRPr>
          </a:p>
          <a:p>
            <a:r>
              <a:rPr lang="en-US" sz="1400" dirty="0">
                <a:solidFill>
                  <a:srgbClr val="7030A0"/>
                </a:solidFill>
                <a:latin typeface="Times New Roman" panose="02020603050405020304" pitchFamily="18" charset="0"/>
                <a:cs typeface="Times New Roman" panose="02020603050405020304" pitchFamily="18" charset="0"/>
              </a:rPr>
              <a:t>Carrier Fire</a:t>
            </a:r>
            <a:endParaRPr lang="en-US" sz="1400" dirty="0">
              <a:solidFill>
                <a:srgbClr val="7030A0"/>
              </a:solidFill>
              <a:latin typeface="Times New Roman" panose="02020603050405020304" pitchFamily="18" charset="0"/>
              <a:cs typeface="Times New Roman" panose="02020603050405020304" pitchFamily="18" charset="0"/>
            </a:endParaRPr>
          </a:p>
          <a:p>
            <a:r>
              <a:rPr lang="en-US" sz="1400" dirty="0">
                <a:solidFill>
                  <a:srgbClr val="7030A0"/>
                </a:solidFill>
                <a:latin typeface="Times New Roman" panose="02020603050405020304" pitchFamily="18" charset="0"/>
                <a:cs typeface="Times New Roman" panose="02020603050405020304" pitchFamily="18" charset="0"/>
              </a:rPr>
              <a:t>Carrier Steer</a:t>
            </a:r>
            <a:endParaRPr lang="en-US" sz="1400" dirty="0">
              <a:solidFill>
                <a:srgbClr val="7030A0"/>
              </a:solidFill>
              <a:latin typeface="Times New Roman" panose="02020603050405020304" pitchFamily="18" charset="0"/>
              <a:cs typeface="Times New Roman" panose="02020603050405020304" pitchFamily="18" charset="0"/>
            </a:endParaRPr>
          </a:p>
          <a:p>
            <a:endParaRPr lang="en-US" sz="1400" dirty="0">
              <a:solidFill>
                <a:srgbClr val="7030A0"/>
              </a:solidFill>
              <a:latin typeface="Times New Roman" panose="02020603050405020304" pitchFamily="18" charset="0"/>
              <a:cs typeface="Times New Roman" panose="02020603050405020304" pitchFamily="18" charset="0"/>
            </a:endParaRPr>
          </a:p>
          <a:p>
            <a:r>
              <a:rPr lang="en-US" sz="1400" dirty="0">
                <a:solidFill>
                  <a:srgbClr val="7030A0"/>
                </a:solidFill>
                <a:latin typeface="Times New Roman" panose="02020603050405020304" pitchFamily="18" charset="0"/>
                <a:cs typeface="Times New Roman" panose="02020603050405020304" pitchFamily="18" charset="0"/>
              </a:rPr>
              <a:t>Second Battleship:</a:t>
            </a:r>
            <a:endParaRPr lang="en-US" sz="1400" dirty="0">
              <a:solidFill>
                <a:srgbClr val="7030A0"/>
              </a:solidFill>
              <a:latin typeface="Times New Roman" panose="02020603050405020304" pitchFamily="18" charset="0"/>
              <a:cs typeface="Times New Roman" panose="02020603050405020304" pitchFamily="18" charset="0"/>
            </a:endParaRPr>
          </a:p>
          <a:p>
            <a:r>
              <a:rPr lang="en-US" sz="1400" dirty="0">
                <a:solidFill>
                  <a:srgbClr val="7030A0"/>
                </a:solidFill>
                <a:latin typeface="Times New Roman" panose="02020603050405020304" pitchFamily="18" charset="0"/>
                <a:cs typeface="Times New Roman" panose="02020603050405020304" pitchFamily="18" charset="0"/>
              </a:rPr>
              <a:t>Battleship Created</a:t>
            </a:r>
            <a:endParaRPr lang="en-US" sz="1400" dirty="0">
              <a:solidFill>
                <a:srgbClr val="7030A0"/>
              </a:solidFill>
              <a:latin typeface="Times New Roman" panose="02020603050405020304" pitchFamily="18" charset="0"/>
              <a:cs typeface="Times New Roman" panose="02020603050405020304" pitchFamily="18" charset="0"/>
            </a:endParaRPr>
          </a:p>
          <a:p>
            <a:r>
              <a:rPr lang="en-US" sz="1400" dirty="0">
                <a:solidFill>
                  <a:srgbClr val="7030A0"/>
                </a:solidFill>
                <a:latin typeface="Times New Roman" panose="02020603050405020304" pitchFamily="18" charset="0"/>
                <a:cs typeface="Times New Roman" panose="02020603050405020304" pitchFamily="18" charset="0"/>
              </a:rPr>
              <a:t>Destroyer Created</a:t>
            </a:r>
            <a:endParaRPr lang="en-US" sz="1400" dirty="0">
              <a:solidFill>
                <a:srgbClr val="7030A0"/>
              </a:solidFill>
              <a:latin typeface="Times New Roman" panose="02020603050405020304" pitchFamily="18" charset="0"/>
              <a:cs typeface="Times New Roman" panose="02020603050405020304" pitchFamily="18" charset="0"/>
            </a:endParaRPr>
          </a:p>
          <a:p>
            <a:r>
              <a:rPr lang="en-US" sz="1400" dirty="0">
                <a:solidFill>
                  <a:srgbClr val="7030A0"/>
                </a:solidFill>
                <a:latin typeface="Times New Roman" panose="02020603050405020304" pitchFamily="18" charset="0"/>
                <a:cs typeface="Times New Roman" panose="02020603050405020304" pitchFamily="18" charset="0"/>
              </a:rPr>
              <a:t>Destroyer Fire</a:t>
            </a:r>
            <a:endParaRPr lang="en-US" sz="1400" dirty="0">
              <a:solidFill>
                <a:srgbClr val="7030A0"/>
              </a:solidFill>
              <a:latin typeface="Times New Roman" panose="02020603050405020304" pitchFamily="18" charset="0"/>
              <a:cs typeface="Times New Roman" panose="02020603050405020304" pitchFamily="18" charset="0"/>
            </a:endParaRPr>
          </a:p>
          <a:p>
            <a:r>
              <a:rPr lang="en-US" sz="1400" dirty="0">
                <a:solidFill>
                  <a:srgbClr val="7030A0"/>
                </a:solidFill>
                <a:latin typeface="Times New Roman" panose="02020603050405020304" pitchFamily="18" charset="0"/>
                <a:cs typeface="Times New Roman" panose="02020603050405020304" pitchFamily="18" charset="0"/>
              </a:rPr>
              <a:t>Destroyer Steer</a:t>
            </a:r>
            <a:endParaRPr lang="en-US" sz="1400" dirty="0">
              <a:solidFill>
                <a:srgbClr val="7030A0"/>
              </a:solidFill>
              <a:latin typeface="Times New Roman" panose="02020603050405020304" pitchFamily="18" charset="0"/>
              <a:cs typeface="Times New Roman" panose="02020603050405020304" pitchFamily="18" charset="0"/>
            </a:endParaRPr>
          </a:p>
          <a:p>
            <a:r>
              <a:rPr lang="en-US" sz="1400" dirty="0">
                <a:solidFill>
                  <a:srgbClr val="7030A0"/>
                </a:solidFill>
                <a:latin typeface="Times New Roman" panose="02020603050405020304" pitchFamily="18" charset="0"/>
                <a:cs typeface="Times New Roman" panose="02020603050405020304" pitchFamily="18" charset="0"/>
              </a:rPr>
              <a:t>Battleship destroyed</a:t>
            </a:r>
            <a:endParaRPr lang="en-US" sz="1400" dirty="0">
              <a:solidFill>
                <a:srgbClr val="7030A0"/>
              </a:solidFill>
              <a:latin typeface="Times New Roman" panose="02020603050405020304" pitchFamily="18" charset="0"/>
              <a:cs typeface="Times New Roman" panose="02020603050405020304" pitchFamily="18" charset="0"/>
            </a:endParaRPr>
          </a:p>
          <a:p>
            <a:r>
              <a:rPr lang="en-US" sz="1400" dirty="0">
                <a:solidFill>
                  <a:srgbClr val="7030A0"/>
                </a:solidFill>
                <a:latin typeface="Times New Roman" panose="02020603050405020304" pitchFamily="18" charset="0"/>
                <a:cs typeface="Times New Roman" panose="02020603050405020304" pitchFamily="18" charset="0"/>
              </a:rPr>
              <a:t>Battleship destroyed</a:t>
            </a:r>
            <a:endParaRPr lang="en-US" sz="1400" dirty="0">
              <a:solidFill>
                <a:srgbClr val="7030A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a:latin typeface="Times New Roman" panose="02020603050405020304" pitchFamily="18" charset="0"/>
                <a:cs typeface="Times New Roman" panose="02020603050405020304" pitchFamily="18" charset="0"/>
              </a:rPr>
              <a:t>Example 2 (</a:t>
            </a:r>
            <a:r>
              <a:rPr lang="en-US" altLang="en-US" b="1">
                <a:latin typeface="Times New Roman" panose="02020603050405020304" pitchFamily="18" charset="0"/>
                <a:cs typeface="Times New Roman" panose="02020603050405020304" pitchFamily="18" charset="0"/>
              </a:rPr>
              <a:t>Restaurant Order Processing)</a:t>
            </a:r>
            <a:endParaRPr lang="en-US" altLang="en-US" b="1">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p>
            <a:pPr algn="just"/>
            <a:r>
              <a:rPr lang="en-US" altLang="en-US">
                <a:latin typeface="Times New Roman" panose="02020603050405020304" pitchFamily="18" charset="0"/>
                <a:cs typeface="Times New Roman" panose="02020603050405020304" pitchFamily="18" charset="0"/>
              </a:rPr>
              <a:t>Let’s say we want to work on a restaurant ordering system, which allows customers to order two types of foods: Pizza and Pasta.</a:t>
            </a:r>
            <a:endParaRPr lang="en-US" altLang="en-US">
              <a:latin typeface="Times New Roman" panose="02020603050405020304" pitchFamily="18" charset="0"/>
              <a:cs typeface="Times New Roman" panose="02020603050405020304" pitchFamily="18" charset="0"/>
            </a:endParaRPr>
          </a:p>
          <a:p>
            <a:pPr marL="0" indent="0" algn="just">
              <a:buNone/>
            </a:pPr>
            <a:endParaRPr lang="en-US" altLang="en-US">
              <a:latin typeface="Times New Roman" panose="02020603050405020304" pitchFamily="18" charset="0"/>
              <a:cs typeface="Times New Roman" panose="02020603050405020304" pitchFamily="18" charset="0"/>
            </a:endParaRPr>
          </a:p>
          <a:p>
            <a:pPr algn="just"/>
            <a:r>
              <a:rPr lang="en-US" altLang="en-US">
                <a:latin typeface="Times New Roman" panose="02020603050405020304" pitchFamily="18" charset="0"/>
                <a:cs typeface="Times New Roman" panose="02020603050405020304" pitchFamily="18" charset="0"/>
              </a:rPr>
              <a:t>A FoodFactory could be used to create different types of food items (e.g., PizzaFactory, PastaFactory). Each factory would handle the specifics of creating a particular food item, including ingredients, preparation steps, and pricing calculations.</a:t>
            </a:r>
            <a:endParaRPr lang="en-US" alt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a:latin typeface="Times New Roman" panose="02020603050405020304" pitchFamily="18" charset="0"/>
                <a:cs typeface="Times New Roman" panose="02020603050405020304" pitchFamily="18" charset="0"/>
                <a:sym typeface="+mn-ea"/>
              </a:rPr>
              <a:t>Example 2 (</a:t>
            </a:r>
            <a:r>
              <a:rPr lang="en-US" altLang="en-US" b="1">
                <a:latin typeface="Times New Roman" panose="02020603050405020304" pitchFamily="18" charset="0"/>
                <a:cs typeface="Times New Roman" panose="02020603050405020304" pitchFamily="18" charset="0"/>
                <a:sym typeface="+mn-ea"/>
              </a:rPr>
              <a:t>Restaurant Order Processing)</a:t>
            </a:r>
            <a:endParaRPr lang="en-US" b="1">
              <a:latin typeface="Times New Roman" panose="02020603050405020304" pitchFamily="18" charset="0"/>
              <a:cs typeface="Times New Roman" panose="02020603050405020304" pitchFamily="18" charset="0"/>
            </a:endParaRPr>
          </a:p>
        </p:txBody>
      </p:sp>
      <p:sp>
        <p:nvSpPr>
          <p:cNvPr id="4" name="Text Box 3"/>
          <p:cNvSpPr txBox="1"/>
          <p:nvPr/>
        </p:nvSpPr>
        <p:spPr>
          <a:xfrm>
            <a:off x="1084580" y="1691005"/>
            <a:ext cx="4519295" cy="4395470"/>
          </a:xfrm>
          <a:prstGeom prst="rect">
            <a:avLst/>
          </a:prstGeom>
        </p:spPr>
        <p:txBody>
          <a:bodyPr wrap="square">
            <a:noAutofit/>
          </a:bodyPr>
          <a:p>
            <a:pPr>
              <a:lnSpc>
                <a:spcPts val="1200"/>
              </a:lnSpc>
            </a:pPr>
            <a:r>
              <a:rPr sz="1400" b="0">
                <a:solidFill>
                  <a:srgbClr val="0000FF"/>
                </a:solidFill>
                <a:latin typeface="Consolas" panose="020B0609020204030204"/>
                <a:ea typeface="Consolas" panose="020B0609020204030204"/>
              </a:rPr>
              <a:t>#pragma </a:t>
            </a:r>
            <a:r>
              <a:rPr sz="1400" b="0">
                <a:solidFill>
                  <a:srgbClr val="E50000"/>
                </a:solidFill>
                <a:latin typeface="Consolas" panose="020B0609020204030204"/>
                <a:ea typeface="Consolas" panose="020B0609020204030204"/>
              </a:rPr>
              <a:t>once</a:t>
            </a:r>
            <a:endParaRPr sz="1400" b="0">
              <a:solidFill>
                <a:srgbClr val="E50000"/>
              </a:solidFill>
              <a:latin typeface="Consolas" panose="020B0609020204030204"/>
              <a:ea typeface="Consolas" panose="020B0609020204030204"/>
            </a:endParaRPr>
          </a:p>
          <a:p>
            <a:pPr>
              <a:lnSpc>
                <a:spcPts val="1200"/>
              </a:lnSpc>
            </a:pPr>
            <a:r>
              <a:rPr sz="1400" b="0">
                <a:solidFill>
                  <a:srgbClr val="0000FF"/>
                </a:solidFill>
                <a:latin typeface="Consolas" panose="020B0609020204030204"/>
                <a:ea typeface="Consolas" panose="020B0609020204030204"/>
              </a:rPr>
              <a:t>#include </a:t>
            </a:r>
            <a:r>
              <a:rPr sz="1400" b="0">
                <a:solidFill>
                  <a:srgbClr val="A31515"/>
                </a:solidFill>
                <a:latin typeface="Consolas" panose="020B0609020204030204"/>
                <a:ea typeface="Consolas" panose="020B0609020204030204"/>
              </a:rPr>
              <a:t>&lt;iostream&gt;</a:t>
            </a:r>
            <a:endParaRPr sz="1400" b="0">
              <a:solidFill>
                <a:srgbClr val="A31515"/>
              </a:solidFill>
              <a:latin typeface="Consolas" panose="020B0609020204030204"/>
              <a:ea typeface="Consolas" panose="020B0609020204030204"/>
            </a:endParaRPr>
          </a:p>
          <a:p>
            <a:pPr>
              <a:lnSpc>
                <a:spcPts val="1200"/>
              </a:lnSpc>
            </a:pPr>
            <a:r>
              <a:rPr sz="1400" b="0">
                <a:solidFill>
                  <a:srgbClr val="0000FF"/>
                </a:solidFill>
                <a:latin typeface="Consolas" panose="020B0609020204030204"/>
                <a:ea typeface="Consolas" panose="020B0609020204030204"/>
              </a:rPr>
              <a:t>#include </a:t>
            </a:r>
            <a:r>
              <a:rPr sz="1400" b="0">
                <a:solidFill>
                  <a:srgbClr val="A31515"/>
                </a:solidFill>
                <a:latin typeface="Consolas" panose="020B0609020204030204"/>
                <a:ea typeface="Consolas" panose="020B0609020204030204"/>
              </a:rPr>
              <a:t>&lt;unordered_map&gt;</a:t>
            </a:r>
            <a:endParaRPr sz="1400" b="0">
              <a:solidFill>
                <a:srgbClr val="A31515"/>
              </a:solidFill>
              <a:latin typeface="Consolas" panose="020B0609020204030204"/>
              <a:ea typeface="Consolas" panose="020B0609020204030204"/>
            </a:endParaRPr>
          </a:p>
          <a:p>
            <a:pPr>
              <a:lnSpc>
                <a:spcPts val="1200"/>
              </a:lnSpc>
            </a:pPr>
            <a:r>
              <a:rPr sz="1400" b="0">
                <a:solidFill>
                  <a:srgbClr val="0000FF"/>
                </a:solidFill>
                <a:latin typeface="Consolas" panose="020B0609020204030204"/>
                <a:ea typeface="Consolas" panose="020B0609020204030204"/>
              </a:rPr>
              <a:t>usingnamespace</a:t>
            </a:r>
            <a:r>
              <a:rPr sz="1400" b="0">
                <a:solidFill>
                  <a:srgbClr val="000000"/>
                </a:solidFill>
                <a:latin typeface="Consolas" panose="020B0609020204030204"/>
                <a:ea typeface="Consolas" panose="020B0609020204030204"/>
              </a:rPr>
              <a:t> std;</a:t>
            </a:r>
            <a:endParaRPr sz="1400" b="0">
              <a:solidFill>
                <a:srgbClr val="000000"/>
              </a:solidFill>
              <a:latin typeface="Consolas" panose="020B0609020204030204"/>
              <a:ea typeface="Consolas" panose="020B0609020204030204"/>
            </a:endParaRPr>
          </a:p>
          <a:p>
            <a:pPr>
              <a:lnSpc>
                <a:spcPts val="1200"/>
              </a:lnSpc>
            </a:pPr>
            <a:r>
              <a:rPr sz="1400" b="0">
                <a:solidFill>
                  <a:srgbClr val="008000"/>
                </a:solidFill>
                <a:latin typeface="Consolas" panose="020B0609020204030204"/>
                <a:ea typeface="Consolas" panose="020B0609020204030204"/>
              </a:rPr>
              <a:t>// Enum for food types</a:t>
            </a:r>
            <a:endParaRPr sz="1400" b="0">
              <a:solidFill>
                <a:srgbClr val="008000"/>
              </a:solidFill>
              <a:latin typeface="Consolas" panose="020B0609020204030204"/>
              <a:ea typeface="Consolas" panose="020B0609020204030204"/>
            </a:endParaRPr>
          </a:p>
          <a:p>
            <a:pPr>
              <a:lnSpc>
                <a:spcPts val="1200"/>
              </a:lnSpc>
            </a:pPr>
            <a:r>
              <a:rPr sz="1400" b="0">
                <a:solidFill>
                  <a:srgbClr val="0000FF"/>
                </a:solidFill>
                <a:latin typeface="Consolas" panose="020B0609020204030204"/>
                <a:ea typeface="Consolas" panose="020B0609020204030204"/>
              </a:rPr>
              <a:t>enumclass</a:t>
            </a:r>
            <a:r>
              <a:rPr sz="1400" b="0">
                <a:solidFill>
                  <a:srgbClr val="000000"/>
                </a:solidFill>
                <a:latin typeface="Consolas" panose="020B0609020204030204"/>
                <a:ea typeface="Consolas" panose="020B0609020204030204"/>
              </a:rPr>
              <a:t> FoodType</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a:t>
            </a:r>
            <a:r>
              <a:rPr sz="1400" b="0">
                <a:solidFill>
                  <a:srgbClr val="098658"/>
                </a:solidFill>
                <a:latin typeface="Consolas" panose="020B0609020204030204"/>
                <a:ea typeface="Consolas" panose="020B0609020204030204"/>
              </a:rPr>
              <a:t>PIZZA</a:t>
            </a:r>
            <a:r>
              <a:rPr sz="1400" b="0">
                <a:solidFill>
                  <a:srgbClr val="000000"/>
                </a:solidFill>
                <a:latin typeface="Consolas" panose="020B0609020204030204"/>
                <a:ea typeface="Consolas" panose="020B0609020204030204"/>
              </a:rPr>
              <a:t>,</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a:t>
            </a:r>
            <a:r>
              <a:rPr sz="1400" b="0">
                <a:solidFill>
                  <a:srgbClr val="098658"/>
                </a:solidFill>
                <a:latin typeface="Consolas" panose="020B0609020204030204"/>
                <a:ea typeface="Consolas" panose="020B0609020204030204"/>
              </a:rPr>
              <a:t>PASTA</a:t>
            </a:r>
            <a:endParaRPr sz="1400" b="0">
              <a:solidFill>
                <a:srgbClr val="098658"/>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a:t>
            </a:r>
            <a:endParaRPr sz="1400" b="0">
              <a:solidFill>
                <a:srgbClr val="000000"/>
              </a:solidFill>
              <a:latin typeface="Consolas" panose="020B0609020204030204"/>
              <a:ea typeface="Consolas" panose="020B0609020204030204"/>
            </a:endParaRPr>
          </a:p>
          <a:p>
            <a:pPr>
              <a:lnSpc>
                <a:spcPts val="1200"/>
              </a:lnSpc>
            </a:pPr>
            <a:r>
              <a:rPr sz="1400" b="0">
                <a:solidFill>
                  <a:srgbClr val="008000"/>
                </a:solidFill>
                <a:latin typeface="Consolas" panose="020B0609020204030204"/>
                <a:ea typeface="Consolas" panose="020B0609020204030204"/>
              </a:rPr>
              <a:t>// Abstract Product</a:t>
            </a:r>
            <a:endParaRPr sz="1400" b="0">
              <a:solidFill>
                <a:srgbClr val="008000"/>
              </a:solidFill>
              <a:latin typeface="Consolas" panose="020B0609020204030204"/>
              <a:ea typeface="Consolas" panose="020B0609020204030204"/>
            </a:endParaRPr>
          </a:p>
          <a:p>
            <a:pPr>
              <a:lnSpc>
                <a:spcPts val="1200"/>
              </a:lnSpc>
            </a:pPr>
            <a:r>
              <a:rPr sz="1400" b="0">
                <a:solidFill>
                  <a:srgbClr val="0000FF"/>
                </a:solidFill>
                <a:latin typeface="Consolas" panose="020B0609020204030204"/>
                <a:ea typeface="Consolas" panose="020B0609020204030204"/>
              </a:rPr>
              <a:t>class</a:t>
            </a:r>
            <a:r>
              <a:rPr sz="1400" b="0">
                <a:solidFill>
                  <a:srgbClr val="000000"/>
                </a:solidFill>
                <a:latin typeface="Consolas" panose="020B0609020204030204"/>
                <a:ea typeface="Consolas" panose="020B0609020204030204"/>
              </a:rPr>
              <a:t> FoodItem</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a:t>
            </a:r>
            <a:endParaRPr sz="1400" b="0">
              <a:solidFill>
                <a:srgbClr val="000000"/>
              </a:solidFill>
              <a:latin typeface="Consolas" panose="020B0609020204030204"/>
              <a:ea typeface="Consolas" panose="020B0609020204030204"/>
            </a:endParaRPr>
          </a:p>
          <a:p>
            <a:pPr>
              <a:lnSpc>
                <a:spcPts val="1200"/>
              </a:lnSpc>
            </a:pPr>
            <a:r>
              <a:rPr sz="1400" b="0">
                <a:solidFill>
                  <a:srgbClr val="0000FF"/>
                </a:solidFill>
                <a:latin typeface="Consolas" panose="020B0609020204030204"/>
                <a:ea typeface="Consolas" panose="020B0609020204030204"/>
              </a:rPr>
              <a:t>public:</a:t>
            </a:r>
            <a:endParaRPr sz="1400" b="0">
              <a:solidFill>
                <a:srgbClr val="0000FF"/>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a:t>
            </a:r>
            <a:r>
              <a:rPr sz="1400" b="0">
                <a:solidFill>
                  <a:srgbClr val="0000FF"/>
                </a:solidFill>
                <a:latin typeface="Consolas" panose="020B0609020204030204"/>
                <a:ea typeface="Consolas" panose="020B0609020204030204"/>
              </a:rPr>
              <a:t>virtualvoid</a:t>
            </a:r>
            <a:r>
              <a:rPr sz="1400" b="0">
                <a:solidFill>
                  <a:srgbClr val="000000"/>
                </a:solidFill>
                <a:latin typeface="Consolas" panose="020B0609020204030204"/>
                <a:ea typeface="Consolas" panose="020B0609020204030204"/>
              </a:rPr>
              <a:t> prepare() </a:t>
            </a:r>
            <a:r>
              <a:rPr sz="1400" b="0">
                <a:solidFill>
                  <a:srgbClr val="0000FF"/>
                </a:solidFill>
                <a:latin typeface="Consolas" panose="020B0609020204030204"/>
                <a:ea typeface="Consolas" panose="020B0609020204030204"/>
              </a:rPr>
              <a:t>const</a:t>
            </a:r>
            <a:r>
              <a:rPr sz="1400" b="0">
                <a:solidFill>
                  <a:srgbClr val="000000"/>
                </a:solidFill>
                <a:latin typeface="Consolas" panose="020B0609020204030204"/>
                <a:ea typeface="Consolas" panose="020B0609020204030204"/>
              </a:rPr>
              <a:t> = </a:t>
            </a:r>
            <a:r>
              <a:rPr sz="1400" b="0">
                <a:solidFill>
                  <a:srgbClr val="098658"/>
                </a:solidFill>
                <a:latin typeface="Consolas" panose="020B0609020204030204"/>
                <a:ea typeface="Consolas" panose="020B0609020204030204"/>
              </a:rPr>
              <a:t>0</a:t>
            </a:r>
            <a:r>
              <a:rPr sz="1400" b="0">
                <a:solidFill>
                  <a:srgbClr val="000000"/>
                </a:solidFill>
                <a:latin typeface="Consolas" panose="020B0609020204030204"/>
                <a:ea typeface="Consolas" panose="020B0609020204030204"/>
              </a:rPr>
              <a:t>;</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a:t>
            </a:r>
            <a:r>
              <a:rPr sz="1400" b="0">
                <a:solidFill>
                  <a:srgbClr val="0000FF"/>
                </a:solidFill>
                <a:latin typeface="Consolas" panose="020B0609020204030204"/>
                <a:ea typeface="Consolas" panose="020B0609020204030204"/>
              </a:rPr>
              <a:t>virtual</a:t>
            </a:r>
            <a:r>
              <a:rPr sz="1400" b="0">
                <a:solidFill>
                  <a:srgbClr val="000000"/>
                </a:solidFill>
                <a:latin typeface="Consolas" panose="020B0609020204030204"/>
                <a:ea typeface="Consolas" panose="020B0609020204030204"/>
              </a:rPr>
              <a:t> ~FoodItem() = </a:t>
            </a:r>
            <a:r>
              <a:rPr sz="1400" b="0">
                <a:solidFill>
                  <a:srgbClr val="0000FF"/>
                </a:solidFill>
                <a:latin typeface="Consolas" panose="020B0609020204030204"/>
                <a:ea typeface="Consolas" panose="020B0609020204030204"/>
              </a:rPr>
              <a:t>default</a:t>
            </a:r>
            <a:r>
              <a:rPr sz="1400" b="0">
                <a:solidFill>
                  <a:srgbClr val="000000"/>
                </a:solidFill>
                <a:latin typeface="Consolas" panose="020B0609020204030204"/>
                <a:ea typeface="Consolas" panose="020B0609020204030204"/>
              </a:rPr>
              <a:t>;</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a:t>
            </a:r>
            <a:endParaRPr sz="1400" b="0">
              <a:solidFill>
                <a:srgbClr val="000000"/>
              </a:solidFill>
              <a:latin typeface="Consolas" panose="020B0609020204030204"/>
              <a:ea typeface="Consolas" panose="020B0609020204030204"/>
            </a:endParaRPr>
          </a:p>
          <a:p>
            <a:pPr>
              <a:lnSpc>
                <a:spcPts val="1200"/>
              </a:lnSpc>
            </a:pPr>
            <a:r>
              <a:rPr sz="1400" b="0">
                <a:solidFill>
                  <a:srgbClr val="008000"/>
                </a:solidFill>
                <a:latin typeface="Consolas" panose="020B0609020204030204"/>
                <a:ea typeface="Consolas" panose="020B0609020204030204"/>
              </a:rPr>
              <a:t>// Concrete Products</a:t>
            </a:r>
            <a:endParaRPr sz="1400" b="0">
              <a:solidFill>
                <a:srgbClr val="008000"/>
              </a:solidFill>
              <a:latin typeface="Consolas" panose="020B0609020204030204"/>
              <a:ea typeface="Consolas" panose="020B0609020204030204"/>
            </a:endParaRPr>
          </a:p>
          <a:p>
            <a:pPr>
              <a:lnSpc>
                <a:spcPts val="1200"/>
              </a:lnSpc>
            </a:pPr>
            <a:r>
              <a:rPr sz="1400" b="0">
                <a:solidFill>
                  <a:srgbClr val="0000FF"/>
                </a:solidFill>
                <a:latin typeface="Consolas" panose="020B0609020204030204"/>
                <a:ea typeface="Consolas" panose="020B0609020204030204"/>
              </a:rPr>
              <a:t>class</a:t>
            </a:r>
            <a:r>
              <a:rPr sz="1400" b="0">
                <a:solidFill>
                  <a:srgbClr val="000000"/>
                </a:solidFill>
                <a:latin typeface="Consolas" panose="020B0609020204030204"/>
                <a:ea typeface="Consolas" panose="020B0609020204030204"/>
              </a:rPr>
              <a:t> CheesePizza : </a:t>
            </a:r>
            <a:r>
              <a:rPr sz="1400" b="0">
                <a:solidFill>
                  <a:srgbClr val="0000FF"/>
                </a:solidFill>
                <a:latin typeface="Consolas" panose="020B0609020204030204"/>
                <a:ea typeface="Consolas" panose="020B0609020204030204"/>
              </a:rPr>
              <a:t>public</a:t>
            </a:r>
            <a:r>
              <a:rPr sz="1400" b="0">
                <a:solidFill>
                  <a:srgbClr val="000000"/>
                </a:solidFill>
                <a:latin typeface="Consolas" panose="020B0609020204030204"/>
                <a:ea typeface="Consolas" panose="020B0609020204030204"/>
              </a:rPr>
              <a:t> FoodItem</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a:t>
            </a:r>
            <a:endParaRPr sz="1400" b="0">
              <a:solidFill>
                <a:srgbClr val="000000"/>
              </a:solidFill>
              <a:latin typeface="Consolas" panose="020B0609020204030204"/>
              <a:ea typeface="Consolas" panose="020B0609020204030204"/>
            </a:endParaRPr>
          </a:p>
          <a:p>
            <a:pPr>
              <a:lnSpc>
                <a:spcPts val="1200"/>
              </a:lnSpc>
            </a:pPr>
            <a:r>
              <a:rPr sz="1400" b="0">
                <a:solidFill>
                  <a:srgbClr val="0000FF"/>
                </a:solidFill>
                <a:latin typeface="Consolas" panose="020B0609020204030204"/>
                <a:ea typeface="Consolas" panose="020B0609020204030204"/>
              </a:rPr>
              <a:t>public:</a:t>
            </a:r>
            <a:endParaRPr sz="1400" b="0">
              <a:solidFill>
                <a:srgbClr val="0000FF"/>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a:t>
            </a:r>
            <a:r>
              <a:rPr sz="1400" b="0">
                <a:solidFill>
                  <a:srgbClr val="0000FF"/>
                </a:solidFill>
                <a:latin typeface="Consolas" panose="020B0609020204030204"/>
                <a:ea typeface="Consolas" panose="020B0609020204030204"/>
              </a:rPr>
              <a:t>void</a:t>
            </a:r>
            <a:r>
              <a:rPr sz="1400" b="0">
                <a:solidFill>
                  <a:srgbClr val="000000"/>
                </a:solidFill>
                <a:latin typeface="Consolas" panose="020B0609020204030204"/>
                <a:ea typeface="Consolas" panose="020B0609020204030204"/>
              </a:rPr>
              <a:t> prepare() </a:t>
            </a:r>
            <a:r>
              <a:rPr sz="1400" b="0">
                <a:solidFill>
                  <a:srgbClr val="0000FF"/>
                </a:solidFill>
                <a:latin typeface="Consolas" panose="020B0609020204030204"/>
                <a:ea typeface="Consolas" panose="020B0609020204030204"/>
              </a:rPr>
              <a:t>constoverride</a:t>
            </a:r>
            <a:endParaRPr sz="1400" b="0">
              <a:solidFill>
                <a:srgbClr val="0000FF"/>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cout &lt;&lt;</a:t>
            </a:r>
            <a:r>
              <a:rPr sz="1400" b="0">
                <a:solidFill>
                  <a:srgbClr val="A31515"/>
                </a:solidFill>
                <a:latin typeface="Consolas" panose="020B0609020204030204"/>
                <a:ea typeface="Consolas" panose="020B0609020204030204"/>
              </a:rPr>
              <a:t>"Preparing Cheese Pizza"</a:t>
            </a:r>
            <a:r>
              <a:rPr sz="1400" b="0">
                <a:solidFill>
                  <a:srgbClr val="000000"/>
                </a:solidFill>
                <a:latin typeface="Consolas" panose="020B0609020204030204"/>
                <a:ea typeface="Consolas" panose="020B0609020204030204"/>
              </a:rPr>
              <a:t>&lt;&lt; endl;</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a:t>
            </a:r>
            <a:endParaRPr sz="1400" b="0">
              <a:solidFill>
                <a:srgbClr val="000000"/>
              </a:solidFill>
              <a:latin typeface="Consolas" panose="020B0609020204030204"/>
              <a:ea typeface="Consolas" panose="020B0609020204030204"/>
            </a:endParaRPr>
          </a:p>
        </p:txBody>
      </p:sp>
      <p:sp>
        <p:nvSpPr>
          <p:cNvPr id="5" name="Text Box 4"/>
          <p:cNvSpPr txBox="1"/>
          <p:nvPr/>
        </p:nvSpPr>
        <p:spPr>
          <a:xfrm>
            <a:off x="6417310" y="2152015"/>
            <a:ext cx="5080000" cy="2553335"/>
          </a:xfrm>
          <a:prstGeom prst="rect">
            <a:avLst/>
          </a:prstGeom>
        </p:spPr>
        <p:txBody>
          <a:bodyPr>
            <a:spAutoFit/>
          </a:bodyPr>
          <a:p>
            <a:pPr>
              <a:lnSpc>
                <a:spcPts val="1200"/>
              </a:lnSpc>
            </a:pPr>
            <a:r>
              <a:rPr sz="1400" b="0">
                <a:solidFill>
                  <a:srgbClr val="0000FF"/>
                </a:solidFill>
                <a:latin typeface="Consolas" panose="020B0609020204030204"/>
                <a:ea typeface="Consolas" panose="020B0609020204030204"/>
              </a:rPr>
              <a:t>class</a:t>
            </a:r>
            <a:r>
              <a:rPr sz="1400" b="0">
                <a:solidFill>
                  <a:srgbClr val="000000"/>
                </a:solidFill>
                <a:latin typeface="Consolas" panose="020B0609020204030204"/>
                <a:ea typeface="Consolas" panose="020B0609020204030204"/>
              </a:rPr>
              <a:t> Pepperoni : </a:t>
            </a:r>
            <a:r>
              <a:rPr sz="1400" b="0">
                <a:solidFill>
                  <a:srgbClr val="0000FF"/>
                </a:solidFill>
                <a:latin typeface="Consolas" panose="020B0609020204030204"/>
                <a:ea typeface="Consolas" panose="020B0609020204030204"/>
              </a:rPr>
              <a:t>public</a:t>
            </a:r>
            <a:r>
              <a:rPr sz="1400" b="0">
                <a:solidFill>
                  <a:srgbClr val="000000"/>
                </a:solidFill>
                <a:latin typeface="Consolas" panose="020B0609020204030204"/>
                <a:ea typeface="Consolas" panose="020B0609020204030204"/>
              </a:rPr>
              <a:t> FoodItem</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a:t>
            </a:r>
            <a:endParaRPr sz="1400" b="0">
              <a:solidFill>
                <a:srgbClr val="000000"/>
              </a:solidFill>
              <a:latin typeface="Consolas" panose="020B0609020204030204"/>
              <a:ea typeface="Consolas" panose="020B0609020204030204"/>
            </a:endParaRPr>
          </a:p>
          <a:p>
            <a:pPr>
              <a:lnSpc>
                <a:spcPts val="1200"/>
              </a:lnSpc>
            </a:pPr>
            <a:r>
              <a:rPr sz="1400" b="0">
                <a:solidFill>
                  <a:srgbClr val="0000FF"/>
                </a:solidFill>
                <a:latin typeface="Consolas" panose="020B0609020204030204"/>
                <a:ea typeface="Consolas" panose="020B0609020204030204"/>
              </a:rPr>
              <a:t>public:</a:t>
            </a:r>
            <a:endParaRPr sz="1400" b="0">
              <a:solidFill>
                <a:srgbClr val="0000FF"/>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a:t>
            </a:r>
            <a:r>
              <a:rPr sz="1400" b="0">
                <a:solidFill>
                  <a:srgbClr val="0000FF"/>
                </a:solidFill>
                <a:latin typeface="Consolas" panose="020B0609020204030204"/>
                <a:ea typeface="Consolas" panose="020B0609020204030204"/>
              </a:rPr>
              <a:t>void</a:t>
            </a:r>
            <a:r>
              <a:rPr sz="1400" b="0">
                <a:solidFill>
                  <a:srgbClr val="000000"/>
                </a:solidFill>
                <a:latin typeface="Consolas" panose="020B0609020204030204"/>
                <a:ea typeface="Consolas" panose="020B0609020204030204"/>
              </a:rPr>
              <a:t> prepare() </a:t>
            </a:r>
            <a:r>
              <a:rPr sz="1400" b="0">
                <a:solidFill>
                  <a:srgbClr val="0000FF"/>
                </a:solidFill>
                <a:latin typeface="Consolas" panose="020B0609020204030204"/>
                <a:ea typeface="Consolas" panose="020B0609020204030204"/>
              </a:rPr>
              <a:t>constoverride</a:t>
            </a:r>
            <a:endParaRPr sz="1400" b="0">
              <a:solidFill>
                <a:srgbClr val="0000FF"/>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cout &lt;&lt;</a:t>
            </a:r>
            <a:r>
              <a:rPr sz="1400" b="0">
                <a:solidFill>
                  <a:srgbClr val="A31515"/>
                </a:solidFill>
                <a:latin typeface="Consolas" panose="020B0609020204030204"/>
                <a:ea typeface="Consolas" panose="020B0609020204030204"/>
              </a:rPr>
              <a:t>"Preparing Pepperoni Pizza"</a:t>
            </a:r>
            <a:r>
              <a:rPr sz="1400" b="0">
                <a:solidFill>
                  <a:srgbClr val="000000"/>
                </a:solidFill>
                <a:latin typeface="Consolas" panose="020B0609020204030204"/>
                <a:ea typeface="Consolas" panose="020B0609020204030204"/>
              </a:rPr>
              <a:t>&lt;&lt; endl;</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a:t>
            </a:r>
            <a:endParaRPr sz="1400" b="0">
              <a:solidFill>
                <a:srgbClr val="000000"/>
              </a:solidFill>
              <a:latin typeface="Consolas" panose="020B0609020204030204"/>
              <a:ea typeface="Consolas" panose="020B0609020204030204"/>
            </a:endParaRPr>
          </a:p>
          <a:p>
            <a:pPr>
              <a:lnSpc>
                <a:spcPts val="1200"/>
              </a:lnSpc>
            </a:pPr>
            <a:r>
              <a:rPr sz="1400" b="0">
                <a:solidFill>
                  <a:srgbClr val="0000FF"/>
                </a:solidFill>
                <a:latin typeface="Consolas" panose="020B0609020204030204"/>
                <a:ea typeface="Consolas" panose="020B0609020204030204"/>
              </a:rPr>
              <a:t>class</a:t>
            </a:r>
            <a:r>
              <a:rPr sz="1400" b="0">
                <a:solidFill>
                  <a:srgbClr val="000000"/>
                </a:solidFill>
                <a:latin typeface="Consolas" panose="020B0609020204030204"/>
                <a:ea typeface="Consolas" panose="020B0609020204030204"/>
              </a:rPr>
              <a:t> Spaghetti : </a:t>
            </a:r>
            <a:r>
              <a:rPr sz="1400" b="0">
                <a:solidFill>
                  <a:srgbClr val="0000FF"/>
                </a:solidFill>
                <a:latin typeface="Consolas" panose="020B0609020204030204"/>
                <a:ea typeface="Consolas" panose="020B0609020204030204"/>
              </a:rPr>
              <a:t>public</a:t>
            </a:r>
            <a:r>
              <a:rPr sz="1400" b="0">
                <a:solidFill>
                  <a:srgbClr val="000000"/>
                </a:solidFill>
                <a:latin typeface="Consolas" panose="020B0609020204030204"/>
                <a:ea typeface="Consolas" panose="020B0609020204030204"/>
              </a:rPr>
              <a:t> FoodItem</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a:t>
            </a:r>
            <a:endParaRPr sz="1400" b="0">
              <a:solidFill>
                <a:srgbClr val="000000"/>
              </a:solidFill>
              <a:latin typeface="Consolas" panose="020B0609020204030204"/>
              <a:ea typeface="Consolas" panose="020B0609020204030204"/>
            </a:endParaRPr>
          </a:p>
          <a:p>
            <a:pPr>
              <a:lnSpc>
                <a:spcPts val="1200"/>
              </a:lnSpc>
            </a:pPr>
            <a:r>
              <a:rPr sz="1400" b="0">
                <a:solidFill>
                  <a:srgbClr val="0000FF"/>
                </a:solidFill>
                <a:latin typeface="Consolas" panose="020B0609020204030204"/>
                <a:ea typeface="Consolas" panose="020B0609020204030204"/>
              </a:rPr>
              <a:t>public:</a:t>
            </a:r>
            <a:endParaRPr sz="1400" b="0">
              <a:solidFill>
                <a:srgbClr val="0000FF"/>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a:t>
            </a:r>
            <a:r>
              <a:rPr sz="1400" b="0">
                <a:solidFill>
                  <a:srgbClr val="0000FF"/>
                </a:solidFill>
                <a:latin typeface="Consolas" panose="020B0609020204030204"/>
                <a:ea typeface="Consolas" panose="020B0609020204030204"/>
              </a:rPr>
              <a:t>void</a:t>
            </a:r>
            <a:r>
              <a:rPr sz="1400" b="0">
                <a:solidFill>
                  <a:srgbClr val="000000"/>
                </a:solidFill>
                <a:latin typeface="Consolas" panose="020B0609020204030204"/>
                <a:ea typeface="Consolas" panose="020B0609020204030204"/>
              </a:rPr>
              <a:t> prepare() </a:t>
            </a:r>
            <a:r>
              <a:rPr sz="1400" b="0">
                <a:solidFill>
                  <a:srgbClr val="0000FF"/>
                </a:solidFill>
                <a:latin typeface="Consolas" panose="020B0609020204030204"/>
                <a:ea typeface="Consolas" panose="020B0609020204030204"/>
              </a:rPr>
              <a:t>constoverride</a:t>
            </a:r>
            <a:endParaRPr sz="1400" b="0">
              <a:solidFill>
                <a:srgbClr val="0000FF"/>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cout &lt;&lt;</a:t>
            </a:r>
            <a:r>
              <a:rPr sz="1400" b="0">
                <a:solidFill>
                  <a:srgbClr val="A31515"/>
                </a:solidFill>
                <a:latin typeface="Consolas" panose="020B0609020204030204"/>
                <a:ea typeface="Consolas" panose="020B0609020204030204"/>
              </a:rPr>
              <a:t>"Preparing Spaghetti"</a:t>
            </a:r>
            <a:r>
              <a:rPr sz="1400" b="0">
                <a:solidFill>
                  <a:srgbClr val="000000"/>
                </a:solidFill>
                <a:latin typeface="Consolas" panose="020B0609020204030204"/>
                <a:ea typeface="Consolas" panose="020B0609020204030204"/>
              </a:rPr>
              <a:t>&lt;&lt; endl;</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a:t>
            </a:r>
            <a:endParaRPr sz="1400" b="0">
              <a:solidFill>
                <a:srgbClr val="000000"/>
              </a:solidFill>
              <a:latin typeface="Consolas" panose="020B0609020204030204"/>
              <a:ea typeface="Consolas" panose="020B0609020204030204"/>
            </a:endParaRPr>
          </a:p>
        </p:txBody>
      </p:sp>
      <p:cxnSp>
        <p:nvCxnSpPr>
          <p:cNvPr id="6" name="Straight Connector 5"/>
          <p:cNvCxnSpPr/>
          <p:nvPr/>
        </p:nvCxnSpPr>
        <p:spPr>
          <a:xfrm>
            <a:off x="5933440" y="2320925"/>
            <a:ext cx="23495" cy="3507740"/>
          </a:xfrm>
          <a:prstGeom prst="line">
            <a:avLst/>
          </a:prstGeom>
          <a:ln w="38100">
            <a:solidFill>
              <a:schemeClr val="accent1"/>
            </a:solidFill>
          </a:ln>
        </p:spPr>
        <p:style>
          <a:lnRef idx="2">
            <a:schemeClr val="accent1"/>
          </a:lnRef>
          <a:fillRef idx="0">
            <a:srgbClr val="FFFFFF"/>
          </a:fillRef>
          <a:effectRef idx="0">
            <a:srgbClr val="FFFFFF"/>
          </a:effectRef>
          <a:fontRef idx="minor">
            <a:schemeClr val="tx1"/>
          </a:fontRef>
        </p:style>
      </p:cxnSp>
      <p:sp>
        <p:nvSpPr>
          <p:cNvPr id="7" name="Text Box 6"/>
          <p:cNvSpPr txBox="1"/>
          <p:nvPr/>
        </p:nvSpPr>
        <p:spPr>
          <a:xfrm>
            <a:off x="6915150" y="5295900"/>
            <a:ext cx="1359535" cy="389890"/>
          </a:xfrm>
          <a:prstGeom prst="rect">
            <a:avLst/>
          </a:prstGeom>
          <a:noFill/>
        </p:spPr>
        <p:txBody>
          <a:bodyPr wrap="square" rtlCol="0">
            <a:noAutofit/>
          </a:bodyPr>
          <a:p>
            <a:r>
              <a:rPr lang="en-US" b="1">
                <a:solidFill>
                  <a:srgbClr val="C00000"/>
                </a:solidFill>
                <a:latin typeface="Times New Roman" panose="02020603050405020304" pitchFamily="18" charset="0"/>
                <a:cs typeface="Times New Roman" panose="02020603050405020304" pitchFamily="18" charset="0"/>
              </a:rPr>
              <a:t>foodItem.h</a:t>
            </a:r>
            <a:endParaRPr lang="en-US" b="1">
              <a:solidFill>
                <a:srgbClr val="C00000"/>
              </a:solidFill>
              <a:latin typeface="Times New Roman" panose="02020603050405020304" pitchFamily="18" charset="0"/>
              <a:cs typeface="Times New Roman" panose="02020603050405020304" pitchFamily="18" charset="0"/>
            </a:endParaRPr>
          </a:p>
          <a:p>
            <a:endParaRPr lang="en-US" b="1">
              <a:solidFill>
                <a:srgbClr val="C00000"/>
              </a:solidFill>
              <a:latin typeface="Times New Roman" panose="02020603050405020304" pitchFamily="18" charset="0"/>
              <a:cs typeface="Times New Roman" panose="02020603050405020304" pitchFamily="18" charset="0"/>
            </a:endParaRPr>
          </a:p>
        </p:txBody>
      </p:sp>
      <p:sp>
        <p:nvSpPr>
          <p:cNvPr id="8" name="Text Box 7"/>
          <p:cNvSpPr txBox="1"/>
          <p:nvPr/>
        </p:nvSpPr>
        <p:spPr>
          <a:xfrm>
            <a:off x="3186430" y="5812790"/>
            <a:ext cx="1359535" cy="389890"/>
          </a:xfrm>
          <a:prstGeom prst="rect">
            <a:avLst/>
          </a:prstGeom>
          <a:noFill/>
        </p:spPr>
        <p:txBody>
          <a:bodyPr wrap="square" rtlCol="0">
            <a:noAutofit/>
          </a:bodyPr>
          <a:p>
            <a:r>
              <a:rPr lang="en-US" b="1">
                <a:solidFill>
                  <a:srgbClr val="C00000"/>
                </a:solidFill>
                <a:latin typeface="Times New Roman" panose="02020603050405020304" pitchFamily="18" charset="0"/>
                <a:cs typeface="Times New Roman" panose="02020603050405020304" pitchFamily="18" charset="0"/>
              </a:rPr>
              <a:t>foodItem.h</a:t>
            </a:r>
            <a:endParaRPr lang="en-US" b="1">
              <a:solidFill>
                <a:srgbClr val="C00000"/>
              </a:solidFill>
              <a:latin typeface="Times New Roman" panose="02020603050405020304" pitchFamily="18" charset="0"/>
              <a:cs typeface="Times New Roman" panose="02020603050405020304" pitchFamily="18" charset="0"/>
            </a:endParaRPr>
          </a:p>
          <a:p>
            <a:endParaRPr lang="en-US" b="1">
              <a:solidFill>
                <a:srgbClr val="C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a:latin typeface="Times New Roman" panose="02020603050405020304" pitchFamily="18" charset="0"/>
                <a:cs typeface="Times New Roman" panose="02020603050405020304" pitchFamily="18" charset="0"/>
                <a:sym typeface="+mn-ea"/>
              </a:rPr>
              <a:t>Example 2 (</a:t>
            </a:r>
            <a:r>
              <a:rPr lang="en-US" altLang="en-US" b="1">
                <a:latin typeface="Times New Roman" panose="02020603050405020304" pitchFamily="18" charset="0"/>
                <a:cs typeface="Times New Roman" panose="02020603050405020304" pitchFamily="18" charset="0"/>
                <a:sym typeface="+mn-ea"/>
              </a:rPr>
              <a:t>Restaurant Order Processing)</a:t>
            </a:r>
            <a:endParaRPr lang="en-US" b="1">
              <a:latin typeface="Times New Roman" panose="02020603050405020304" pitchFamily="18" charset="0"/>
              <a:cs typeface="Times New Roman" panose="02020603050405020304" pitchFamily="18" charset="0"/>
            </a:endParaRPr>
          </a:p>
        </p:txBody>
      </p:sp>
      <p:sp>
        <p:nvSpPr>
          <p:cNvPr id="4" name="Text Box 3"/>
          <p:cNvSpPr txBox="1"/>
          <p:nvPr/>
        </p:nvSpPr>
        <p:spPr>
          <a:xfrm>
            <a:off x="753110" y="1416685"/>
            <a:ext cx="4704080" cy="5323205"/>
          </a:xfrm>
          <a:prstGeom prst="rect">
            <a:avLst/>
          </a:prstGeom>
        </p:spPr>
        <p:txBody>
          <a:bodyPr wrap="square">
            <a:spAutoFit/>
          </a:bodyPr>
          <a:p>
            <a:pPr>
              <a:lnSpc>
                <a:spcPts val="1200"/>
              </a:lnSpc>
            </a:pPr>
            <a:r>
              <a:rPr sz="1200" b="0">
                <a:solidFill>
                  <a:srgbClr val="0000FF"/>
                </a:solidFill>
                <a:latin typeface="Consolas" panose="020B0609020204030204"/>
                <a:ea typeface="Consolas" panose="020B0609020204030204"/>
              </a:rPr>
              <a:t>#pragma </a:t>
            </a:r>
            <a:r>
              <a:rPr sz="1200" b="0">
                <a:solidFill>
                  <a:srgbClr val="E50000"/>
                </a:solidFill>
                <a:latin typeface="Consolas" panose="020B0609020204030204"/>
                <a:ea typeface="Consolas" panose="020B0609020204030204"/>
              </a:rPr>
              <a:t>once</a:t>
            </a:r>
            <a:endParaRPr sz="1200" b="0">
              <a:solidFill>
                <a:srgbClr val="E50000"/>
              </a:solidFill>
              <a:latin typeface="Consolas" panose="020B0609020204030204"/>
              <a:ea typeface="Consolas" panose="020B0609020204030204"/>
            </a:endParaRPr>
          </a:p>
          <a:p>
            <a:pPr>
              <a:lnSpc>
                <a:spcPts val="1200"/>
              </a:lnSpc>
            </a:pPr>
            <a:r>
              <a:rPr sz="1200" b="0">
                <a:solidFill>
                  <a:srgbClr val="0000FF"/>
                </a:solidFill>
                <a:latin typeface="Consolas" panose="020B0609020204030204"/>
                <a:ea typeface="Consolas" panose="020B0609020204030204"/>
              </a:rPr>
              <a:t>#include </a:t>
            </a:r>
            <a:r>
              <a:rPr sz="1200" b="0">
                <a:solidFill>
                  <a:srgbClr val="A31515"/>
                </a:solidFill>
                <a:latin typeface="Consolas" panose="020B0609020204030204"/>
                <a:ea typeface="Consolas" panose="020B0609020204030204"/>
              </a:rPr>
              <a:t>"foodItem.h"</a:t>
            </a:r>
            <a:endParaRPr sz="1200" b="0">
              <a:solidFill>
                <a:srgbClr val="A31515"/>
              </a:solidFill>
              <a:latin typeface="Consolas" panose="020B0609020204030204"/>
              <a:ea typeface="Consolas" panose="020B0609020204030204"/>
            </a:endParaRPr>
          </a:p>
          <a:p>
            <a:pPr>
              <a:lnSpc>
                <a:spcPts val="1200"/>
              </a:lnSpc>
            </a:pPr>
            <a:r>
              <a:rPr sz="1200" b="0">
                <a:solidFill>
                  <a:srgbClr val="008000"/>
                </a:solidFill>
                <a:latin typeface="Consolas" panose="020B0609020204030204"/>
                <a:ea typeface="Consolas" panose="020B0609020204030204"/>
              </a:rPr>
              <a:t>// Abstract Factory</a:t>
            </a:r>
            <a:endParaRPr sz="1200" b="0">
              <a:solidFill>
                <a:srgbClr val="008000"/>
              </a:solidFill>
              <a:latin typeface="Consolas" panose="020B0609020204030204"/>
              <a:ea typeface="Consolas" panose="020B0609020204030204"/>
            </a:endParaRPr>
          </a:p>
          <a:p>
            <a:pPr>
              <a:lnSpc>
                <a:spcPts val="1200"/>
              </a:lnSpc>
            </a:pPr>
            <a:endParaRPr sz="1200" b="0">
              <a:solidFill>
                <a:srgbClr val="008000"/>
              </a:solidFill>
              <a:latin typeface="Consolas" panose="020B0609020204030204"/>
              <a:ea typeface="Consolas" panose="020B0609020204030204"/>
            </a:endParaRPr>
          </a:p>
          <a:p>
            <a:pPr>
              <a:lnSpc>
                <a:spcPts val="1200"/>
              </a:lnSpc>
            </a:pPr>
            <a:r>
              <a:rPr sz="1200" b="0">
                <a:solidFill>
                  <a:srgbClr val="0000FF"/>
                </a:solidFill>
                <a:latin typeface="Consolas" panose="020B0609020204030204"/>
                <a:ea typeface="Consolas" panose="020B0609020204030204"/>
              </a:rPr>
              <a:t>class</a:t>
            </a:r>
            <a:r>
              <a:rPr sz="1200" b="0">
                <a:solidFill>
                  <a:srgbClr val="000000"/>
                </a:solidFill>
                <a:latin typeface="Consolas" panose="020B0609020204030204"/>
                <a:ea typeface="Consolas" panose="020B0609020204030204"/>
              </a:rPr>
              <a:t> FoodFactory</a:t>
            </a:r>
            <a:endParaRPr sz="1200" b="0">
              <a:solidFill>
                <a:srgbClr val="000000"/>
              </a:solidFill>
              <a:latin typeface="Consolas" panose="020B0609020204030204"/>
              <a:ea typeface="Consolas" panose="020B0609020204030204"/>
            </a:endParaRPr>
          </a:p>
          <a:p>
            <a:pPr>
              <a:lnSpc>
                <a:spcPts val="1200"/>
              </a:lnSpc>
            </a:pPr>
            <a:r>
              <a:rPr sz="1200" b="0">
                <a:solidFill>
                  <a:srgbClr val="000000"/>
                </a:solidFill>
                <a:latin typeface="Consolas" panose="020B0609020204030204"/>
                <a:ea typeface="Consolas" panose="020B0609020204030204"/>
              </a:rPr>
              <a:t>{</a:t>
            </a:r>
            <a:endParaRPr sz="1200" b="0">
              <a:solidFill>
                <a:srgbClr val="000000"/>
              </a:solidFill>
              <a:latin typeface="Consolas" panose="020B0609020204030204"/>
              <a:ea typeface="Consolas" panose="020B0609020204030204"/>
            </a:endParaRPr>
          </a:p>
          <a:p>
            <a:pPr>
              <a:lnSpc>
                <a:spcPts val="1200"/>
              </a:lnSpc>
            </a:pPr>
            <a:r>
              <a:rPr sz="1200" b="0">
                <a:solidFill>
                  <a:srgbClr val="0000FF"/>
                </a:solidFill>
                <a:latin typeface="Consolas" panose="020B0609020204030204"/>
                <a:ea typeface="Consolas" panose="020B0609020204030204"/>
              </a:rPr>
              <a:t>public:</a:t>
            </a:r>
            <a:endParaRPr sz="1200" b="0">
              <a:solidFill>
                <a:srgbClr val="0000FF"/>
              </a:solidFill>
              <a:latin typeface="Consolas" panose="020B0609020204030204"/>
              <a:ea typeface="Consolas" panose="020B0609020204030204"/>
            </a:endParaRPr>
          </a:p>
          <a:p>
            <a:pPr>
              <a:lnSpc>
                <a:spcPts val="1200"/>
              </a:lnSpc>
            </a:pPr>
            <a:r>
              <a:rPr sz="1200" b="0">
                <a:solidFill>
                  <a:srgbClr val="000000"/>
                </a:solidFill>
                <a:latin typeface="Consolas" panose="020B0609020204030204"/>
                <a:ea typeface="Consolas" panose="020B0609020204030204"/>
              </a:rPr>
              <a:t>    </a:t>
            </a:r>
            <a:r>
              <a:rPr sz="1200" b="0">
                <a:solidFill>
                  <a:srgbClr val="0000FF"/>
                </a:solidFill>
                <a:latin typeface="Consolas" panose="020B0609020204030204"/>
                <a:ea typeface="Consolas" panose="020B0609020204030204"/>
              </a:rPr>
              <a:t>virtual</a:t>
            </a:r>
            <a:r>
              <a:rPr sz="1200" b="0">
                <a:solidFill>
                  <a:srgbClr val="000000"/>
                </a:solidFill>
                <a:latin typeface="Consolas" panose="020B0609020204030204"/>
                <a:ea typeface="Consolas" panose="020B0609020204030204"/>
              </a:rPr>
              <a:t> FoodItem </a:t>
            </a:r>
            <a:r>
              <a:rPr sz="1200" b="0">
                <a:solidFill>
                  <a:srgbClr val="0000FF"/>
                </a:solidFill>
                <a:latin typeface="Consolas" panose="020B0609020204030204"/>
                <a:ea typeface="Consolas" panose="020B0609020204030204"/>
              </a:rPr>
              <a:t>*</a:t>
            </a:r>
            <a:r>
              <a:rPr sz="1200" b="0">
                <a:solidFill>
                  <a:srgbClr val="000000"/>
                </a:solidFill>
                <a:latin typeface="Consolas" panose="020B0609020204030204"/>
                <a:ea typeface="Consolas" panose="020B0609020204030204"/>
              </a:rPr>
              <a:t>createFood() </a:t>
            </a:r>
            <a:r>
              <a:rPr sz="1200" b="0">
                <a:solidFill>
                  <a:srgbClr val="0000FF"/>
                </a:solidFill>
                <a:latin typeface="Consolas" panose="020B0609020204030204"/>
                <a:ea typeface="Consolas" panose="020B0609020204030204"/>
              </a:rPr>
              <a:t>const</a:t>
            </a:r>
            <a:r>
              <a:rPr sz="1200" b="0">
                <a:solidFill>
                  <a:srgbClr val="000000"/>
                </a:solidFill>
                <a:latin typeface="Consolas" panose="020B0609020204030204"/>
                <a:ea typeface="Consolas" panose="020B0609020204030204"/>
              </a:rPr>
              <a:t> = </a:t>
            </a:r>
            <a:r>
              <a:rPr sz="1200" b="0">
                <a:solidFill>
                  <a:srgbClr val="098658"/>
                </a:solidFill>
                <a:latin typeface="Consolas" panose="020B0609020204030204"/>
                <a:ea typeface="Consolas" panose="020B0609020204030204"/>
              </a:rPr>
              <a:t>0</a:t>
            </a:r>
            <a:r>
              <a:rPr sz="1200" b="0">
                <a:solidFill>
                  <a:srgbClr val="000000"/>
                </a:solidFill>
                <a:latin typeface="Consolas" panose="020B0609020204030204"/>
                <a:ea typeface="Consolas" panose="020B0609020204030204"/>
              </a:rPr>
              <a:t>;</a:t>
            </a:r>
            <a:endParaRPr sz="1200" b="0">
              <a:solidFill>
                <a:srgbClr val="000000"/>
              </a:solidFill>
              <a:latin typeface="Consolas" panose="020B0609020204030204"/>
              <a:ea typeface="Consolas" panose="020B0609020204030204"/>
            </a:endParaRPr>
          </a:p>
          <a:p>
            <a:pPr>
              <a:lnSpc>
                <a:spcPts val="1200"/>
              </a:lnSpc>
            </a:pPr>
            <a:r>
              <a:rPr sz="1200" b="0">
                <a:solidFill>
                  <a:srgbClr val="000000"/>
                </a:solidFill>
                <a:latin typeface="Consolas" panose="020B0609020204030204"/>
                <a:ea typeface="Consolas" panose="020B0609020204030204"/>
              </a:rPr>
              <a:t>};</a:t>
            </a:r>
            <a:endParaRPr sz="1200" b="0">
              <a:solidFill>
                <a:srgbClr val="000000"/>
              </a:solidFill>
              <a:latin typeface="Consolas" panose="020B0609020204030204"/>
              <a:ea typeface="Consolas" panose="020B0609020204030204"/>
            </a:endParaRPr>
          </a:p>
          <a:p>
            <a:pPr>
              <a:lnSpc>
                <a:spcPts val="1200"/>
              </a:lnSpc>
            </a:pPr>
            <a:r>
              <a:rPr sz="1200" b="0">
                <a:solidFill>
                  <a:srgbClr val="008000"/>
                </a:solidFill>
                <a:latin typeface="Consolas" panose="020B0609020204030204"/>
                <a:ea typeface="Consolas" panose="020B0609020204030204"/>
              </a:rPr>
              <a:t>// Concrete Factory</a:t>
            </a:r>
            <a:endParaRPr sz="1200" b="0">
              <a:solidFill>
                <a:srgbClr val="008000"/>
              </a:solidFill>
              <a:latin typeface="Consolas" panose="020B0609020204030204"/>
              <a:ea typeface="Consolas" panose="020B0609020204030204"/>
            </a:endParaRPr>
          </a:p>
          <a:p>
            <a:pPr>
              <a:lnSpc>
                <a:spcPts val="1200"/>
              </a:lnSpc>
            </a:pPr>
            <a:r>
              <a:rPr sz="1200" b="0">
                <a:solidFill>
                  <a:srgbClr val="0000FF"/>
                </a:solidFill>
                <a:latin typeface="Consolas" panose="020B0609020204030204"/>
                <a:ea typeface="Consolas" panose="020B0609020204030204"/>
              </a:rPr>
              <a:t>class</a:t>
            </a:r>
            <a:r>
              <a:rPr sz="1200" b="0">
                <a:solidFill>
                  <a:srgbClr val="000000"/>
                </a:solidFill>
                <a:latin typeface="Consolas" panose="020B0609020204030204"/>
                <a:ea typeface="Consolas" panose="020B0609020204030204"/>
              </a:rPr>
              <a:t> CheesePizzaFactory : </a:t>
            </a:r>
            <a:r>
              <a:rPr sz="1200" b="0">
                <a:solidFill>
                  <a:srgbClr val="0000FF"/>
                </a:solidFill>
                <a:latin typeface="Consolas" panose="020B0609020204030204"/>
                <a:ea typeface="Consolas" panose="020B0609020204030204"/>
              </a:rPr>
              <a:t>public</a:t>
            </a:r>
            <a:r>
              <a:rPr sz="1200" b="0">
                <a:solidFill>
                  <a:srgbClr val="000000"/>
                </a:solidFill>
                <a:latin typeface="Consolas" panose="020B0609020204030204"/>
                <a:ea typeface="Consolas" panose="020B0609020204030204"/>
              </a:rPr>
              <a:t> FoodFactory</a:t>
            </a:r>
            <a:endParaRPr sz="1200" b="0">
              <a:solidFill>
                <a:srgbClr val="000000"/>
              </a:solidFill>
              <a:latin typeface="Consolas" panose="020B0609020204030204"/>
              <a:ea typeface="Consolas" panose="020B0609020204030204"/>
            </a:endParaRPr>
          </a:p>
          <a:p>
            <a:pPr>
              <a:lnSpc>
                <a:spcPts val="1200"/>
              </a:lnSpc>
            </a:pPr>
            <a:r>
              <a:rPr sz="1200" b="0">
                <a:solidFill>
                  <a:srgbClr val="000000"/>
                </a:solidFill>
                <a:latin typeface="Consolas" panose="020B0609020204030204"/>
                <a:ea typeface="Consolas" panose="020B0609020204030204"/>
              </a:rPr>
              <a:t>{</a:t>
            </a:r>
            <a:endParaRPr sz="1200" b="0">
              <a:solidFill>
                <a:srgbClr val="000000"/>
              </a:solidFill>
              <a:latin typeface="Consolas" panose="020B0609020204030204"/>
              <a:ea typeface="Consolas" panose="020B0609020204030204"/>
            </a:endParaRPr>
          </a:p>
          <a:p>
            <a:pPr>
              <a:lnSpc>
                <a:spcPts val="1200"/>
              </a:lnSpc>
            </a:pPr>
            <a:r>
              <a:rPr sz="1200" b="0">
                <a:solidFill>
                  <a:srgbClr val="0000FF"/>
                </a:solidFill>
                <a:latin typeface="Consolas" panose="020B0609020204030204"/>
                <a:ea typeface="Consolas" panose="020B0609020204030204"/>
              </a:rPr>
              <a:t>public:</a:t>
            </a:r>
            <a:endParaRPr sz="1200" b="0">
              <a:solidFill>
                <a:srgbClr val="0000FF"/>
              </a:solidFill>
              <a:latin typeface="Consolas" panose="020B0609020204030204"/>
              <a:ea typeface="Consolas" panose="020B0609020204030204"/>
            </a:endParaRPr>
          </a:p>
          <a:p>
            <a:pPr>
              <a:lnSpc>
                <a:spcPts val="1200"/>
              </a:lnSpc>
            </a:pPr>
            <a:r>
              <a:rPr sz="1200" b="0">
                <a:solidFill>
                  <a:srgbClr val="000000"/>
                </a:solidFill>
                <a:latin typeface="Consolas" panose="020B0609020204030204"/>
                <a:ea typeface="Consolas" panose="020B0609020204030204"/>
              </a:rPr>
              <a:t>    FoodItem </a:t>
            </a:r>
            <a:r>
              <a:rPr sz="1200" b="0">
                <a:solidFill>
                  <a:srgbClr val="0000FF"/>
                </a:solidFill>
                <a:latin typeface="Consolas" panose="020B0609020204030204"/>
                <a:ea typeface="Consolas" panose="020B0609020204030204"/>
              </a:rPr>
              <a:t>*</a:t>
            </a:r>
            <a:r>
              <a:rPr sz="1200" b="0">
                <a:solidFill>
                  <a:srgbClr val="000000"/>
                </a:solidFill>
                <a:latin typeface="Consolas" panose="020B0609020204030204"/>
                <a:ea typeface="Consolas" panose="020B0609020204030204"/>
              </a:rPr>
              <a:t>createFood() </a:t>
            </a:r>
            <a:r>
              <a:rPr sz="1200" b="0">
                <a:solidFill>
                  <a:srgbClr val="0000FF"/>
                </a:solidFill>
                <a:latin typeface="Consolas" panose="020B0609020204030204"/>
                <a:ea typeface="Consolas" panose="020B0609020204030204"/>
              </a:rPr>
              <a:t>constoverride</a:t>
            </a:r>
            <a:endParaRPr sz="1200" b="0">
              <a:solidFill>
                <a:srgbClr val="0000FF"/>
              </a:solidFill>
              <a:latin typeface="Consolas" panose="020B0609020204030204"/>
              <a:ea typeface="Consolas" panose="020B0609020204030204"/>
            </a:endParaRPr>
          </a:p>
          <a:p>
            <a:pPr>
              <a:lnSpc>
                <a:spcPts val="1200"/>
              </a:lnSpc>
            </a:pPr>
            <a:r>
              <a:rPr sz="1200" b="0">
                <a:solidFill>
                  <a:srgbClr val="000000"/>
                </a:solidFill>
                <a:latin typeface="Consolas" panose="020B0609020204030204"/>
                <a:ea typeface="Consolas" panose="020B0609020204030204"/>
              </a:rPr>
              <a:t>    {</a:t>
            </a:r>
            <a:endParaRPr sz="1200" b="0">
              <a:solidFill>
                <a:srgbClr val="000000"/>
              </a:solidFill>
              <a:latin typeface="Consolas" panose="020B0609020204030204"/>
              <a:ea typeface="Consolas" panose="020B0609020204030204"/>
            </a:endParaRPr>
          </a:p>
          <a:p>
            <a:pPr>
              <a:lnSpc>
                <a:spcPts val="1200"/>
              </a:lnSpc>
            </a:pPr>
            <a:r>
              <a:rPr sz="1200" b="0">
                <a:solidFill>
                  <a:srgbClr val="000000"/>
                </a:solidFill>
                <a:latin typeface="Consolas" panose="020B0609020204030204"/>
                <a:ea typeface="Consolas" panose="020B0609020204030204"/>
              </a:rPr>
              <a:t>        </a:t>
            </a:r>
            <a:r>
              <a:rPr sz="1200" b="0">
                <a:solidFill>
                  <a:srgbClr val="0000FF"/>
                </a:solidFill>
                <a:latin typeface="Consolas" panose="020B0609020204030204"/>
                <a:ea typeface="Consolas" panose="020B0609020204030204"/>
              </a:rPr>
              <a:t>returnnew</a:t>
            </a:r>
            <a:r>
              <a:rPr sz="1200" b="0">
                <a:solidFill>
                  <a:srgbClr val="000000"/>
                </a:solidFill>
                <a:latin typeface="Consolas" panose="020B0609020204030204"/>
                <a:ea typeface="Consolas" panose="020B0609020204030204"/>
              </a:rPr>
              <a:t> CheesePizza();</a:t>
            </a:r>
            <a:endParaRPr sz="1200" b="0">
              <a:solidFill>
                <a:srgbClr val="000000"/>
              </a:solidFill>
              <a:latin typeface="Consolas" panose="020B0609020204030204"/>
              <a:ea typeface="Consolas" panose="020B0609020204030204"/>
            </a:endParaRPr>
          </a:p>
          <a:p>
            <a:pPr>
              <a:lnSpc>
                <a:spcPts val="1200"/>
              </a:lnSpc>
            </a:pPr>
            <a:r>
              <a:rPr sz="1200" b="0">
                <a:solidFill>
                  <a:srgbClr val="000000"/>
                </a:solidFill>
                <a:latin typeface="Consolas" panose="020B0609020204030204"/>
                <a:ea typeface="Consolas" panose="020B0609020204030204"/>
              </a:rPr>
              <a:t>    }</a:t>
            </a:r>
            <a:endParaRPr sz="1200" b="0">
              <a:solidFill>
                <a:srgbClr val="000000"/>
              </a:solidFill>
              <a:latin typeface="Consolas" panose="020B0609020204030204"/>
              <a:ea typeface="Consolas" panose="020B0609020204030204"/>
            </a:endParaRPr>
          </a:p>
          <a:p>
            <a:pPr>
              <a:lnSpc>
                <a:spcPts val="1200"/>
              </a:lnSpc>
            </a:pPr>
            <a:r>
              <a:rPr sz="1200" b="0">
                <a:solidFill>
                  <a:srgbClr val="000000"/>
                </a:solidFill>
                <a:latin typeface="Consolas" panose="020B0609020204030204"/>
                <a:ea typeface="Consolas" panose="020B0609020204030204"/>
              </a:rPr>
              <a:t>};</a:t>
            </a:r>
            <a:endParaRPr sz="1200" b="0">
              <a:solidFill>
                <a:srgbClr val="000000"/>
              </a:solidFill>
              <a:latin typeface="Consolas" panose="020B0609020204030204"/>
              <a:ea typeface="Consolas" panose="020B0609020204030204"/>
            </a:endParaRPr>
          </a:p>
          <a:p>
            <a:pPr>
              <a:lnSpc>
                <a:spcPts val="1200"/>
              </a:lnSpc>
            </a:pPr>
            <a:r>
              <a:rPr sz="1200" b="0">
                <a:solidFill>
                  <a:srgbClr val="0000FF"/>
                </a:solidFill>
                <a:latin typeface="Consolas" panose="020B0609020204030204"/>
                <a:ea typeface="Consolas" panose="020B0609020204030204"/>
              </a:rPr>
              <a:t>class</a:t>
            </a:r>
            <a:r>
              <a:rPr sz="1200" b="0">
                <a:solidFill>
                  <a:srgbClr val="000000"/>
                </a:solidFill>
                <a:latin typeface="Consolas" panose="020B0609020204030204"/>
                <a:ea typeface="Consolas" panose="020B0609020204030204"/>
              </a:rPr>
              <a:t> PepperoniPizzaFactory : </a:t>
            </a:r>
            <a:r>
              <a:rPr sz="1200" b="0">
                <a:solidFill>
                  <a:srgbClr val="0000FF"/>
                </a:solidFill>
                <a:latin typeface="Consolas" panose="020B0609020204030204"/>
                <a:ea typeface="Consolas" panose="020B0609020204030204"/>
              </a:rPr>
              <a:t>public</a:t>
            </a:r>
            <a:r>
              <a:rPr sz="1200" b="0">
                <a:solidFill>
                  <a:srgbClr val="000000"/>
                </a:solidFill>
                <a:latin typeface="Consolas" panose="020B0609020204030204"/>
                <a:ea typeface="Consolas" panose="020B0609020204030204"/>
              </a:rPr>
              <a:t> FoodFactory</a:t>
            </a:r>
            <a:endParaRPr sz="1200" b="0">
              <a:solidFill>
                <a:srgbClr val="000000"/>
              </a:solidFill>
              <a:latin typeface="Consolas" panose="020B0609020204030204"/>
              <a:ea typeface="Consolas" panose="020B0609020204030204"/>
            </a:endParaRPr>
          </a:p>
          <a:p>
            <a:pPr>
              <a:lnSpc>
                <a:spcPts val="1200"/>
              </a:lnSpc>
            </a:pPr>
            <a:r>
              <a:rPr sz="1200" b="0">
                <a:solidFill>
                  <a:srgbClr val="000000"/>
                </a:solidFill>
                <a:latin typeface="Consolas" panose="020B0609020204030204"/>
                <a:ea typeface="Consolas" panose="020B0609020204030204"/>
              </a:rPr>
              <a:t>{</a:t>
            </a:r>
            <a:endParaRPr sz="1200" b="0">
              <a:solidFill>
                <a:srgbClr val="000000"/>
              </a:solidFill>
              <a:latin typeface="Consolas" panose="020B0609020204030204"/>
              <a:ea typeface="Consolas" panose="020B0609020204030204"/>
            </a:endParaRPr>
          </a:p>
          <a:p>
            <a:pPr>
              <a:lnSpc>
                <a:spcPts val="1200"/>
              </a:lnSpc>
            </a:pPr>
            <a:r>
              <a:rPr sz="1200" b="0">
                <a:solidFill>
                  <a:srgbClr val="0000FF"/>
                </a:solidFill>
                <a:latin typeface="Consolas" panose="020B0609020204030204"/>
                <a:ea typeface="Consolas" panose="020B0609020204030204"/>
              </a:rPr>
              <a:t>public:</a:t>
            </a:r>
            <a:endParaRPr sz="1200" b="0">
              <a:solidFill>
                <a:srgbClr val="0000FF"/>
              </a:solidFill>
              <a:latin typeface="Consolas" panose="020B0609020204030204"/>
              <a:ea typeface="Consolas" panose="020B0609020204030204"/>
            </a:endParaRPr>
          </a:p>
          <a:p>
            <a:pPr>
              <a:lnSpc>
                <a:spcPts val="1200"/>
              </a:lnSpc>
            </a:pPr>
            <a:r>
              <a:rPr sz="1200" b="0">
                <a:solidFill>
                  <a:srgbClr val="000000"/>
                </a:solidFill>
                <a:latin typeface="Consolas" panose="020B0609020204030204"/>
                <a:ea typeface="Consolas" panose="020B0609020204030204"/>
              </a:rPr>
              <a:t>    FoodItem </a:t>
            </a:r>
            <a:r>
              <a:rPr sz="1200" b="0">
                <a:solidFill>
                  <a:srgbClr val="0000FF"/>
                </a:solidFill>
                <a:latin typeface="Consolas" panose="020B0609020204030204"/>
                <a:ea typeface="Consolas" panose="020B0609020204030204"/>
              </a:rPr>
              <a:t>*</a:t>
            </a:r>
            <a:r>
              <a:rPr sz="1200" b="0">
                <a:solidFill>
                  <a:srgbClr val="000000"/>
                </a:solidFill>
                <a:latin typeface="Consolas" panose="020B0609020204030204"/>
                <a:ea typeface="Consolas" panose="020B0609020204030204"/>
              </a:rPr>
              <a:t>createFood() </a:t>
            </a:r>
            <a:r>
              <a:rPr sz="1200" b="0">
                <a:solidFill>
                  <a:srgbClr val="0000FF"/>
                </a:solidFill>
                <a:latin typeface="Consolas" panose="020B0609020204030204"/>
                <a:ea typeface="Consolas" panose="020B0609020204030204"/>
              </a:rPr>
              <a:t>constoverride</a:t>
            </a:r>
            <a:endParaRPr sz="1200" b="0">
              <a:solidFill>
                <a:srgbClr val="0000FF"/>
              </a:solidFill>
              <a:latin typeface="Consolas" panose="020B0609020204030204"/>
              <a:ea typeface="Consolas" panose="020B0609020204030204"/>
            </a:endParaRPr>
          </a:p>
          <a:p>
            <a:pPr>
              <a:lnSpc>
                <a:spcPts val="1200"/>
              </a:lnSpc>
            </a:pPr>
            <a:r>
              <a:rPr sz="1200" b="0">
                <a:solidFill>
                  <a:srgbClr val="000000"/>
                </a:solidFill>
                <a:latin typeface="Consolas" panose="020B0609020204030204"/>
                <a:ea typeface="Consolas" panose="020B0609020204030204"/>
              </a:rPr>
              <a:t>    {</a:t>
            </a:r>
            <a:endParaRPr sz="1200" b="0">
              <a:solidFill>
                <a:srgbClr val="000000"/>
              </a:solidFill>
              <a:latin typeface="Consolas" panose="020B0609020204030204"/>
              <a:ea typeface="Consolas" panose="020B0609020204030204"/>
            </a:endParaRPr>
          </a:p>
          <a:p>
            <a:pPr>
              <a:lnSpc>
                <a:spcPts val="1200"/>
              </a:lnSpc>
            </a:pPr>
            <a:r>
              <a:rPr sz="1200" b="0">
                <a:solidFill>
                  <a:srgbClr val="000000"/>
                </a:solidFill>
                <a:latin typeface="Consolas" panose="020B0609020204030204"/>
                <a:ea typeface="Consolas" panose="020B0609020204030204"/>
              </a:rPr>
              <a:t>        </a:t>
            </a:r>
            <a:r>
              <a:rPr sz="1200" b="0">
                <a:solidFill>
                  <a:srgbClr val="0000FF"/>
                </a:solidFill>
                <a:latin typeface="Consolas" panose="020B0609020204030204"/>
                <a:ea typeface="Consolas" panose="020B0609020204030204"/>
              </a:rPr>
              <a:t>returnnew</a:t>
            </a:r>
            <a:r>
              <a:rPr sz="1200" b="0">
                <a:solidFill>
                  <a:srgbClr val="000000"/>
                </a:solidFill>
                <a:latin typeface="Consolas" panose="020B0609020204030204"/>
                <a:ea typeface="Consolas" panose="020B0609020204030204"/>
              </a:rPr>
              <a:t> Pepperoni();</a:t>
            </a:r>
            <a:endParaRPr sz="1200" b="0">
              <a:solidFill>
                <a:srgbClr val="000000"/>
              </a:solidFill>
              <a:latin typeface="Consolas" panose="020B0609020204030204"/>
              <a:ea typeface="Consolas" panose="020B0609020204030204"/>
            </a:endParaRPr>
          </a:p>
          <a:p>
            <a:pPr>
              <a:lnSpc>
                <a:spcPts val="1200"/>
              </a:lnSpc>
            </a:pPr>
            <a:r>
              <a:rPr sz="1200" b="0">
                <a:solidFill>
                  <a:srgbClr val="000000"/>
                </a:solidFill>
                <a:latin typeface="Consolas" panose="020B0609020204030204"/>
                <a:ea typeface="Consolas" panose="020B0609020204030204"/>
              </a:rPr>
              <a:t>    }</a:t>
            </a:r>
            <a:endParaRPr sz="1200" b="0">
              <a:solidFill>
                <a:srgbClr val="000000"/>
              </a:solidFill>
              <a:latin typeface="Consolas" panose="020B0609020204030204"/>
              <a:ea typeface="Consolas" panose="020B0609020204030204"/>
            </a:endParaRPr>
          </a:p>
          <a:p>
            <a:pPr>
              <a:lnSpc>
                <a:spcPts val="1200"/>
              </a:lnSpc>
            </a:pPr>
            <a:r>
              <a:rPr sz="1200" b="0">
                <a:solidFill>
                  <a:srgbClr val="000000"/>
                </a:solidFill>
                <a:latin typeface="Consolas" panose="020B0609020204030204"/>
                <a:ea typeface="Consolas" panose="020B0609020204030204"/>
              </a:rPr>
              <a:t>};</a:t>
            </a:r>
            <a:endParaRPr sz="1200" b="0">
              <a:solidFill>
                <a:srgbClr val="000000"/>
              </a:solidFill>
              <a:latin typeface="Consolas" panose="020B0609020204030204"/>
              <a:ea typeface="Consolas" panose="020B0609020204030204"/>
            </a:endParaRPr>
          </a:p>
          <a:p>
            <a:pPr>
              <a:lnSpc>
                <a:spcPts val="1200"/>
              </a:lnSpc>
            </a:pPr>
            <a:r>
              <a:rPr sz="1200" b="0">
                <a:solidFill>
                  <a:srgbClr val="0000FF"/>
                </a:solidFill>
                <a:latin typeface="Consolas" panose="020B0609020204030204"/>
                <a:ea typeface="Consolas" panose="020B0609020204030204"/>
              </a:rPr>
              <a:t>class</a:t>
            </a:r>
            <a:r>
              <a:rPr sz="1200" b="0">
                <a:solidFill>
                  <a:srgbClr val="000000"/>
                </a:solidFill>
                <a:latin typeface="Consolas" panose="020B0609020204030204"/>
                <a:ea typeface="Consolas" panose="020B0609020204030204"/>
              </a:rPr>
              <a:t> SpaghettiPizzaFactory : </a:t>
            </a:r>
            <a:r>
              <a:rPr sz="1200" b="0">
                <a:solidFill>
                  <a:srgbClr val="0000FF"/>
                </a:solidFill>
                <a:latin typeface="Consolas" panose="020B0609020204030204"/>
                <a:ea typeface="Consolas" panose="020B0609020204030204"/>
              </a:rPr>
              <a:t>public</a:t>
            </a:r>
            <a:r>
              <a:rPr sz="1200" b="0">
                <a:solidFill>
                  <a:srgbClr val="000000"/>
                </a:solidFill>
                <a:latin typeface="Consolas" panose="020B0609020204030204"/>
                <a:ea typeface="Consolas" panose="020B0609020204030204"/>
              </a:rPr>
              <a:t> FoodFactory</a:t>
            </a:r>
            <a:endParaRPr sz="1200" b="0">
              <a:solidFill>
                <a:srgbClr val="000000"/>
              </a:solidFill>
              <a:latin typeface="Consolas" panose="020B0609020204030204"/>
              <a:ea typeface="Consolas" panose="020B0609020204030204"/>
            </a:endParaRPr>
          </a:p>
          <a:p>
            <a:pPr>
              <a:lnSpc>
                <a:spcPts val="1200"/>
              </a:lnSpc>
            </a:pPr>
            <a:r>
              <a:rPr sz="1200" b="0">
                <a:solidFill>
                  <a:srgbClr val="000000"/>
                </a:solidFill>
                <a:latin typeface="Consolas" panose="020B0609020204030204"/>
                <a:ea typeface="Consolas" panose="020B0609020204030204"/>
              </a:rPr>
              <a:t>{</a:t>
            </a:r>
            <a:endParaRPr sz="1200" b="0">
              <a:solidFill>
                <a:srgbClr val="000000"/>
              </a:solidFill>
              <a:latin typeface="Consolas" panose="020B0609020204030204"/>
              <a:ea typeface="Consolas" panose="020B0609020204030204"/>
            </a:endParaRPr>
          </a:p>
          <a:p>
            <a:pPr>
              <a:lnSpc>
                <a:spcPts val="1200"/>
              </a:lnSpc>
            </a:pPr>
            <a:r>
              <a:rPr sz="1200" b="0">
                <a:solidFill>
                  <a:srgbClr val="0000FF"/>
                </a:solidFill>
                <a:latin typeface="Consolas" panose="020B0609020204030204"/>
                <a:ea typeface="Consolas" panose="020B0609020204030204"/>
              </a:rPr>
              <a:t>public:</a:t>
            </a:r>
            <a:endParaRPr sz="1200" b="0">
              <a:solidFill>
                <a:srgbClr val="0000FF"/>
              </a:solidFill>
              <a:latin typeface="Consolas" panose="020B0609020204030204"/>
              <a:ea typeface="Consolas" panose="020B0609020204030204"/>
            </a:endParaRPr>
          </a:p>
          <a:p>
            <a:pPr>
              <a:lnSpc>
                <a:spcPts val="1200"/>
              </a:lnSpc>
            </a:pPr>
            <a:r>
              <a:rPr sz="1200" b="0">
                <a:solidFill>
                  <a:srgbClr val="000000"/>
                </a:solidFill>
                <a:latin typeface="Consolas" panose="020B0609020204030204"/>
                <a:ea typeface="Consolas" panose="020B0609020204030204"/>
              </a:rPr>
              <a:t>    FoodItem </a:t>
            </a:r>
            <a:r>
              <a:rPr sz="1200" b="0">
                <a:solidFill>
                  <a:srgbClr val="0000FF"/>
                </a:solidFill>
                <a:latin typeface="Consolas" panose="020B0609020204030204"/>
                <a:ea typeface="Consolas" panose="020B0609020204030204"/>
              </a:rPr>
              <a:t>*</a:t>
            </a:r>
            <a:r>
              <a:rPr sz="1200" b="0">
                <a:solidFill>
                  <a:srgbClr val="000000"/>
                </a:solidFill>
                <a:latin typeface="Consolas" panose="020B0609020204030204"/>
                <a:ea typeface="Consolas" panose="020B0609020204030204"/>
              </a:rPr>
              <a:t>createFood() </a:t>
            </a:r>
            <a:r>
              <a:rPr sz="1200" b="0">
                <a:solidFill>
                  <a:srgbClr val="0000FF"/>
                </a:solidFill>
                <a:latin typeface="Consolas" panose="020B0609020204030204"/>
                <a:ea typeface="Consolas" panose="020B0609020204030204"/>
              </a:rPr>
              <a:t>constoverride</a:t>
            </a:r>
            <a:endParaRPr sz="1200" b="0">
              <a:solidFill>
                <a:srgbClr val="0000FF"/>
              </a:solidFill>
              <a:latin typeface="Consolas" panose="020B0609020204030204"/>
              <a:ea typeface="Consolas" panose="020B0609020204030204"/>
            </a:endParaRPr>
          </a:p>
          <a:p>
            <a:pPr>
              <a:lnSpc>
                <a:spcPts val="1200"/>
              </a:lnSpc>
            </a:pPr>
            <a:r>
              <a:rPr sz="1200" b="0">
                <a:solidFill>
                  <a:srgbClr val="000000"/>
                </a:solidFill>
                <a:latin typeface="Consolas" panose="020B0609020204030204"/>
                <a:ea typeface="Consolas" panose="020B0609020204030204"/>
              </a:rPr>
              <a:t>    {</a:t>
            </a:r>
            <a:endParaRPr sz="1200" b="0">
              <a:solidFill>
                <a:srgbClr val="000000"/>
              </a:solidFill>
              <a:latin typeface="Consolas" panose="020B0609020204030204"/>
              <a:ea typeface="Consolas" panose="020B0609020204030204"/>
            </a:endParaRPr>
          </a:p>
          <a:p>
            <a:pPr>
              <a:lnSpc>
                <a:spcPts val="1200"/>
              </a:lnSpc>
            </a:pPr>
            <a:r>
              <a:rPr sz="1200" b="0">
                <a:solidFill>
                  <a:srgbClr val="000000"/>
                </a:solidFill>
                <a:latin typeface="Consolas" panose="020B0609020204030204"/>
                <a:ea typeface="Consolas" panose="020B0609020204030204"/>
              </a:rPr>
              <a:t>        </a:t>
            </a:r>
            <a:r>
              <a:rPr sz="1200" b="0">
                <a:solidFill>
                  <a:srgbClr val="0000FF"/>
                </a:solidFill>
                <a:latin typeface="Consolas" panose="020B0609020204030204"/>
                <a:ea typeface="Consolas" panose="020B0609020204030204"/>
              </a:rPr>
              <a:t>returnnew</a:t>
            </a:r>
            <a:r>
              <a:rPr sz="1200" b="0">
                <a:solidFill>
                  <a:srgbClr val="000000"/>
                </a:solidFill>
                <a:latin typeface="Consolas" panose="020B0609020204030204"/>
                <a:ea typeface="Consolas" panose="020B0609020204030204"/>
              </a:rPr>
              <a:t> Spaghetti();</a:t>
            </a:r>
            <a:endParaRPr sz="1200" b="0">
              <a:solidFill>
                <a:srgbClr val="000000"/>
              </a:solidFill>
              <a:latin typeface="Consolas" panose="020B0609020204030204"/>
              <a:ea typeface="Consolas" panose="020B0609020204030204"/>
            </a:endParaRPr>
          </a:p>
          <a:p>
            <a:pPr>
              <a:lnSpc>
                <a:spcPts val="1200"/>
              </a:lnSpc>
            </a:pPr>
            <a:r>
              <a:rPr sz="1200" b="0">
                <a:solidFill>
                  <a:srgbClr val="000000"/>
                </a:solidFill>
                <a:latin typeface="Consolas" panose="020B0609020204030204"/>
                <a:ea typeface="Consolas" panose="020B0609020204030204"/>
              </a:rPr>
              <a:t>    }</a:t>
            </a:r>
            <a:endParaRPr sz="1200" b="0">
              <a:solidFill>
                <a:srgbClr val="000000"/>
              </a:solidFill>
              <a:latin typeface="Consolas" panose="020B0609020204030204"/>
              <a:ea typeface="Consolas" panose="020B0609020204030204"/>
            </a:endParaRPr>
          </a:p>
          <a:p>
            <a:pPr>
              <a:lnSpc>
                <a:spcPts val="1200"/>
              </a:lnSpc>
            </a:pPr>
            <a:r>
              <a:rPr sz="1200" b="0">
                <a:solidFill>
                  <a:srgbClr val="000000"/>
                </a:solidFill>
                <a:latin typeface="Consolas" panose="020B0609020204030204"/>
                <a:ea typeface="Consolas" panose="020B0609020204030204"/>
              </a:rPr>
              <a:t>};</a:t>
            </a:r>
            <a:endParaRPr sz="1200" b="0">
              <a:solidFill>
                <a:srgbClr val="000000"/>
              </a:solidFill>
              <a:latin typeface="Consolas" panose="020B0609020204030204"/>
              <a:ea typeface="Consolas" panose="020B0609020204030204"/>
            </a:endParaRPr>
          </a:p>
        </p:txBody>
      </p:sp>
      <p:sp>
        <p:nvSpPr>
          <p:cNvPr id="5" name="Text Box 4"/>
          <p:cNvSpPr txBox="1"/>
          <p:nvPr/>
        </p:nvSpPr>
        <p:spPr>
          <a:xfrm>
            <a:off x="6450965" y="1416685"/>
            <a:ext cx="5080000" cy="5066665"/>
          </a:xfrm>
          <a:prstGeom prst="rect">
            <a:avLst/>
          </a:prstGeom>
        </p:spPr>
        <p:txBody>
          <a:bodyPr>
            <a:noAutofit/>
          </a:bodyPr>
          <a:p>
            <a:pPr>
              <a:lnSpc>
                <a:spcPts val="1200"/>
              </a:lnSpc>
            </a:pPr>
            <a:r>
              <a:rPr sz="1200" b="0">
                <a:solidFill>
                  <a:srgbClr val="0000FF"/>
                </a:solidFill>
                <a:latin typeface="Consolas" panose="020B0609020204030204"/>
                <a:ea typeface="Consolas" panose="020B0609020204030204"/>
              </a:rPr>
              <a:t>#pragma </a:t>
            </a:r>
            <a:r>
              <a:rPr sz="1200" b="0">
                <a:solidFill>
                  <a:srgbClr val="E50000"/>
                </a:solidFill>
                <a:latin typeface="Consolas" panose="020B0609020204030204"/>
                <a:ea typeface="Consolas" panose="020B0609020204030204"/>
              </a:rPr>
              <a:t>once</a:t>
            </a:r>
            <a:endParaRPr sz="1200" b="0">
              <a:solidFill>
                <a:srgbClr val="E50000"/>
              </a:solidFill>
              <a:latin typeface="Consolas" panose="020B0609020204030204"/>
              <a:ea typeface="Consolas" panose="020B0609020204030204"/>
            </a:endParaRPr>
          </a:p>
          <a:p>
            <a:pPr>
              <a:lnSpc>
                <a:spcPts val="1200"/>
              </a:lnSpc>
            </a:pPr>
            <a:r>
              <a:rPr sz="1200" b="0">
                <a:solidFill>
                  <a:srgbClr val="0000FF"/>
                </a:solidFill>
                <a:latin typeface="Consolas" panose="020B0609020204030204"/>
                <a:ea typeface="Consolas" panose="020B0609020204030204"/>
              </a:rPr>
              <a:t>#include </a:t>
            </a:r>
            <a:r>
              <a:rPr sz="1200" b="0">
                <a:solidFill>
                  <a:srgbClr val="A31515"/>
                </a:solidFill>
                <a:latin typeface="Consolas" panose="020B0609020204030204"/>
                <a:ea typeface="Consolas" panose="020B0609020204030204"/>
              </a:rPr>
              <a:t>"foodFactory.h"</a:t>
            </a:r>
            <a:endParaRPr sz="1200" b="0">
              <a:solidFill>
                <a:srgbClr val="A31515"/>
              </a:solidFill>
              <a:latin typeface="Consolas" panose="020B0609020204030204"/>
              <a:ea typeface="Consolas" panose="020B0609020204030204"/>
            </a:endParaRPr>
          </a:p>
          <a:p>
            <a:pPr>
              <a:lnSpc>
                <a:spcPts val="1200"/>
              </a:lnSpc>
            </a:pPr>
            <a:r>
              <a:rPr sz="1200" b="0">
                <a:solidFill>
                  <a:srgbClr val="0000FF"/>
                </a:solidFill>
                <a:latin typeface="Consolas" panose="020B0609020204030204"/>
                <a:ea typeface="Consolas" panose="020B0609020204030204"/>
              </a:rPr>
              <a:t>#include </a:t>
            </a:r>
            <a:r>
              <a:rPr sz="1200" b="0">
                <a:solidFill>
                  <a:srgbClr val="A31515"/>
                </a:solidFill>
                <a:latin typeface="Consolas" panose="020B0609020204030204"/>
                <a:ea typeface="Consolas" panose="020B0609020204030204"/>
              </a:rPr>
              <a:t>"foodItem.h"</a:t>
            </a:r>
            <a:endParaRPr sz="1200" b="0">
              <a:solidFill>
                <a:srgbClr val="A31515"/>
              </a:solidFill>
              <a:latin typeface="Consolas" panose="020B0609020204030204"/>
              <a:ea typeface="Consolas" panose="020B0609020204030204"/>
            </a:endParaRPr>
          </a:p>
          <a:p>
            <a:pPr>
              <a:lnSpc>
                <a:spcPts val="1200"/>
              </a:lnSpc>
            </a:pPr>
            <a:r>
              <a:rPr sz="1200" b="0">
                <a:solidFill>
                  <a:srgbClr val="0000FF"/>
                </a:solidFill>
                <a:latin typeface="Consolas" panose="020B0609020204030204"/>
                <a:ea typeface="Consolas" panose="020B0609020204030204"/>
              </a:rPr>
              <a:t>#include </a:t>
            </a:r>
            <a:r>
              <a:rPr sz="1200" b="0">
                <a:solidFill>
                  <a:srgbClr val="A31515"/>
                </a:solidFill>
                <a:latin typeface="Consolas" panose="020B0609020204030204"/>
                <a:ea typeface="Consolas" panose="020B0609020204030204"/>
              </a:rPr>
              <a:t>&lt;unordered_map&gt;</a:t>
            </a:r>
            <a:endParaRPr sz="1200" b="0">
              <a:solidFill>
                <a:srgbClr val="A31515"/>
              </a:solidFill>
              <a:latin typeface="Consolas" panose="020B0609020204030204"/>
              <a:ea typeface="Consolas" panose="020B0609020204030204"/>
            </a:endParaRPr>
          </a:p>
          <a:p>
            <a:pPr>
              <a:lnSpc>
                <a:spcPts val="1200"/>
              </a:lnSpc>
            </a:pPr>
            <a:endParaRPr sz="1200" b="0">
              <a:solidFill>
                <a:srgbClr val="A31515"/>
              </a:solidFill>
              <a:latin typeface="Consolas" panose="020B0609020204030204"/>
              <a:ea typeface="Consolas" panose="020B0609020204030204"/>
            </a:endParaRPr>
          </a:p>
          <a:p>
            <a:pPr>
              <a:lnSpc>
                <a:spcPts val="1200"/>
              </a:lnSpc>
            </a:pPr>
            <a:r>
              <a:rPr sz="1200" b="0">
                <a:solidFill>
                  <a:srgbClr val="008000"/>
                </a:solidFill>
                <a:latin typeface="Consolas" panose="020B0609020204030204"/>
                <a:ea typeface="Consolas" panose="020B0609020204030204"/>
              </a:rPr>
              <a:t>// Singleton Factory Registry</a:t>
            </a:r>
            <a:endParaRPr sz="1200" b="0">
              <a:solidFill>
                <a:srgbClr val="008000"/>
              </a:solidFill>
              <a:latin typeface="Consolas" panose="020B0609020204030204"/>
              <a:ea typeface="Consolas" panose="020B0609020204030204"/>
            </a:endParaRPr>
          </a:p>
          <a:p>
            <a:pPr>
              <a:lnSpc>
                <a:spcPts val="1200"/>
              </a:lnSpc>
            </a:pPr>
            <a:r>
              <a:rPr sz="1200" b="0">
                <a:solidFill>
                  <a:srgbClr val="0000FF"/>
                </a:solidFill>
                <a:latin typeface="Consolas" panose="020B0609020204030204"/>
                <a:ea typeface="Consolas" panose="020B0609020204030204"/>
              </a:rPr>
              <a:t>class</a:t>
            </a:r>
            <a:r>
              <a:rPr sz="1200" b="0">
                <a:solidFill>
                  <a:srgbClr val="000000"/>
                </a:solidFill>
                <a:latin typeface="Consolas" panose="020B0609020204030204"/>
                <a:ea typeface="Consolas" panose="020B0609020204030204"/>
              </a:rPr>
              <a:t> FactoryRegistry</a:t>
            </a:r>
            <a:endParaRPr sz="1200" b="0">
              <a:solidFill>
                <a:srgbClr val="000000"/>
              </a:solidFill>
              <a:latin typeface="Consolas" panose="020B0609020204030204"/>
              <a:ea typeface="Consolas" panose="020B0609020204030204"/>
            </a:endParaRPr>
          </a:p>
          <a:p>
            <a:pPr>
              <a:lnSpc>
                <a:spcPts val="1200"/>
              </a:lnSpc>
            </a:pPr>
            <a:r>
              <a:rPr sz="1200" b="0">
                <a:solidFill>
                  <a:srgbClr val="000000"/>
                </a:solidFill>
                <a:latin typeface="Consolas" panose="020B0609020204030204"/>
                <a:ea typeface="Consolas" panose="020B0609020204030204"/>
              </a:rPr>
              <a:t>{</a:t>
            </a:r>
            <a:endParaRPr sz="1200" b="0">
              <a:solidFill>
                <a:srgbClr val="000000"/>
              </a:solidFill>
              <a:latin typeface="Consolas" panose="020B0609020204030204"/>
              <a:ea typeface="Consolas" panose="020B0609020204030204"/>
            </a:endParaRPr>
          </a:p>
          <a:p>
            <a:pPr>
              <a:lnSpc>
                <a:spcPts val="1200"/>
              </a:lnSpc>
            </a:pPr>
            <a:r>
              <a:rPr sz="1200" b="0">
                <a:solidFill>
                  <a:srgbClr val="0000FF"/>
                </a:solidFill>
                <a:latin typeface="Consolas" panose="020B0609020204030204"/>
                <a:ea typeface="Consolas" panose="020B0609020204030204"/>
              </a:rPr>
              <a:t>public:</a:t>
            </a:r>
            <a:endParaRPr sz="1200" b="0">
              <a:solidFill>
                <a:srgbClr val="0000FF"/>
              </a:solidFill>
              <a:latin typeface="Consolas" panose="020B0609020204030204"/>
              <a:ea typeface="Consolas" panose="020B0609020204030204"/>
            </a:endParaRPr>
          </a:p>
          <a:p>
            <a:pPr>
              <a:lnSpc>
                <a:spcPts val="1200"/>
              </a:lnSpc>
            </a:pPr>
            <a:r>
              <a:rPr sz="1200" b="0">
                <a:solidFill>
                  <a:srgbClr val="000000"/>
                </a:solidFill>
                <a:latin typeface="Consolas" panose="020B0609020204030204"/>
                <a:ea typeface="Consolas" panose="020B0609020204030204"/>
              </a:rPr>
              <a:t>    </a:t>
            </a:r>
            <a:r>
              <a:rPr sz="1200" b="0">
                <a:solidFill>
                  <a:srgbClr val="0000FF"/>
                </a:solidFill>
                <a:latin typeface="Consolas" panose="020B0609020204030204"/>
                <a:ea typeface="Consolas" panose="020B0609020204030204"/>
              </a:rPr>
              <a:t>static</a:t>
            </a:r>
            <a:r>
              <a:rPr sz="1200" b="0">
                <a:solidFill>
                  <a:srgbClr val="000000"/>
                </a:solidFill>
                <a:latin typeface="Consolas" panose="020B0609020204030204"/>
                <a:ea typeface="Consolas" panose="020B0609020204030204"/>
              </a:rPr>
              <a:t> FactoryRegistry </a:t>
            </a:r>
            <a:r>
              <a:rPr sz="1200" b="0">
                <a:solidFill>
                  <a:srgbClr val="0000FF"/>
                </a:solidFill>
                <a:latin typeface="Consolas" panose="020B0609020204030204"/>
                <a:ea typeface="Consolas" panose="020B0609020204030204"/>
              </a:rPr>
              <a:t>&amp;</a:t>
            </a:r>
            <a:r>
              <a:rPr sz="1200" b="0">
                <a:solidFill>
                  <a:srgbClr val="000000"/>
                </a:solidFill>
                <a:latin typeface="Consolas" panose="020B0609020204030204"/>
                <a:ea typeface="Consolas" panose="020B0609020204030204"/>
              </a:rPr>
              <a:t>getInstance()</a:t>
            </a:r>
            <a:endParaRPr sz="1200" b="0">
              <a:solidFill>
                <a:srgbClr val="000000"/>
              </a:solidFill>
              <a:latin typeface="Consolas" panose="020B0609020204030204"/>
              <a:ea typeface="Consolas" panose="020B0609020204030204"/>
            </a:endParaRPr>
          </a:p>
          <a:p>
            <a:pPr>
              <a:lnSpc>
                <a:spcPts val="1200"/>
              </a:lnSpc>
            </a:pPr>
            <a:r>
              <a:rPr sz="1200" b="0">
                <a:solidFill>
                  <a:srgbClr val="000000"/>
                </a:solidFill>
                <a:latin typeface="Consolas" panose="020B0609020204030204"/>
                <a:ea typeface="Consolas" panose="020B0609020204030204"/>
              </a:rPr>
              <a:t>    {</a:t>
            </a:r>
            <a:endParaRPr sz="1200" b="0">
              <a:solidFill>
                <a:srgbClr val="000000"/>
              </a:solidFill>
              <a:latin typeface="Consolas" panose="020B0609020204030204"/>
              <a:ea typeface="Consolas" panose="020B0609020204030204"/>
            </a:endParaRPr>
          </a:p>
          <a:p>
            <a:pPr>
              <a:lnSpc>
                <a:spcPts val="1200"/>
              </a:lnSpc>
            </a:pPr>
            <a:r>
              <a:rPr sz="1200" b="0">
                <a:solidFill>
                  <a:srgbClr val="000000"/>
                </a:solidFill>
                <a:latin typeface="Consolas" panose="020B0609020204030204"/>
                <a:ea typeface="Consolas" panose="020B0609020204030204"/>
              </a:rPr>
              <a:t>        </a:t>
            </a:r>
            <a:r>
              <a:rPr sz="1200" b="0">
                <a:solidFill>
                  <a:srgbClr val="0000FF"/>
                </a:solidFill>
                <a:latin typeface="Consolas" panose="020B0609020204030204"/>
                <a:ea typeface="Consolas" panose="020B0609020204030204"/>
              </a:rPr>
              <a:t>static</a:t>
            </a:r>
            <a:r>
              <a:rPr sz="1200" b="0">
                <a:solidFill>
                  <a:srgbClr val="000000"/>
                </a:solidFill>
                <a:latin typeface="Consolas" panose="020B0609020204030204"/>
                <a:ea typeface="Consolas" panose="020B0609020204030204"/>
              </a:rPr>
              <a:t> FactoryRegistry instance;</a:t>
            </a:r>
            <a:endParaRPr sz="1200" b="0">
              <a:solidFill>
                <a:srgbClr val="000000"/>
              </a:solidFill>
              <a:latin typeface="Consolas" panose="020B0609020204030204"/>
              <a:ea typeface="Consolas" panose="020B0609020204030204"/>
            </a:endParaRPr>
          </a:p>
          <a:p>
            <a:pPr>
              <a:lnSpc>
                <a:spcPts val="1200"/>
              </a:lnSpc>
            </a:pPr>
            <a:r>
              <a:rPr sz="1200" b="0">
                <a:solidFill>
                  <a:srgbClr val="000000"/>
                </a:solidFill>
                <a:latin typeface="Consolas" panose="020B0609020204030204"/>
                <a:ea typeface="Consolas" panose="020B0609020204030204"/>
              </a:rPr>
              <a:t>        </a:t>
            </a:r>
            <a:r>
              <a:rPr sz="1200" b="0">
                <a:solidFill>
                  <a:srgbClr val="0000FF"/>
                </a:solidFill>
                <a:latin typeface="Consolas" panose="020B0609020204030204"/>
                <a:ea typeface="Consolas" panose="020B0609020204030204"/>
              </a:rPr>
              <a:t>return</a:t>
            </a:r>
            <a:r>
              <a:rPr sz="1200" b="0">
                <a:solidFill>
                  <a:srgbClr val="000000"/>
                </a:solidFill>
                <a:latin typeface="Consolas" panose="020B0609020204030204"/>
                <a:ea typeface="Consolas" panose="020B0609020204030204"/>
              </a:rPr>
              <a:t> instance;</a:t>
            </a:r>
            <a:endParaRPr sz="1200" b="0">
              <a:solidFill>
                <a:srgbClr val="000000"/>
              </a:solidFill>
              <a:latin typeface="Consolas" panose="020B0609020204030204"/>
              <a:ea typeface="Consolas" panose="020B0609020204030204"/>
            </a:endParaRPr>
          </a:p>
          <a:p>
            <a:pPr>
              <a:lnSpc>
                <a:spcPts val="1200"/>
              </a:lnSpc>
            </a:pPr>
            <a:r>
              <a:rPr sz="1200" b="0">
                <a:solidFill>
                  <a:srgbClr val="000000"/>
                </a:solidFill>
                <a:latin typeface="Consolas" panose="020B0609020204030204"/>
                <a:ea typeface="Consolas" panose="020B0609020204030204"/>
              </a:rPr>
              <a:t>    }</a:t>
            </a:r>
            <a:endParaRPr sz="1200" b="0">
              <a:solidFill>
                <a:srgbClr val="000000"/>
              </a:solidFill>
              <a:latin typeface="Consolas" panose="020B0609020204030204"/>
              <a:ea typeface="Consolas" panose="020B0609020204030204"/>
            </a:endParaRPr>
          </a:p>
          <a:p>
            <a:pPr>
              <a:lnSpc>
                <a:spcPts val="1200"/>
              </a:lnSpc>
            </a:pPr>
            <a:r>
              <a:rPr sz="1200" b="0">
                <a:solidFill>
                  <a:srgbClr val="000000"/>
                </a:solidFill>
                <a:latin typeface="Consolas" panose="020B0609020204030204"/>
                <a:ea typeface="Consolas" panose="020B0609020204030204"/>
              </a:rPr>
              <a:t>    </a:t>
            </a:r>
            <a:r>
              <a:rPr sz="1200" b="0">
                <a:solidFill>
                  <a:srgbClr val="0000FF"/>
                </a:solidFill>
                <a:latin typeface="Consolas" panose="020B0609020204030204"/>
                <a:ea typeface="Consolas" panose="020B0609020204030204"/>
              </a:rPr>
              <a:t>void</a:t>
            </a:r>
            <a:r>
              <a:rPr sz="1200" b="0">
                <a:solidFill>
                  <a:srgbClr val="000000"/>
                </a:solidFill>
                <a:latin typeface="Consolas" panose="020B0609020204030204"/>
                <a:ea typeface="Consolas" panose="020B0609020204030204"/>
              </a:rPr>
              <a:t> registerFactory(FoodType type, FoodFactory </a:t>
            </a:r>
            <a:r>
              <a:rPr sz="1200" b="0">
                <a:solidFill>
                  <a:srgbClr val="0000FF"/>
                </a:solidFill>
                <a:latin typeface="Consolas" panose="020B0609020204030204"/>
                <a:ea typeface="Consolas" panose="020B0609020204030204"/>
              </a:rPr>
              <a:t>*</a:t>
            </a:r>
            <a:r>
              <a:rPr sz="1200" b="0">
                <a:solidFill>
                  <a:srgbClr val="000000"/>
                </a:solidFill>
                <a:latin typeface="Consolas" panose="020B0609020204030204"/>
                <a:ea typeface="Consolas" panose="020B0609020204030204"/>
              </a:rPr>
              <a:t>factory)</a:t>
            </a:r>
            <a:r>
              <a:rPr sz="1200" b="0">
                <a:solidFill>
                  <a:srgbClr val="008000"/>
                </a:solidFill>
                <a:latin typeface="Consolas" panose="020B0609020204030204"/>
                <a:ea typeface="Consolas" panose="020B0609020204030204"/>
              </a:rPr>
              <a:t> // Fixed function name</a:t>
            </a:r>
            <a:endParaRPr sz="1200" b="0">
              <a:solidFill>
                <a:srgbClr val="008000"/>
              </a:solidFill>
              <a:latin typeface="Consolas" panose="020B0609020204030204"/>
              <a:ea typeface="Consolas" panose="020B0609020204030204"/>
            </a:endParaRPr>
          </a:p>
          <a:p>
            <a:pPr>
              <a:lnSpc>
                <a:spcPts val="1200"/>
              </a:lnSpc>
            </a:pPr>
            <a:r>
              <a:rPr sz="1200" b="0">
                <a:solidFill>
                  <a:srgbClr val="000000"/>
                </a:solidFill>
                <a:latin typeface="Consolas" panose="020B0609020204030204"/>
                <a:ea typeface="Consolas" panose="020B0609020204030204"/>
              </a:rPr>
              <a:t>    {</a:t>
            </a:r>
            <a:endParaRPr sz="1200" b="0">
              <a:solidFill>
                <a:srgbClr val="000000"/>
              </a:solidFill>
              <a:latin typeface="Consolas" panose="020B0609020204030204"/>
              <a:ea typeface="Consolas" panose="020B0609020204030204"/>
            </a:endParaRPr>
          </a:p>
          <a:p>
            <a:pPr>
              <a:lnSpc>
                <a:spcPts val="1200"/>
              </a:lnSpc>
            </a:pPr>
            <a:r>
              <a:rPr sz="1200" b="0">
                <a:solidFill>
                  <a:srgbClr val="000000"/>
                </a:solidFill>
                <a:latin typeface="Consolas" panose="020B0609020204030204"/>
                <a:ea typeface="Consolas" panose="020B0609020204030204"/>
              </a:rPr>
              <a:t>        factories[type] = factory;</a:t>
            </a:r>
            <a:endParaRPr sz="1200" b="0">
              <a:solidFill>
                <a:srgbClr val="000000"/>
              </a:solidFill>
              <a:latin typeface="Consolas" panose="020B0609020204030204"/>
              <a:ea typeface="Consolas" panose="020B0609020204030204"/>
            </a:endParaRPr>
          </a:p>
          <a:p>
            <a:pPr>
              <a:lnSpc>
                <a:spcPts val="1200"/>
              </a:lnSpc>
            </a:pPr>
            <a:r>
              <a:rPr sz="1200" b="0">
                <a:solidFill>
                  <a:srgbClr val="000000"/>
                </a:solidFill>
                <a:latin typeface="Consolas" panose="020B0609020204030204"/>
                <a:ea typeface="Consolas" panose="020B0609020204030204"/>
              </a:rPr>
              <a:t>    }</a:t>
            </a:r>
            <a:endParaRPr sz="1200" b="0">
              <a:solidFill>
                <a:srgbClr val="000000"/>
              </a:solidFill>
              <a:latin typeface="Consolas" panose="020B0609020204030204"/>
              <a:ea typeface="Consolas" panose="020B0609020204030204"/>
            </a:endParaRPr>
          </a:p>
          <a:p>
            <a:pPr>
              <a:lnSpc>
                <a:spcPts val="1200"/>
              </a:lnSpc>
            </a:pPr>
            <a:r>
              <a:rPr sz="1200" b="0">
                <a:solidFill>
                  <a:srgbClr val="000000"/>
                </a:solidFill>
                <a:latin typeface="Consolas" panose="020B0609020204030204"/>
                <a:ea typeface="Consolas" panose="020B0609020204030204"/>
              </a:rPr>
              <a:t>    FoodFactory </a:t>
            </a:r>
            <a:r>
              <a:rPr sz="1200" b="0">
                <a:solidFill>
                  <a:srgbClr val="0000FF"/>
                </a:solidFill>
                <a:latin typeface="Consolas" panose="020B0609020204030204"/>
                <a:ea typeface="Consolas" panose="020B0609020204030204"/>
              </a:rPr>
              <a:t>*</a:t>
            </a:r>
            <a:r>
              <a:rPr sz="1200" b="0">
                <a:solidFill>
                  <a:srgbClr val="000000"/>
                </a:solidFill>
                <a:latin typeface="Consolas" panose="020B0609020204030204"/>
                <a:ea typeface="Consolas" panose="020B0609020204030204"/>
              </a:rPr>
              <a:t>getFactory(FoodType type) </a:t>
            </a:r>
            <a:r>
              <a:rPr sz="1200" b="0">
                <a:solidFill>
                  <a:srgbClr val="0000FF"/>
                </a:solidFill>
                <a:latin typeface="Consolas" panose="020B0609020204030204"/>
                <a:ea typeface="Consolas" panose="020B0609020204030204"/>
              </a:rPr>
              <a:t>const</a:t>
            </a:r>
            <a:endParaRPr sz="1200" b="0">
              <a:solidFill>
                <a:srgbClr val="0000FF"/>
              </a:solidFill>
              <a:latin typeface="Consolas" panose="020B0609020204030204"/>
              <a:ea typeface="Consolas" panose="020B0609020204030204"/>
            </a:endParaRPr>
          </a:p>
          <a:p>
            <a:pPr>
              <a:lnSpc>
                <a:spcPts val="1200"/>
              </a:lnSpc>
            </a:pPr>
            <a:r>
              <a:rPr sz="1200" b="0">
                <a:solidFill>
                  <a:srgbClr val="000000"/>
                </a:solidFill>
                <a:latin typeface="Consolas" panose="020B0609020204030204"/>
                <a:ea typeface="Consolas" panose="020B0609020204030204"/>
              </a:rPr>
              <a:t>    {</a:t>
            </a:r>
            <a:endParaRPr sz="1200" b="0">
              <a:solidFill>
                <a:srgbClr val="000000"/>
              </a:solidFill>
              <a:latin typeface="Consolas" panose="020B0609020204030204"/>
              <a:ea typeface="Consolas" panose="020B0609020204030204"/>
            </a:endParaRPr>
          </a:p>
          <a:p>
            <a:pPr>
              <a:lnSpc>
                <a:spcPts val="1200"/>
              </a:lnSpc>
            </a:pPr>
            <a:r>
              <a:rPr sz="1200" b="0">
                <a:solidFill>
                  <a:srgbClr val="000000"/>
                </a:solidFill>
                <a:latin typeface="Consolas" panose="020B0609020204030204"/>
                <a:ea typeface="Consolas" panose="020B0609020204030204"/>
              </a:rPr>
              <a:t>        </a:t>
            </a:r>
            <a:r>
              <a:rPr sz="1200" b="0">
                <a:solidFill>
                  <a:srgbClr val="0000FF"/>
                </a:solidFill>
                <a:latin typeface="Consolas" panose="020B0609020204030204"/>
                <a:ea typeface="Consolas" panose="020B0609020204030204"/>
              </a:rPr>
              <a:t>auto</a:t>
            </a:r>
            <a:r>
              <a:rPr sz="1200" b="0">
                <a:solidFill>
                  <a:srgbClr val="000000"/>
                </a:solidFill>
                <a:latin typeface="Consolas" panose="020B0609020204030204"/>
                <a:ea typeface="Consolas" panose="020B0609020204030204"/>
              </a:rPr>
              <a:t> it = factories.find(type);</a:t>
            </a:r>
            <a:endParaRPr sz="1200" b="0">
              <a:solidFill>
                <a:srgbClr val="000000"/>
              </a:solidFill>
              <a:latin typeface="Consolas" panose="020B0609020204030204"/>
              <a:ea typeface="Consolas" panose="020B0609020204030204"/>
            </a:endParaRPr>
          </a:p>
          <a:p>
            <a:pPr>
              <a:lnSpc>
                <a:spcPts val="1200"/>
              </a:lnSpc>
            </a:pPr>
            <a:r>
              <a:rPr sz="1200" b="0">
                <a:solidFill>
                  <a:srgbClr val="000000"/>
                </a:solidFill>
                <a:latin typeface="Consolas" panose="020B0609020204030204"/>
                <a:ea typeface="Consolas" panose="020B0609020204030204"/>
              </a:rPr>
              <a:t>        </a:t>
            </a:r>
            <a:r>
              <a:rPr sz="1200" b="0">
                <a:solidFill>
                  <a:srgbClr val="0000FF"/>
                </a:solidFill>
                <a:latin typeface="Consolas" panose="020B0609020204030204"/>
                <a:ea typeface="Consolas" panose="020B0609020204030204"/>
              </a:rPr>
              <a:t>if</a:t>
            </a:r>
            <a:r>
              <a:rPr sz="1200" b="0">
                <a:solidFill>
                  <a:srgbClr val="000000"/>
                </a:solidFill>
                <a:latin typeface="Consolas" panose="020B0609020204030204"/>
                <a:ea typeface="Consolas" panose="020B0609020204030204"/>
              </a:rPr>
              <a:t> (it != factories.end())</a:t>
            </a:r>
            <a:endParaRPr sz="1200" b="0">
              <a:solidFill>
                <a:srgbClr val="000000"/>
              </a:solidFill>
              <a:latin typeface="Consolas" panose="020B0609020204030204"/>
              <a:ea typeface="Consolas" panose="020B0609020204030204"/>
            </a:endParaRPr>
          </a:p>
          <a:p>
            <a:pPr>
              <a:lnSpc>
                <a:spcPts val="1200"/>
              </a:lnSpc>
            </a:pPr>
            <a:r>
              <a:rPr sz="1200" b="0">
                <a:solidFill>
                  <a:srgbClr val="000000"/>
                </a:solidFill>
                <a:latin typeface="Consolas" panose="020B0609020204030204"/>
                <a:ea typeface="Consolas" panose="020B0609020204030204"/>
              </a:rPr>
              <a:t>        {</a:t>
            </a:r>
            <a:endParaRPr sz="1200" b="0">
              <a:solidFill>
                <a:srgbClr val="000000"/>
              </a:solidFill>
              <a:latin typeface="Consolas" panose="020B0609020204030204"/>
              <a:ea typeface="Consolas" panose="020B0609020204030204"/>
            </a:endParaRPr>
          </a:p>
          <a:p>
            <a:pPr>
              <a:lnSpc>
                <a:spcPts val="1200"/>
              </a:lnSpc>
            </a:pPr>
            <a:r>
              <a:rPr sz="1200" b="0">
                <a:solidFill>
                  <a:srgbClr val="000000"/>
                </a:solidFill>
                <a:latin typeface="Consolas" panose="020B0609020204030204"/>
                <a:ea typeface="Consolas" panose="020B0609020204030204"/>
              </a:rPr>
              <a:t>            </a:t>
            </a:r>
            <a:r>
              <a:rPr sz="1200" b="0">
                <a:solidFill>
                  <a:srgbClr val="0000FF"/>
                </a:solidFill>
                <a:latin typeface="Consolas" panose="020B0609020204030204"/>
                <a:ea typeface="Consolas" panose="020B0609020204030204"/>
              </a:rPr>
              <a:t>return</a:t>
            </a:r>
            <a:r>
              <a:rPr sz="1200" b="0">
                <a:solidFill>
                  <a:srgbClr val="000000"/>
                </a:solidFill>
                <a:latin typeface="Consolas" panose="020B0609020204030204"/>
                <a:ea typeface="Consolas" panose="020B0609020204030204"/>
              </a:rPr>
              <a:t> it-&gt;second;</a:t>
            </a:r>
            <a:endParaRPr sz="1200" b="0">
              <a:solidFill>
                <a:srgbClr val="000000"/>
              </a:solidFill>
              <a:latin typeface="Consolas" panose="020B0609020204030204"/>
              <a:ea typeface="Consolas" panose="020B0609020204030204"/>
            </a:endParaRPr>
          </a:p>
          <a:p>
            <a:pPr>
              <a:lnSpc>
                <a:spcPts val="1200"/>
              </a:lnSpc>
            </a:pPr>
            <a:r>
              <a:rPr sz="1200" b="0">
                <a:solidFill>
                  <a:srgbClr val="000000"/>
                </a:solidFill>
                <a:latin typeface="Consolas" panose="020B0609020204030204"/>
                <a:ea typeface="Consolas" panose="020B0609020204030204"/>
              </a:rPr>
              <a:t>        }</a:t>
            </a:r>
            <a:endParaRPr sz="1200" b="0">
              <a:solidFill>
                <a:srgbClr val="000000"/>
              </a:solidFill>
              <a:latin typeface="Consolas" panose="020B0609020204030204"/>
              <a:ea typeface="Consolas" panose="020B0609020204030204"/>
            </a:endParaRPr>
          </a:p>
          <a:p>
            <a:pPr>
              <a:lnSpc>
                <a:spcPts val="1200"/>
              </a:lnSpc>
            </a:pPr>
            <a:r>
              <a:rPr sz="1200" b="0">
                <a:solidFill>
                  <a:srgbClr val="000000"/>
                </a:solidFill>
                <a:latin typeface="Consolas" panose="020B0609020204030204"/>
                <a:ea typeface="Consolas" panose="020B0609020204030204"/>
              </a:rPr>
              <a:t>        </a:t>
            </a:r>
            <a:r>
              <a:rPr sz="1200" b="0">
                <a:solidFill>
                  <a:srgbClr val="0000FF"/>
                </a:solidFill>
                <a:latin typeface="Consolas" panose="020B0609020204030204"/>
                <a:ea typeface="Consolas" panose="020B0609020204030204"/>
              </a:rPr>
              <a:t>returnnullptr</a:t>
            </a:r>
            <a:r>
              <a:rPr sz="1200" b="0">
                <a:solidFill>
                  <a:srgbClr val="000000"/>
                </a:solidFill>
                <a:latin typeface="Consolas" panose="020B0609020204030204"/>
                <a:ea typeface="Consolas" panose="020B0609020204030204"/>
              </a:rPr>
              <a:t>;</a:t>
            </a:r>
            <a:endParaRPr sz="1200" b="0">
              <a:solidFill>
                <a:srgbClr val="000000"/>
              </a:solidFill>
              <a:latin typeface="Consolas" panose="020B0609020204030204"/>
              <a:ea typeface="Consolas" panose="020B0609020204030204"/>
            </a:endParaRPr>
          </a:p>
          <a:p>
            <a:pPr>
              <a:lnSpc>
                <a:spcPts val="1200"/>
              </a:lnSpc>
            </a:pPr>
            <a:r>
              <a:rPr sz="1200" b="0">
                <a:solidFill>
                  <a:srgbClr val="000000"/>
                </a:solidFill>
                <a:latin typeface="Consolas" panose="020B0609020204030204"/>
                <a:ea typeface="Consolas" panose="020B0609020204030204"/>
              </a:rPr>
              <a:t>    }</a:t>
            </a:r>
            <a:endParaRPr sz="1200" b="0">
              <a:solidFill>
                <a:srgbClr val="000000"/>
              </a:solidFill>
              <a:latin typeface="Consolas" panose="020B0609020204030204"/>
              <a:ea typeface="Consolas" panose="020B0609020204030204"/>
            </a:endParaRPr>
          </a:p>
          <a:p>
            <a:pPr>
              <a:lnSpc>
                <a:spcPts val="1200"/>
              </a:lnSpc>
            </a:pPr>
            <a:r>
              <a:rPr sz="1200" b="0">
                <a:solidFill>
                  <a:srgbClr val="0000FF"/>
                </a:solidFill>
                <a:latin typeface="Consolas" panose="020B0609020204030204"/>
                <a:ea typeface="Consolas" panose="020B0609020204030204"/>
              </a:rPr>
              <a:t>private:</a:t>
            </a:r>
            <a:endParaRPr sz="1200" b="0">
              <a:solidFill>
                <a:srgbClr val="0000FF"/>
              </a:solidFill>
              <a:latin typeface="Consolas" panose="020B0609020204030204"/>
              <a:ea typeface="Consolas" panose="020B0609020204030204"/>
            </a:endParaRPr>
          </a:p>
          <a:p>
            <a:pPr>
              <a:lnSpc>
                <a:spcPts val="1200"/>
              </a:lnSpc>
            </a:pPr>
            <a:r>
              <a:rPr sz="1200" b="0">
                <a:solidFill>
                  <a:srgbClr val="000000"/>
                </a:solidFill>
                <a:latin typeface="Consolas" panose="020B0609020204030204"/>
                <a:ea typeface="Consolas" panose="020B0609020204030204"/>
              </a:rPr>
              <a:t>    FactoryRegistry() = </a:t>
            </a:r>
            <a:r>
              <a:rPr sz="1200" b="0">
                <a:solidFill>
                  <a:srgbClr val="0000FF"/>
                </a:solidFill>
                <a:latin typeface="Consolas" panose="020B0609020204030204"/>
                <a:ea typeface="Consolas" panose="020B0609020204030204"/>
              </a:rPr>
              <a:t>default</a:t>
            </a:r>
            <a:r>
              <a:rPr sz="1200" b="0">
                <a:solidFill>
                  <a:srgbClr val="000000"/>
                </a:solidFill>
                <a:latin typeface="Consolas" panose="020B0609020204030204"/>
                <a:ea typeface="Consolas" panose="020B0609020204030204"/>
              </a:rPr>
              <a:t>;</a:t>
            </a:r>
            <a:endParaRPr sz="1200" b="0">
              <a:solidFill>
                <a:srgbClr val="000000"/>
              </a:solidFill>
              <a:latin typeface="Consolas" panose="020B0609020204030204"/>
              <a:ea typeface="Consolas" panose="020B0609020204030204"/>
            </a:endParaRPr>
          </a:p>
          <a:p>
            <a:pPr>
              <a:lnSpc>
                <a:spcPts val="1200"/>
              </a:lnSpc>
            </a:pPr>
            <a:r>
              <a:rPr sz="1200" b="0">
                <a:solidFill>
                  <a:srgbClr val="000000"/>
                </a:solidFill>
                <a:latin typeface="Consolas" panose="020B0609020204030204"/>
                <a:ea typeface="Consolas" panose="020B0609020204030204"/>
              </a:rPr>
              <a:t>    unordered_map&lt;FoodType, FoodFactory *&gt; factories;</a:t>
            </a:r>
            <a:endParaRPr sz="1200" b="0">
              <a:solidFill>
                <a:srgbClr val="000000"/>
              </a:solidFill>
              <a:latin typeface="Consolas" panose="020B0609020204030204"/>
              <a:ea typeface="Consolas" panose="020B0609020204030204"/>
            </a:endParaRPr>
          </a:p>
          <a:p>
            <a:pPr>
              <a:lnSpc>
                <a:spcPts val="1200"/>
              </a:lnSpc>
            </a:pPr>
            <a:r>
              <a:rPr sz="1200" b="0">
                <a:solidFill>
                  <a:srgbClr val="000000"/>
                </a:solidFill>
                <a:latin typeface="Consolas" panose="020B0609020204030204"/>
                <a:ea typeface="Consolas" panose="020B0609020204030204"/>
              </a:rPr>
              <a:t>};</a:t>
            </a:r>
            <a:endParaRPr sz="1200" b="0">
              <a:solidFill>
                <a:srgbClr val="000000"/>
              </a:solidFill>
              <a:latin typeface="Consolas" panose="020B0609020204030204"/>
              <a:ea typeface="Consolas" panose="020B0609020204030204"/>
            </a:endParaRPr>
          </a:p>
        </p:txBody>
      </p:sp>
      <p:cxnSp>
        <p:nvCxnSpPr>
          <p:cNvPr id="6" name="Straight Connector 5"/>
          <p:cNvCxnSpPr/>
          <p:nvPr/>
        </p:nvCxnSpPr>
        <p:spPr>
          <a:xfrm>
            <a:off x="5933440" y="2320925"/>
            <a:ext cx="23495" cy="3507740"/>
          </a:xfrm>
          <a:prstGeom prst="line">
            <a:avLst/>
          </a:prstGeom>
          <a:ln w="38100">
            <a:solidFill>
              <a:schemeClr val="accent1"/>
            </a:solidFill>
          </a:ln>
        </p:spPr>
        <p:style>
          <a:lnRef idx="2">
            <a:schemeClr val="accent1"/>
          </a:lnRef>
          <a:fillRef idx="0">
            <a:srgbClr val="FFFFFF"/>
          </a:fillRef>
          <a:effectRef idx="0">
            <a:srgbClr val="FFFFFF"/>
          </a:effectRef>
          <a:fontRef idx="minor">
            <a:schemeClr val="tx1"/>
          </a:fontRef>
        </p:style>
      </p:cxnSp>
      <p:sp>
        <p:nvSpPr>
          <p:cNvPr id="8" name="Text Box 7"/>
          <p:cNvSpPr txBox="1"/>
          <p:nvPr/>
        </p:nvSpPr>
        <p:spPr>
          <a:xfrm>
            <a:off x="3686175" y="1566545"/>
            <a:ext cx="1771015" cy="389890"/>
          </a:xfrm>
          <a:prstGeom prst="rect">
            <a:avLst/>
          </a:prstGeom>
          <a:noFill/>
        </p:spPr>
        <p:txBody>
          <a:bodyPr wrap="square" rtlCol="0">
            <a:noAutofit/>
          </a:bodyPr>
          <a:p>
            <a:r>
              <a:rPr lang="en-US" b="1">
                <a:solidFill>
                  <a:srgbClr val="C00000"/>
                </a:solidFill>
                <a:latin typeface="Times New Roman" panose="02020603050405020304" pitchFamily="18" charset="0"/>
                <a:cs typeface="Times New Roman" panose="02020603050405020304" pitchFamily="18" charset="0"/>
              </a:rPr>
              <a:t>foodFactory.h</a:t>
            </a:r>
            <a:endParaRPr lang="en-US" b="1">
              <a:solidFill>
                <a:srgbClr val="C00000"/>
              </a:solidFill>
              <a:latin typeface="Times New Roman" panose="02020603050405020304" pitchFamily="18" charset="0"/>
              <a:cs typeface="Times New Roman" panose="02020603050405020304" pitchFamily="18" charset="0"/>
            </a:endParaRPr>
          </a:p>
          <a:p>
            <a:endParaRPr lang="en-US" b="1">
              <a:solidFill>
                <a:srgbClr val="C00000"/>
              </a:solidFill>
              <a:latin typeface="Times New Roman" panose="02020603050405020304" pitchFamily="18" charset="0"/>
              <a:cs typeface="Times New Roman" panose="02020603050405020304" pitchFamily="18" charset="0"/>
            </a:endParaRPr>
          </a:p>
        </p:txBody>
      </p:sp>
      <p:sp>
        <p:nvSpPr>
          <p:cNvPr id="7" name="Text Box 6"/>
          <p:cNvSpPr txBox="1"/>
          <p:nvPr/>
        </p:nvSpPr>
        <p:spPr>
          <a:xfrm>
            <a:off x="9292590" y="1691005"/>
            <a:ext cx="1856740" cy="389890"/>
          </a:xfrm>
          <a:prstGeom prst="rect">
            <a:avLst/>
          </a:prstGeom>
          <a:noFill/>
        </p:spPr>
        <p:txBody>
          <a:bodyPr wrap="square" rtlCol="0">
            <a:noAutofit/>
          </a:bodyPr>
          <a:p>
            <a:r>
              <a:rPr lang="en-US" b="1">
                <a:solidFill>
                  <a:srgbClr val="C00000"/>
                </a:solidFill>
                <a:latin typeface="Times New Roman" panose="02020603050405020304" pitchFamily="18" charset="0"/>
                <a:cs typeface="Times New Roman" panose="02020603050405020304" pitchFamily="18" charset="0"/>
              </a:rPr>
              <a:t>factoryRegister.h</a:t>
            </a:r>
            <a:endParaRPr lang="en-US" b="1">
              <a:solidFill>
                <a:srgbClr val="C00000"/>
              </a:solidFill>
              <a:latin typeface="Times New Roman" panose="02020603050405020304" pitchFamily="18" charset="0"/>
              <a:cs typeface="Times New Roman" panose="02020603050405020304" pitchFamily="18" charset="0"/>
            </a:endParaRPr>
          </a:p>
          <a:p>
            <a:endParaRPr lang="en-US" b="1">
              <a:solidFill>
                <a:srgbClr val="C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a:latin typeface="Times New Roman" panose="02020603050405020304" pitchFamily="18" charset="0"/>
                <a:cs typeface="Times New Roman" panose="02020603050405020304" pitchFamily="18" charset="0"/>
                <a:sym typeface="+mn-ea"/>
              </a:rPr>
              <a:t>Example 2 (</a:t>
            </a:r>
            <a:r>
              <a:rPr lang="en-US" altLang="en-US" b="1">
                <a:latin typeface="Times New Roman" panose="02020603050405020304" pitchFamily="18" charset="0"/>
                <a:cs typeface="Times New Roman" panose="02020603050405020304" pitchFamily="18" charset="0"/>
                <a:sym typeface="+mn-ea"/>
              </a:rPr>
              <a:t>Restaurant Order Processing)</a:t>
            </a:r>
            <a:endParaRPr lang="en-US"/>
          </a:p>
        </p:txBody>
      </p:sp>
      <p:sp>
        <p:nvSpPr>
          <p:cNvPr id="4" name="Text Box 3"/>
          <p:cNvSpPr txBox="1"/>
          <p:nvPr/>
        </p:nvSpPr>
        <p:spPr>
          <a:xfrm>
            <a:off x="525780" y="1691005"/>
            <a:ext cx="7707630" cy="4554220"/>
          </a:xfrm>
          <a:prstGeom prst="rect">
            <a:avLst/>
          </a:prstGeom>
        </p:spPr>
        <p:txBody>
          <a:bodyPr wrap="square">
            <a:spAutoFit/>
          </a:bodyPr>
          <a:p>
            <a:pPr>
              <a:lnSpc>
                <a:spcPts val="1200"/>
              </a:lnSpc>
            </a:pPr>
            <a:r>
              <a:rPr sz="1400" b="0">
                <a:solidFill>
                  <a:srgbClr val="0000FF"/>
                </a:solidFill>
                <a:latin typeface="Consolas" panose="020B0609020204030204"/>
                <a:ea typeface="Consolas" panose="020B0609020204030204"/>
              </a:rPr>
              <a:t>#include </a:t>
            </a:r>
            <a:r>
              <a:rPr sz="1400" b="0">
                <a:solidFill>
                  <a:srgbClr val="A31515"/>
                </a:solidFill>
                <a:latin typeface="Consolas" panose="020B0609020204030204"/>
                <a:ea typeface="Consolas" panose="020B0609020204030204"/>
              </a:rPr>
              <a:t>"factoryRegister.h"</a:t>
            </a:r>
            <a:endParaRPr sz="1400" b="0">
              <a:solidFill>
                <a:srgbClr val="A31515"/>
              </a:solidFill>
              <a:latin typeface="Consolas" panose="020B0609020204030204"/>
              <a:ea typeface="Consolas" panose="020B0609020204030204"/>
            </a:endParaRPr>
          </a:p>
          <a:p>
            <a:pPr>
              <a:lnSpc>
                <a:spcPts val="1200"/>
              </a:lnSpc>
            </a:pPr>
            <a:r>
              <a:rPr sz="1400" b="0">
                <a:solidFill>
                  <a:srgbClr val="0000FF"/>
                </a:solidFill>
                <a:latin typeface="Consolas" panose="020B0609020204030204"/>
                <a:ea typeface="Consolas" panose="020B0609020204030204"/>
              </a:rPr>
              <a:t>#include </a:t>
            </a:r>
            <a:r>
              <a:rPr sz="1400" b="0">
                <a:solidFill>
                  <a:srgbClr val="A31515"/>
                </a:solidFill>
                <a:latin typeface="Consolas" panose="020B0609020204030204"/>
                <a:ea typeface="Consolas" panose="020B0609020204030204"/>
              </a:rPr>
              <a:t>"foodFactory.h"</a:t>
            </a:r>
            <a:endParaRPr sz="1400" b="0">
              <a:solidFill>
                <a:srgbClr val="A31515"/>
              </a:solidFill>
              <a:latin typeface="Consolas" panose="020B0609020204030204"/>
              <a:ea typeface="Consolas" panose="020B0609020204030204"/>
            </a:endParaRPr>
          </a:p>
          <a:p>
            <a:pPr>
              <a:lnSpc>
                <a:spcPts val="1200"/>
              </a:lnSpc>
            </a:pPr>
            <a:r>
              <a:rPr sz="1400" b="0">
                <a:solidFill>
                  <a:srgbClr val="0000FF"/>
                </a:solidFill>
                <a:latin typeface="Consolas" panose="020B0609020204030204"/>
                <a:ea typeface="Consolas" panose="020B0609020204030204"/>
              </a:rPr>
              <a:t>#include </a:t>
            </a:r>
            <a:r>
              <a:rPr sz="1400" b="0">
                <a:solidFill>
                  <a:srgbClr val="A31515"/>
                </a:solidFill>
                <a:latin typeface="Consolas" panose="020B0609020204030204"/>
                <a:ea typeface="Consolas" panose="020B0609020204030204"/>
              </a:rPr>
              <a:t>"foodItem.h"</a:t>
            </a:r>
            <a:endParaRPr sz="1400" b="0">
              <a:solidFill>
                <a:srgbClr val="A31515"/>
              </a:solidFill>
              <a:latin typeface="Consolas" panose="020B0609020204030204"/>
              <a:ea typeface="Consolas" panose="020B0609020204030204"/>
            </a:endParaRPr>
          </a:p>
          <a:p>
            <a:pPr>
              <a:lnSpc>
                <a:spcPts val="1200"/>
              </a:lnSpc>
            </a:pPr>
            <a:endParaRPr sz="1400" b="0">
              <a:solidFill>
                <a:srgbClr val="A31515"/>
              </a:solidFill>
              <a:latin typeface="Consolas" panose="020B0609020204030204"/>
              <a:ea typeface="Consolas" panose="020B0609020204030204"/>
            </a:endParaRPr>
          </a:p>
          <a:p>
            <a:pPr>
              <a:lnSpc>
                <a:spcPts val="1200"/>
              </a:lnSpc>
            </a:pPr>
            <a:r>
              <a:rPr sz="1400" b="0">
                <a:solidFill>
                  <a:srgbClr val="0000FF"/>
                </a:solidFill>
                <a:latin typeface="Consolas" panose="020B0609020204030204"/>
                <a:ea typeface="Consolas" panose="020B0609020204030204"/>
              </a:rPr>
              <a:t>int</a:t>
            </a:r>
            <a:r>
              <a:rPr sz="1400" b="0">
                <a:solidFill>
                  <a:srgbClr val="000000"/>
                </a:solidFill>
                <a:latin typeface="Consolas" panose="020B0609020204030204"/>
                <a:ea typeface="Consolas" panose="020B0609020204030204"/>
              </a:rPr>
              <a:t> main()</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a:t>
            </a:r>
            <a:endParaRPr sz="1400" b="0">
              <a:solidFill>
                <a:srgbClr val="000000"/>
              </a:solidFill>
              <a:latin typeface="Consolas" panose="020B0609020204030204"/>
              <a:ea typeface="Consolas" panose="020B0609020204030204"/>
            </a:endParaRPr>
          </a:p>
          <a:p>
            <a:pPr>
              <a:lnSpc>
                <a:spcPts val="1200"/>
              </a:lnSpc>
            </a:pPr>
            <a:r>
              <a:rPr sz="1400" b="0">
                <a:solidFill>
                  <a:srgbClr val="008000"/>
                </a:solidFill>
                <a:latin typeface="Consolas" panose="020B0609020204030204"/>
                <a:ea typeface="Consolas" panose="020B0609020204030204"/>
              </a:rPr>
              <a:t>    // Get the singleton instance of the FactoryRegistry</a:t>
            </a:r>
            <a:endParaRPr sz="1400" b="0">
              <a:solidFill>
                <a:srgbClr val="008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FactoryRegistry &amp;registry = FactoryRegistry::getInstance();</a:t>
            </a:r>
            <a:endParaRPr sz="1400" b="0">
              <a:solidFill>
                <a:srgbClr val="000000"/>
              </a:solidFill>
              <a:latin typeface="Consolas" panose="020B0609020204030204"/>
              <a:ea typeface="Consolas" panose="020B0609020204030204"/>
            </a:endParaRPr>
          </a:p>
          <a:p>
            <a:pPr>
              <a:lnSpc>
                <a:spcPts val="1200"/>
              </a:lnSpc>
            </a:pPr>
            <a:endParaRPr sz="1400" b="0">
              <a:solidFill>
                <a:srgbClr val="000000"/>
              </a:solidFill>
              <a:latin typeface="Consolas" panose="020B0609020204030204"/>
              <a:ea typeface="Consolas" panose="020B0609020204030204"/>
            </a:endParaRPr>
          </a:p>
          <a:p>
            <a:pPr>
              <a:lnSpc>
                <a:spcPts val="1200"/>
              </a:lnSpc>
            </a:pPr>
            <a:r>
              <a:rPr sz="1400" b="0">
                <a:solidFill>
                  <a:srgbClr val="008000"/>
                </a:solidFill>
                <a:latin typeface="Consolas" panose="020B0609020204030204"/>
                <a:ea typeface="Consolas" panose="020B0609020204030204"/>
              </a:rPr>
              <a:t>    // Register Factories</a:t>
            </a:r>
            <a:endParaRPr sz="1400" b="0">
              <a:solidFill>
                <a:srgbClr val="008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registry.registerFactory(FoodType::</a:t>
            </a:r>
            <a:r>
              <a:rPr sz="1400" b="0">
                <a:solidFill>
                  <a:srgbClr val="098658"/>
                </a:solidFill>
                <a:latin typeface="Consolas" panose="020B0609020204030204"/>
                <a:ea typeface="Consolas" panose="020B0609020204030204"/>
              </a:rPr>
              <a:t>PIZZA</a:t>
            </a:r>
            <a:r>
              <a:rPr sz="1400" b="0">
                <a:solidFill>
                  <a:srgbClr val="000000"/>
                </a:solidFill>
                <a:latin typeface="Consolas" panose="020B0609020204030204"/>
                <a:ea typeface="Consolas" panose="020B0609020204030204"/>
              </a:rPr>
              <a:t>, </a:t>
            </a:r>
            <a:r>
              <a:rPr sz="1400" b="0">
                <a:solidFill>
                  <a:srgbClr val="0000FF"/>
                </a:solidFill>
                <a:latin typeface="Consolas" panose="020B0609020204030204"/>
                <a:ea typeface="Consolas" panose="020B0609020204030204"/>
              </a:rPr>
              <a:t>new</a:t>
            </a:r>
            <a:r>
              <a:rPr sz="1400" b="0">
                <a:solidFill>
                  <a:srgbClr val="000000"/>
                </a:solidFill>
                <a:latin typeface="Consolas" panose="020B0609020204030204"/>
                <a:ea typeface="Consolas" panose="020B0609020204030204"/>
              </a:rPr>
              <a:t> CheesePizzaFactory());</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registry.registerFactory(FoodType::</a:t>
            </a:r>
            <a:r>
              <a:rPr sz="1400" b="0">
                <a:solidFill>
                  <a:srgbClr val="098658"/>
                </a:solidFill>
                <a:latin typeface="Consolas" panose="020B0609020204030204"/>
                <a:ea typeface="Consolas" panose="020B0609020204030204"/>
              </a:rPr>
              <a:t>PASTA</a:t>
            </a:r>
            <a:r>
              <a:rPr sz="1400" b="0">
                <a:solidFill>
                  <a:srgbClr val="000000"/>
                </a:solidFill>
                <a:latin typeface="Consolas" panose="020B0609020204030204"/>
                <a:ea typeface="Consolas" panose="020B0609020204030204"/>
              </a:rPr>
              <a:t>, </a:t>
            </a:r>
            <a:r>
              <a:rPr sz="1400" b="0">
                <a:solidFill>
                  <a:srgbClr val="0000FF"/>
                </a:solidFill>
                <a:latin typeface="Consolas" panose="020B0609020204030204"/>
                <a:ea typeface="Consolas" panose="020B0609020204030204"/>
              </a:rPr>
              <a:t>new</a:t>
            </a:r>
            <a:r>
              <a:rPr sz="1400" b="0">
                <a:solidFill>
                  <a:srgbClr val="000000"/>
                </a:solidFill>
                <a:latin typeface="Consolas" panose="020B0609020204030204"/>
                <a:ea typeface="Consolas" panose="020B0609020204030204"/>
              </a:rPr>
              <a:t> SpaghettiPizzaFactory());</a:t>
            </a:r>
            <a:endParaRPr sz="1400" b="0">
              <a:solidFill>
                <a:srgbClr val="000000"/>
              </a:solidFill>
              <a:latin typeface="Consolas" panose="020B0609020204030204"/>
              <a:ea typeface="Consolas" panose="020B0609020204030204"/>
            </a:endParaRPr>
          </a:p>
          <a:p>
            <a:pPr>
              <a:lnSpc>
                <a:spcPts val="1200"/>
              </a:lnSpc>
            </a:pPr>
            <a:endParaRPr sz="1400" b="0">
              <a:solidFill>
                <a:srgbClr val="000000"/>
              </a:solidFill>
              <a:latin typeface="Consolas" panose="020B0609020204030204"/>
              <a:ea typeface="Consolas" panose="020B0609020204030204"/>
            </a:endParaRPr>
          </a:p>
          <a:p>
            <a:pPr>
              <a:lnSpc>
                <a:spcPts val="1200"/>
              </a:lnSpc>
            </a:pPr>
            <a:r>
              <a:rPr sz="1400" b="0">
                <a:solidFill>
                  <a:srgbClr val="008000"/>
                </a:solidFill>
                <a:latin typeface="Consolas" panose="020B0609020204030204"/>
                <a:ea typeface="Consolas" panose="020B0609020204030204"/>
              </a:rPr>
              <a:t>    // Simulate a Customer Order</a:t>
            </a:r>
            <a:endParaRPr sz="1400" b="0">
              <a:solidFill>
                <a:srgbClr val="008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FoodType cutomerOrder = FoodType::</a:t>
            </a:r>
            <a:r>
              <a:rPr sz="1400" b="0">
                <a:solidFill>
                  <a:srgbClr val="098658"/>
                </a:solidFill>
                <a:latin typeface="Consolas" panose="020B0609020204030204"/>
                <a:ea typeface="Consolas" panose="020B0609020204030204"/>
              </a:rPr>
              <a:t>PIZZA</a:t>
            </a:r>
            <a:r>
              <a:rPr sz="1400" b="0">
                <a:solidFill>
                  <a:srgbClr val="000000"/>
                </a:solidFill>
                <a:latin typeface="Consolas" panose="020B0609020204030204"/>
                <a:ea typeface="Consolas" panose="020B0609020204030204"/>
              </a:rPr>
              <a:t>;</a:t>
            </a:r>
            <a:endParaRPr sz="1400" b="0">
              <a:solidFill>
                <a:srgbClr val="000000"/>
              </a:solidFill>
              <a:latin typeface="Consolas" panose="020B0609020204030204"/>
              <a:ea typeface="Consolas" panose="020B0609020204030204"/>
            </a:endParaRPr>
          </a:p>
          <a:p>
            <a:pPr>
              <a:lnSpc>
                <a:spcPts val="1200"/>
              </a:lnSpc>
            </a:pP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FoodFactory *factory = registry.getFactory(cutomerOrder);</a:t>
            </a:r>
            <a:endParaRPr sz="1400" b="0">
              <a:solidFill>
                <a:srgbClr val="000000"/>
              </a:solidFill>
              <a:latin typeface="Consolas" panose="020B0609020204030204"/>
              <a:ea typeface="Consolas" panose="020B0609020204030204"/>
            </a:endParaRPr>
          </a:p>
          <a:p>
            <a:pPr>
              <a:lnSpc>
                <a:spcPts val="1200"/>
              </a:lnSpc>
            </a:pP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a:t>
            </a:r>
            <a:r>
              <a:rPr sz="1400" b="0">
                <a:solidFill>
                  <a:srgbClr val="0000FF"/>
                </a:solidFill>
                <a:latin typeface="Consolas" panose="020B0609020204030204"/>
                <a:ea typeface="Consolas" panose="020B0609020204030204"/>
              </a:rPr>
              <a:t>if</a:t>
            </a:r>
            <a:r>
              <a:rPr sz="1400" b="0">
                <a:solidFill>
                  <a:srgbClr val="000000"/>
                </a:solidFill>
                <a:latin typeface="Consolas" panose="020B0609020204030204"/>
                <a:ea typeface="Consolas" panose="020B0609020204030204"/>
              </a:rPr>
              <a:t> (factory)</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FoodItem *food = factory-&gt;createFood();</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food-&gt;prepare();</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a:t>
            </a:r>
            <a:r>
              <a:rPr sz="1400" b="0">
                <a:solidFill>
                  <a:srgbClr val="0000FF"/>
                </a:solidFill>
                <a:latin typeface="Consolas" panose="020B0609020204030204"/>
                <a:ea typeface="Consolas" panose="020B0609020204030204"/>
              </a:rPr>
              <a:t>else</a:t>
            </a:r>
            <a:endParaRPr sz="1400" b="0">
              <a:solidFill>
                <a:srgbClr val="0000FF"/>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cout &lt;&lt;</a:t>
            </a:r>
            <a:r>
              <a:rPr sz="1400" b="0">
                <a:solidFill>
                  <a:srgbClr val="A31515"/>
                </a:solidFill>
                <a:latin typeface="Consolas" panose="020B0609020204030204"/>
                <a:ea typeface="Consolas" panose="020B0609020204030204"/>
              </a:rPr>
              <a:t>"No factory found for the requested food type!"</a:t>
            </a:r>
            <a:r>
              <a:rPr sz="1400" b="0">
                <a:solidFill>
                  <a:srgbClr val="000000"/>
                </a:solidFill>
                <a:latin typeface="Consolas" panose="020B0609020204030204"/>
                <a:ea typeface="Consolas" panose="020B0609020204030204"/>
              </a:rPr>
              <a:t>&lt;&lt; endl;</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a:t>
            </a:r>
            <a:r>
              <a:rPr sz="1400" b="0">
                <a:solidFill>
                  <a:srgbClr val="0000FF"/>
                </a:solidFill>
                <a:latin typeface="Consolas" panose="020B0609020204030204"/>
                <a:ea typeface="Consolas" panose="020B0609020204030204"/>
              </a:rPr>
              <a:t>return</a:t>
            </a:r>
            <a:r>
              <a:rPr sz="1400" b="0">
                <a:solidFill>
                  <a:srgbClr val="098658"/>
                </a:solidFill>
                <a:latin typeface="Consolas" panose="020B0609020204030204"/>
                <a:ea typeface="Consolas" panose="020B0609020204030204"/>
              </a:rPr>
              <a:t>0</a:t>
            </a:r>
            <a:r>
              <a:rPr sz="1400" b="0">
                <a:solidFill>
                  <a:srgbClr val="000000"/>
                </a:solidFill>
                <a:latin typeface="Consolas" panose="020B0609020204030204"/>
                <a:ea typeface="Consolas" panose="020B0609020204030204"/>
              </a:rPr>
              <a:t>;</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a:t>
            </a:r>
            <a:endParaRPr sz="1400" b="0">
              <a:solidFill>
                <a:srgbClr val="000000"/>
              </a:solidFill>
              <a:latin typeface="Consolas" panose="020B0609020204030204"/>
              <a:ea typeface="Consolas" panose="020B0609020204030204"/>
            </a:endParaRPr>
          </a:p>
        </p:txBody>
      </p:sp>
      <p:sp>
        <p:nvSpPr>
          <p:cNvPr id="5" name="Text Box 4"/>
          <p:cNvSpPr txBox="1"/>
          <p:nvPr/>
        </p:nvSpPr>
        <p:spPr>
          <a:xfrm>
            <a:off x="8187690" y="4118610"/>
            <a:ext cx="3569335" cy="645160"/>
          </a:xfrm>
          <a:prstGeom prst="rect">
            <a:avLst/>
          </a:prstGeom>
          <a:noFill/>
        </p:spPr>
        <p:txBody>
          <a:bodyPr wrap="square" rtlCol="0" anchor="t">
            <a:spAutoFit/>
          </a:bodyPr>
          <a:p>
            <a:r>
              <a:rPr lang="en-US" altLang="en-US" b="1">
                <a:solidFill>
                  <a:srgbClr val="C00000"/>
                </a:solidFill>
                <a:latin typeface="Times New Roman" panose="02020603050405020304" pitchFamily="18" charset="0"/>
                <a:cs typeface="Times New Roman" panose="02020603050405020304" pitchFamily="18" charset="0"/>
              </a:rPr>
              <a:t>Output:</a:t>
            </a:r>
            <a:endParaRPr lang="en-US" altLang="en-US">
              <a:latin typeface="Times New Roman" panose="02020603050405020304" pitchFamily="18" charset="0"/>
              <a:cs typeface="Times New Roman" panose="02020603050405020304" pitchFamily="18" charset="0"/>
            </a:endParaRPr>
          </a:p>
          <a:p>
            <a:r>
              <a:rPr lang="en-US" altLang="en-US" b="1">
                <a:gradFill>
                  <a:gsLst>
                    <a:gs pos="0">
                      <a:srgbClr val="7B32B2"/>
                    </a:gs>
                    <a:gs pos="100000">
                      <a:srgbClr val="401A5D"/>
                    </a:gs>
                  </a:gsLst>
                  <a:lin scaled="0"/>
                </a:gradFill>
                <a:latin typeface="Times New Roman" panose="02020603050405020304" pitchFamily="18" charset="0"/>
                <a:cs typeface="Times New Roman" panose="02020603050405020304" pitchFamily="18" charset="0"/>
              </a:rPr>
              <a:t>Preparing Cheese Pizza</a:t>
            </a:r>
            <a:endParaRPr lang="en-US" altLang="en-US" b="1">
              <a:gradFill>
                <a:gsLst>
                  <a:gs pos="0">
                    <a:srgbClr val="7B32B2"/>
                  </a:gs>
                  <a:gs pos="100000">
                    <a:srgbClr val="401A5D"/>
                  </a:gs>
                </a:gsLst>
                <a:lin scaled="0"/>
              </a:gradFill>
              <a:latin typeface="Times New Roman" panose="02020603050405020304" pitchFamily="18" charset="0"/>
              <a:cs typeface="Times New Roman" panose="02020603050405020304" pitchFamily="18" charset="0"/>
            </a:endParaRPr>
          </a:p>
        </p:txBody>
      </p:sp>
      <p:sp>
        <p:nvSpPr>
          <p:cNvPr id="8" name="Text Box 7"/>
          <p:cNvSpPr txBox="1"/>
          <p:nvPr/>
        </p:nvSpPr>
        <p:spPr>
          <a:xfrm>
            <a:off x="4523740" y="1956435"/>
            <a:ext cx="1771015" cy="389890"/>
          </a:xfrm>
          <a:prstGeom prst="rect">
            <a:avLst/>
          </a:prstGeom>
          <a:noFill/>
        </p:spPr>
        <p:txBody>
          <a:bodyPr wrap="square" rtlCol="0">
            <a:noAutofit/>
          </a:bodyPr>
          <a:p>
            <a:r>
              <a:rPr lang="en-US" b="1">
                <a:solidFill>
                  <a:srgbClr val="C00000"/>
                </a:solidFill>
                <a:latin typeface="Times New Roman" panose="02020603050405020304" pitchFamily="18" charset="0"/>
                <a:cs typeface="Times New Roman" panose="02020603050405020304" pitchFamily="18" charset="0"/>
              </a:rPr>
              <a:t>main.cpp</a:t>
            </a:r>
            <a:endParaRPr lang="en-US" b="1">
              <a:solidFill>
                <a:srgbClr val="C00000"/>
              </a:solidFill>
              <a:latin typeface="Times New Roman" panose="02020603050405020304" pitchFamily="18" charset="0"/>
              <a:cs typeface="Times New Roman" panose="02020603050405020304" pitchFamily="18" charset="0"/>
            </a:endParaRPr>
          </a:p>
          <a:p>
            <a:endParaRPr lang="en-US" b="1">
              <a:solidFill>
                <a:srgbClr val="C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a:latin typeface="Times New Roman" panose="02020603050405020304" pitchFamily="18" charset="0"/>
                <a:cs typeface="Times New Roman" panose="02020603050405020304" pitchFamily="18" charset="0"/>
              </a:rPr>
              <a:t>Example 3 - PizzaOrdering (Code)</a:t>
            </a:r>
            <a:endParaRPr lang="en-US" b="1">
              <a:latin typeface="Times New Roman" panose="02020603050405020304" pitchFamily="18" charset="0"/>
              <a:cs typeface="Times New Roman" panose="02020603050405020304" pitchFamily="18" charset="0"/>
            </a:endParaRPr>
          </a:p>
        </p:txBody>
      </p:sp>
      <p:sp>
        <p:nvSpPr>
          <p:cNvPr id="5" name="Text Box 4"/>
          <p:cNvSpPr txBox="1"/>
          <p:nvPr/>
        </p:nvSpPr>
        <p:spPr>
          <a:xfrm>
            <a:off x="490220" y="1691005"/>
            <a:ext cx="6727190" cy="4707890"/>
          </a:xfrm>
          <a:prstGeom prst="rect">
            <a:avLst/>
          </a:prstGeom>
        </p:spPr>
        <p:txBody>
          <a:bodyPr wrap="square">
            <a:spAutoFit/>
          </a:bodyPr>
          <a:p>
            <a:pPr>
              <a:lnSpc>
                <a:spcPts val="1200"/>
              </a:lnSpc>
            </a:pPr>
            <a:r>
              <a:rPr sz="1400" b="0">
                <a:solidFill>
                  <a:srgbClr val="0000FF"/>
                </a:solidFill>
                <a:latin typeface="Consolas" panose="020B0609020204030204"/>
                <a:ea typeface="Consolas" panose="020B0609020204030204"/>
              </a:rPr>
              <a:t>#pragma </a:t>
            </a:r>
            <a:r>
              <a:rPr sz="1400" b="0">
                <a:solidFill>
                  <a:srgbClr val="E50000"/>
                </a:solidFill>
                <a:latin typeface="Consolas" panose="020B0609020204030204"/>
                <a:ea typeface="Consolas" panose="020B0609020204030204"/>
              </a:rPr>
              <a:t>once</a:t>
            </a:r>
            <a:endParaRPr sz="1400" b="0">
              <a:solidFill>
                <a:srgbClr val="E50000"/>
              </a:solidFill>
              <a:latin typeface="Consolas" panose="020B0609020204030204"/>
              <a:ea typeface="Consolas" panose="020B0609020204030204"/>
            </a:endParaRPr>
          </a:p>
          <a:p>
            <a:pPr>
              <a:lnSpc>
                <a:spcPts val="1200"/>
              </a:lnSpc>
            </a:pPr>
            <a:r>
              <a:rPr sz="1400" b="0">
                <a:solidFill>
                  <a:srgbClr val="0000FF"/>
                </a:solidFill>
                <a:latin typeface="Consolas" panose="020B0609020204030204"/>
                <a:ea typeface="Consolas" panose="020B0609020204030204"/>
              </a:rPr>
              <a:t>#include </a:t>
            </a:r>
            <a:r>
              <a:rPr sz="1400" b="0">
                <a:solidFill>
                  <a:srgbClr val="A31515"/>
                </a:solidFill>
                <a:latin typeface="Consolas" panose="020B0609020204030204"/>
                <a:ea typeface="Consolas" panose="020B0609020204030204"/>
              </a:rPr>
              <a:t>&lt;iostream&gt;</a:t>
            </a:r>
            <a:endParaRPr sz="1400" b="0">
              <a:solidFill>
                <a:srgbClr val="A31515"/>
              </a:solidFill>
              <a:latin typeface="Consolas" panose="020B0609020204030204"/>
              <a:ea typeface="Consolas" panose="020B0609020204030204"/>
            </a:endParaRPr>
          </a:p>
          <a:p>
            <a:pPr>
              <a:lnSpc>
                <a:spcPts val="1200"/>
              </a:lnSpc>
            </a:pPr>
            <a:r>
              <a:rPr sz="1400" b="0">
                <a:solidFill>
                  <a:srgbClr val="0000FF"/>
                </a:solidFill>
                <a:latin typeface="Consolas" panose="020B0609020204030204"/>
                <a:ea typeface="Consolas" panose="020B0609020204030204"/>
              </a:rPr>
              <a:t>#include </a:t>
            </a:r>
            <a:r>
              <a:rPr sz="1400" b="0">
                <a:solidFill>
                  <a:srgbClr val="A31515"/>
                </a:solidFill>
                <a:latin typeface="Consolas" panose="020B0609020204030204"/>
                <a:ea typeface="Consolas" panose="020B0609020204030204"/>
              </a:rPr>
              <a:t>&lt;string&gt;</a:t>
            </a:r>
            <a:endParaRPr sz="1400" b="0">
              <a:solidFill>
                <a:srgbClr val="A31515"/>
              </a:solidFill>
              <a:latin typeface="Consolas" panose="020B0609020204030204"/>
              <a:ea typeface="Consolas" panose="020B0609020204030204"/>
            </a:endParaRPr>
          </a:p>
          <a:p>
            <a:pPr>
              <a:lnSpc>
                <a:spcPts val="1200"/>
              </a:lnSpc>
            </a:pPr>
            <a:r>
              <a:rPr sz="1400" b="0">
                <a:solidFill>
                  <a:srgbClr val="0000FF"/>
                </a:solidFill>
                <a:latin typeface="Consolas" panose="020B0609020204030204"/>
                <a:ea typeface="Consolas" panose="020B0609020204030204"/>
              </a:rPr>
              <a:t>#include </a:t>
            </a:r>
            <a:r>
              <a:rPr sz="1400" b="0">
                <a:solidFill>
                  <a:srgbClr val="A31515"/>
                </a:solidFill>
                <a:latin typeface="Consolas" panose="020B0609020204030204"/>
                <a:ea typeface="Consolas" panose="020B0609020204030204"/>
              </a:rPr>
              <a:t>&lt;vector&gt;</a:t>
            </a:r>
            <a:endParaRPr sz="1400" b="0">
              <a:solidFill>
                <a:srgbClr val="A31515"/>
              </a:solidFill>
              <a:latin typeface="Consolas" panose="020B0609020204030204"/>
              <a:ea typeface="Consolas" panose="020B0609020204030204"/>
            </a:endParaRPr>
          </a:p>
          <a:p>
            <a:pPr>
              <a:lnSpc>
                <a:spcPts val="1200"/>
              </a:lnSpc>
            </a:pPr>
            <a:r>
              <a:rPr sz="1400" b="0">
                <a:solidFill>
                  <a:srgbClr val="0000FF"/>
                </a:solidFill>
                <a:latin typeface="Consolas" panose="020B0609020204030204"/>
                <a:ea typeface="Consolas" panose="020B0609020204030204"/>
              </a:rPr>
              <a:t>usingnamespace</a:t>
            </a:r>
            <a:r>
              <a:rPr sz="1400" b="0">
                <a:solidFill>
                  <a:srgbClr val="000000"/>
                </a:solidFill>
                <a:latin typeface="Consolas" panose="020B0609020204030204"/>
                <a:ea typeface="Consolas" panose="020B0609020204030204"/>
              </a:rPr>
              <a:t> std;</a:t>
            </a:r>
            <a:endParaRPr sz="1400" b="0">
              <a:solidFill>
                <a:srgbClr val="000000"/>
              </a:solidFill>
              <a:latin typeface="Consolas" panose="020B0609020204030204"/>
              <a:ea typeface="Consolas" panose="020B0609020204030204"/>
            </a:endParaRPr>
          </a:p>
          <a:p>
            <a:pPr>
              <a:lnSpc>
                <a:spcPts val="1200"/>
              </a:lnSpc>
            </a:pPr>
            <a:endParaRPr sz="1400" b="0">
              <a:solidFill>
                <a:srgbClr val="000000"/>
              </a:solidFill>
              <a:latin typeface="Consolas" panose="020B0609020204030204"/>
              <a:ea typeface="Consolas" panose="020B0609020204030204"/>
            </a:endParaRPr>
          </a:p>
          <a:p>
            <a:pPr>
              <a:lnSpc>
                <a:spcPts val="1200"/>
              </a:lnSpc>
            </a:pPr>
            <a:r>
              <a:rPr sz="1400" b="0">
                <a:solidFill>
                  <a:srgbClr val="0000FF"/>
                </a:solidFill>
                <a:latin typeface="Consolas" panose="020B0609020204030204"/>
                <a:ea typeface="Consolas" panose="020B0609020204030204"/>
              </a:rPr>
              <a:t>class</a:t>
            </a:r>
            <a:r>
              <a:rPr sz="1400" b="0">
                <a:solidFill>
                  <a:srgbClr val="000000"/>
                </a:solidFill>
                <a:latin typeface="Consolas" panose="020B0609020204030204"/>
                <a:ea typeface="Consolas" panose="020B0609020204030204"/>
              </a:rPr>
              <a:t> Pizza</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a:t>
            </a:r>
            <a:endParaRPr sz="1400" b="0">
              <a:solidFill>
                <a:srgbClr val="000000"/>
              </a:solidFill>
              <a:latin typeface="Consolas" panose="020B0609020204030204"/>
              <a:ea typeface="Consolas" panose="020B0609020204030204"/>
            </a:endParaRPr>
          </a:p>
          <a:p>
            <a:pPr>
              <a:lnSpc>
                <a:spcPts val="1200"/>
              </a:lnSpc>
            </a:pPr>
            <a:r>
              <a:rPr sz="1400" b="0">
                <a:solidFill>
                  <a:srgbClr val="0000FF"/>
                </a:solidFill>
                <a:latin typeface="Consolas" panose="020B0609020204030204"/>
                <a:ea typeface="Consolas" panose="020B0609020204030204"/>
              </a:rPr>
              <a:t>public:</a:t>
            </a:r>
            <a:endParaRPr sz="1400" b="0">
              <a:solidFill>
                <a:srgbClr val="0000FF"/>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Pizza() = </a:t>
            </a:r>
            <a:r>
              <a:rPr sz="1400" b="0">
                <a:solidFill>
                  <a:srgbClr val="0000FF"/>
                </a:solidFill>
                <a:latin typeface="Consolas" panose="020B0609020204030204"/>
                <a:ea typeface="Consolas" panose="020B0609020204030204"/>
              </a:rPr>
              <a:t>default</a:t>
            </a:r>
            <a:r>
              <a:rPr sz="1400" b="0">
                <a:solidFill>
                  <a:srgbClr val="000000"/>
                </a:solidFill>
                <a:latin typeface="Consolas" panose="020B0609020204030204"/>
                <a:ea typeface="Consolas" panose="020B0609020204030204"/>
              </a:rPr>
              <a:t>;</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a:t>
            </a:r>
            <a:r>
              <a:rPr sz="1400" b="0">
                <a:solidFill>
                  <a:srgbClr val="0000FF"/>
                </a:solidFill>
                <a:latin typeface="Consolas" panose="020B0609020204030204"/>
                <a:ea typeface="Consolas" panose="020B0609020204030204"/>
              </a:rPr>
              <a:t>virtual</a:t>
            </a:r>
            <a:r>
              <a:rPr sz="1400" b="0">
                <a:solidFill>
                  <a:srgbClr val="000000"/>
                </a:solidFill>
                <a:latin typeface="Consolas" panose="020B0609020204030204"/>
                <a:ea typeface="Consolas" panose="020B0609020204030204"/>
              </a:rPr>
              <a:t> ~Pizza() = </a:t>
            </a:r>
            <a:r>
              <a:rPr sz="1400" b="0">
                <a:solidFill>
                  <a:srgbClr val="0000FF"/>
                </a:solidFill>
                <a:latin typeface="Consolas" panose="020B0609020204030204"/>
                <a:ea typeface="Consolas" panose="020B0609020204030204"/>
              </a:rPr>
              <a:t>default</a:t>
            </a:r>
            <a:r>
              <a:rPr sz="1400" b="0">
                <a:solidFill>
                  <a:srgbClr val="000000"/>
                </a:solidFill>
                <a:latin typeface="Consolas" panose="020B0609020204030204"/>
                <a:ea typeface="Consolas" panose="020B0609020204030204"/>
              </a:rPr>
              <a:t>;</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a:t>
            </a:r>
            <a:r>
              <a:rPr sz="1400" b="0">
                <a:solidFill>
                  <a:srgbClr val="0000FF"/>
                </a:solidFill>
                <a:latin typeface="Consolas" panose="020B0609020204030204"/>
                <a:ea typeface="Consolas" panose="020B0609020204030204"/>
              </a:rPr>
              <a:t>virtualvoid</a:t>
            </a:r>
            <a:r>
              <a:rPr sz="1400" b="0">
                <a:solidFill>
                  <a:srgbClr val="000000"/>
                </a:solidFill>
                <a:latin typeface="Consolas" panose="020B0609020204030204"/>
                <a:ea typeface="Consolas" panose="020B0609020204030204"/>
              </a:rPr>
              <a:t> prepare() </a:t>
            </a:r>
            <a:r>
              <a:rPr sz="1400" b="0">
                <a:solidFill>
                  <a:srgbClr val="0000FF"/>
                </a:solidFill>
                <a:latin typeface="Consolas" panose="020B0609020204030204"/>
                <a:ea typeface="Consolas" panose="020B0609020204030204"/>
              </a:rPr>
              <a:t>const</a:t>
            </a:r>
            <a:r>
              <a:rPr sz="1400" b="0">
                <a:solidFill>
                  <a:srgbClr val="000000"/>
                </a:solidFill>
                <a:latin typeface="Consolas" panose="020B0609020204030204"/>
                <a:ea typeface="Consolas" panose="020B0609020204030204"/>
              </a:rPr>
              <a:t>;</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a:t>
            </a:r>
            <a:r>
              <a:rPr sz="1400" b="0">
                <a:solidFill>
                  <a:srgbClr val="0000FF"/>
                </a:solidFill>
                <a:latin typeface="Consolas" panose="020B0609020204030204"/>
                <a:ea typeface="Consolas" panose="020B0609020204030204"/>
              </a:rPr>
              <a:t>virtualvoid</a:t>
            </a:r>
            <a:r>
              <a:rPr sz="1400" b="0">
                <a:solidFill>
                  <a:srgbClr val="000000"/>
                </a:solidFill>
                <a:latin typeface="Consolas" panose="020B0609020204030204"/>
                <a:ea typeface="Consolas" panose="020B0609020204030204"/>
              </a:rPr>
              <a:t> bake() </a:t>
            </a:r>
            <a:r>
              <a:rPr sz="1400" b="0">
                <a:solidFill>
                  <a:srgbClr val="0000FF"/>
                </a:solidFill>
                <a:latin typeface="Consolas" panose="020B0609020204030204"/>
                <a:ea typeface="Consolas" panose="020B0609020204030204"/>
              </a:rPr>
              <a:t>const</a:t>
            </a:r>
            <a:endParaRPr sz="1400" b="0">
              <a:solidFill>
                <a:srgbClr val="0000FF"/>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cout &lt;&lt;</a:t>
            </a:r>
            <a:r>
              <a:rPr sz="1400" b="0">
                <a:solidFill>
                  <a:srgbClr val="A31515"/>
                </a:solidFill>
                <a:latin typeface="Consolas" panose="020B0609020204030204"/>
                <a:ea typeface="Consolas" panose="020B0609020204030204"/>
              </a:rPr>
              <a:t>"Bake for 25 minutes at 350"</a:t>
            </a:r>
            <a:r>
              <a:rPr sz="1400" b="0">
                <a:solidFill>
                  <a:srgbClr val="000000"/>
                </a:solidFill>
                <a:latin typeface="Consolas" panose="020B0609020204030204"/>
                <a:ea typeface="Consolas" panose="020B0609020204030204"/>
              </a:rPr>
              <a:t>&lt;&lt; endl;</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a:t>
            </a:r>
            <a:r>
              <a:rPr sz="1400" b="0">
                <a:solidFill>
                  <a:srgbClr val="0000FF"/>
                </a:solidFill>
                <a:latin typeface="Consolas" panose="020B0609020204030204"/>
                <a:ea typeface="Consolas" panose="020B0609020204030204"/>
              </a:rPr>
              <a:t>virtualvoid</a:t>
            </a:r>
            <a:r>
              <a:rPr sz="1400" b="0">
                <a:solidFill>
                  <a:srgbClr val="000000"/>
                </a:solidFill>
                <a:latin typeface="Consolas" panose="020B0609020204030204"/>
                <a:ea typeface="Consolas" panose="020B0609020204030204"/>
              </a:rPr>
              <a:t> cut() </a:t>
            </a:r>
            <a:r>
              <a:rPr sz="1400" b="0">
                <a:solidFill>
                  <a:srgbClr val="0000FF"/>
                </a:solidFill>
                <a:latin typeface="Consolas" panose="020B0609020204030204"/>
                <a:ea typeface="Consolas" panose="020B0609020204030204"/>
              </a:rPr>
              <a:t>const</a:t>
            </a:r>
            <a:endParaRPr sz="1400" b="0">
              <a:solidFill>
                <a:srgbClr val="0000FF"/>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cout &lt;&lt;</a:t>
            </a:r>
            <a:r>
              <a:rPr sz="1400" b="0">
                <a:solidFill>
                  <a:srgbClr val="A31515"/>
                </a:solidFill>
                <a:latin typeface="Consolas" panose="020B0609020204030204"/>
                <a:ea typeface="Consolas" panose="020B0609020204030204"/>
              </a:rPr>
              <a:t>"Cutting the pizza into diagonal slices"</a:t>
            </a:r>
            <a:r>
              <a:rPr sz="1400" b="0">
                <a:solidFill>
                  <a:srgbClr val="000000"/>
                </a:solidFill>
                <a:latin typeface="Consolas" panose="020B0609020204030204"/>
                <a:ea typeface="Consolas" panose="020B0609020204030204"/>
              </a:rPr>
              <a:t>&lt;&lt; endl;</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a:t>
            </a:r>
            <a:r>
              <a:rPr sz="1400" b="0">
                <a:solidFill>
                  <a:srgbClr val="0000FF"/>
                </a:solidFill>
                <a:latin typeface="Consolas" panose="020B0609020204030204"/>
                <a:ea typeface="Consolas" panose="020B0609020204030204"/>
              </a:rPr>
              <a:t>virtualvoid</a:t>
            </a:r>
            <a:r>
              <a:rPr sz="1400" b="0">
                <a:solidFill>
                  <a:srgbClr val="000000"/>
                </a:solidFill>
                <a:latin typeface="Consolas" panose="020B0609020204030204"/>
                <a:ea typeface="Consolas" panose="020B0609020204030204"/>
              </a:rPr>
              <a:t> box() </a:t>
            </a:r>
            <a:r>
              <a:rPr sz="1400" b="0">
                <a:solidFill>
                  <a:srgbClr val="0000FF"/>
                </a:solidFill>
                <a:latin typeface="Consolas" panose="020B0609020204030204"/>
                <a:ea typeface="Consolas" panose="020B0609020204030204"/>
              </a:rPr>
              <a:t>const</a:t>
            </a:r>
            <a:endParaRPr sz="1400" b="0">
              <a:solidFill>
                <a:srgbClr val="0000FF"/>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cout &lt;&lt;</a:t>
            </a:r>
            <a:r>
              <a:rPr sz="1400" b="0">
                <a:solidFill>
                  <a:srgbClr val="A31515"/>
                </a:solidFill>
                <a:latin typeface="Consolas" panose="020B0609020204030204"/>
                <a:ea typeface="Consolas" panose="020B0609020204030204"/>
              </a:rPr>
              <a:t>"Place pizza in official PizzaStore box"</a:t>
            </a:r>
            <a:r>
              <a:rPr sz="1400" b="0">
                <a:solidFill>
                  <a:srgbClr val="000000"/>
                </a:solidFill>
                <a:latin typeface="Consolas" panose="020B0609020204030204"/>
                <a:ea typeface="Consolas" panose="020B0609020204030204"/>
              </a:rPr>
              <a:t>&lt;&lt; endl;</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a:t>
            </a:r>
            <a:endParaRPr sz="1400" b="0">
              <a:solidFill>
                <a:srgbClr val="000000"/>
              </a:solidFill>
              <a:latin typeface="Consolas" panose="020B0609020204030204"/>
              <a:ea typeface="Consolas" panose="020B0609020204030204"/>
            </a:endParaRPr>
          </a:p>
          <a:p>
            <a:pPr>
              <a:lnSpc>
                <a:spcPts val="1200"/>
              </a:lnSpc>
            </a:pPr>
            <a:r>
              <a:rPr sz="1400" b="0">
                <a:solidFill>
                  <a:srgbClr val="0000FF"/>
                </a:solidFill>
                <a:latin typeface="Consolas" panose="020B0609020204030204"/>
                <a:ea typeface="Consolas" panose="020B0609020204030204"/>
              </a:rPr>
              <a:t>protected:</a:t>
            </a:r>
            <a:endParaRPr sz="1400" b="0">
              <a:solidFill>
                <a:srgbClr val="0000FF"/>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string name{};</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string dough{};</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string sauce{};</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vector&lt;string&gt; toppings{};</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a:t>
            </a:r>
            <a:endParaRPr sz="1400" b="0">
              <a:solidFill>
                <a:srgbClr val="000000"/>
              </a:solidFill>
              <a:latin typeface="Consolas" panose="020B0609020204030204"/>
              <a:ea typeface="Consolas" panose="020B0609020204030204"/>
            </a:endParaRPr>
          </a:p>
        </p:txBody>
      </p:sp>
      <p:sp>
        <p:nvSpPr>
          <p:cNvPr id="6" name="Text Box 5"/>
          <p:cNvSpPr txBox="1"/>
          <p:nvPr/>
        </p:nvSpPr>
        <p:spPr>
          <a:xfrm>
            <a:off x="6950075" y="2686050"/>
            <a:ext cx="5080000" cy="2045970"/>
          </a:xfrm>
          <a:prstGeom prst="rect">
            <a:avLst/>
          </a:prstGeom>
        </p:spPr>
        <p:txBody>
          <a:bodyPr>
            <a:noAutofit/>
          </a:bodyPr>
          <a:p>
            <a:pPr>
              <a:lnSpc>
                <a:spcPts val="1200"/>
              </a:lnSpc>
            </a:pPr>
            <a:r>
              <a:rPr sz="1400" b="0">
                <a:solidFill>
                  <a:srgbClr val="0000FF"/>
                </a:solidFill>
                <a:latin typeface="Consolas" panose="020B0609020204030204"/>
                <a:ea typeface="Consolas" panose="020B0609020204030204"/>
              </a:rPr>
              <a:t>inline</a:t>
            </a:r>
            <a:r>
              <a:rPr lang="en-US" sz="1400" b="0">
                <a:solidFill>
                  <a:srgbClr val="0000FF"/>
                </a:solidFill>
                <a:latin typeface="Consolas" panose="020B0609020204030204"/>
                <a:ea typeface="Consolas" panose="020B0609020204030204"/>
              </a:rPr>
              <a:t> </a:t>
            </a:r>
            <a:r>
              <a:rPr sz="1400" b="0">
                <a:solidFill>
                  <a:srgbClr val="0000FF"/>
                </a:solidFill>
                <a:latin typeface="Consolas" panose="020B0609020204030204"/>
                <a:ea typeface="Consolas" panose="020B0609020204030204"/>
              </a:rPr>
              <a:t>void</a:t>
            </a:r>
            <a:r>
              <a:rPr sz="1400" b="0">
                <a:solidFill>
                  <a:srgbClr val="000000"/>
                </a:solidFill>
                <a:latin typeface="Consolas" panose="020B0609020204030204"/>
                <a:ea typeface="Consolas" panose="020B0609020204030204"/>
              </a:rPr>
              <a:t> Pizza ::prepare() </a:t>
            </a:r>
            <a:r>
              <a:rPr sz="1400" b="0">
                <a:solidFill>
                  <a:srgbClr val="0000FF"/>
                </a:solidFill>
                <a:latin typeface="Consolas" panose="020B0609020204030204"/>
                <a:ea typeface="Consolas" panose="020B0609020204030204"/>
              </a:rPr>
              <a:t>const</a:t>
            </a:r>
            <a:endParaRPr sz="1400" b="0">
              <a:solidFill>
                <a:srgbClr val="0000FF"/>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cout &lt;&lt;</a:t>
            </a:r>
            <a:r>
              <a:rPr sz="1400" b="0">
                <a:solidFill>
                  <a:srgbClr val="A31515"/>
                </a:solidFill>
                <a:latin typeface="Consolas" panose="020B0609020204030204"/>
                <a:ea typeface="Consolas" panose="020B0609020204030204"/>
              </a:rPr>
              <a:t>"Preparing "</a:t>
            </a:r>
            <a:r>
              <a:rPr sz="1400" b="0">
                <a:solidFill>
                  <a:srgbClr val="000000"/>
                </a:solidFill>
                <a:latin typeface="Consolas" panose="020B0609020204030204"/>
                <a:ea typeface="Consolas" panose="020B0609020204030204"/>
              </a:rPr>
              <a:t>+ name &lt;&lt; endl;</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cout &lt;&lt;</a:t>
            </a:r>
            <a:r>
              <a:rPr sz="1400" b="0">
                <a:solidFill>
                  <a:srgbClr val="A31515"/>
                </a:solidFill>
                <a:latin typeface="Consolas" panose="020B0609020204030204"/>
                <a:ea typeface="Consolas" panose="020B0609020204030204"/>
              </a:rPr>
              <a:t>"\nTossing dough...\n"</a:t>
            </a:r>
            <a:r>
              <a:rPr sz="1400" b="0">
                <a:solidFill>
                  <a:srgbClr val="000000"/>
                </a:solidFill>
                <a:latin typeface="Consolas" panose="020B0609020204030204"/>
                <a:ea typeface="Consolas" panose="020B0609020204030204"/>
              </a:rPr>
              <a:t>;</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cout &lt;&lt;</a:t>
            </a:r>
            <a:r>
              <a:rPr sz="1400" b="0">
                <a:solidFill>
                  <a:srgbClr val="A31515"/>
                </a:solidFill>
                <a:latin typeface="Consolas" panose="020B0609020204030204"/>
                <a:ea typeface="Consolas" panose="020B0609020204030204"/>
              </a:rPr>
              <a:t>"Adding sauce...\n"</a:t>
            </a:r>
            <a:r>
              <a:rPr sz="1400" b="0">
                <a:solidFill>
                  <a:srgbClr val="000000"/>
                </a:solidFill>
                <a:latin typeface="Consolas" panose="020B0609020204030204"/>
                <a:ea typeface="Consolas" panose="020B0609020204030204"/>
              </a:rPr>
              <a:t>;</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cout &lt;&lt;</a:t>
            </a:r>
            <a:r>
              <a:rPr sz="1400" b="0">
                <a:solidFill>
                  <a:srgbClr val="A31515"/>
                </a:solidFill>
                <a:latin typeface="Consolas" panose="020B0609020204030204"/>
                <a:ea typeface="Consolas" panose="020B0609020204030204"/>
              </a:rPr>
              <a:t>"Adding toppings...\n"</a:t>
            </a:r>
            <a:r>
              <a:rPr sz="1400" b="0">
                <a:solidFill>
                  <a:srgbClr val="000000"/>
                </a:solidFill>
                <a:latin typeface="Consolas" panose="020B0609020204030204"/>
                <a:ea typeface="Consolas" panose="020B0609020204030204"/>
              </a:rPr>
              <a:t>;</a:t>
            </a:r>
            <a:endParaRPr sz="1400" b="0">
              <a:solidFill>
                <a:srgbClr val="000000"/>
              </a:solidFill>
              <a:latin typeface="Consolas" panose="020B0609020204030204"/>
              <a:ea typeface="Consolas" panose="020B0609020204030204"/>
            </a:endParaRPr>
          </a:p>
          <a:p>
            <a:pPr>
              <a:lnSpc>
                <a:spcPts val="1200"/>
              </a:lnSpc>
            </a:pP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a:t>
            </a:r>
            <a:r>
              <a:rPr sz="1400" b="0">
                <a:solidFill>
                  <a:srgbClr val="0000FF"/>
                </a:solidFill>
                <a:latin typeface="Consolas" panose="020B0609020204030204"/>
                <a:ea typeface="Consolas" panose="020B0609020204030204"/>
              </a:rPr>
              <a:t>for</a:t>
            </a:r>
            <a:r>
              <a:rPr sz="1400" b="0">
                <a:solidFill>
                  <a:srgbClr val="000000"/>
                </a:solidFill>
                <a:latin typeface="Consolas" panose="020B0609020204030204"/>
                <a:ea typeface="Consolas" panose="020B0609020204030204"/>
              </a:rPr>
              <a:t> (</a:t>
            </a:r>
            <a:r>
              <a:rPr sz="1400" b="0">
                <a:solidFill>
                  <a:srgbClr val="0000FF"/>
                </a:solidFill>
                <a:latin typeface="Consolas" panose="020B0609020204030204"/>
                <a:ea typeface="Consolas" panose="020B0609020204030204"/>
              </a:rPr>
              <a:t>constauto</a:t>
            </a:r>
            <a:r>
              <a:rPr sz="1400" b="0">
                <a:solidFill>
                  <a:srgbClr val="000000"/>
                </a:solidFill>
                <a:latin typeface="Consolas" panose="020B0609020204030204"/>
                <a:ea typeface="Consolas" panose="020B0609020204030204"/>
              </a:rPr>
              <a:t> &amp;topping : toppings)</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cout &lt;&lt;</a:t>
            </a:r>
            <a:r>
              <a:rPr sz="1400" b="0">
                <a:solidFill>
                  <a:srgbClr val="A31515"/>
                </a:solidFill>
                <a:latin typeface="Consolas" panose="020B0609020204030204"/>
                <a:ea typeface="Consolas" panose="020B0609020204030204"/>
              </a:rPr>
              <a:t>" "</a:t>
            </a:r>
            <a:r>
              <a:rPr sz="1400" b="0">
                <a:solidFill>
                  <a:srgbClr val="000000"/>
                </a:solidFill>
                <a:latin typeface="Consolas" panose="020B0609020204030204"/>
                <a:ea typeface="Consolas" panose="020B0609020204030204"/>
              </a:rPr>
              <a:t>+ topping &lt;&lt; endl;</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a:t>
            </a:r>
            <a:endParaRPr sz="1400" b="0">
              <a:solidFill>
                <a:srgbClr val="000000"/>
              </a:solidFill>
              <a:latin typeface="Consolas" panose="020B0609020204030204"/>
              <a:ea typeface="Consolas" panose="020B0609020204030204"/>
            </a:endParaRPr>
          </a:p>
        </p:txBody>
      </p:sp>
      <p:cxnSp>
        <p:nvCxnSpPr>
          <p:cNvPr id="7" name="Straight Connector 6"/>
          <p:cNvCxnSpPr/>
          <p:nvPr/>
        </p:nvCxnSpPr>
        <p:spPr>
          <a:xfrm>
            <a:off x="6926580" y="2583180"/>
            <a:ext cx="23495" cy="3507740"/>
          </a:xfrm>
          <a:prstGeom prst="line">
            <a:avLst/>
          </a:prstGeom>
          <a:ln w="38100">
            <a:solidFill>
              <a:schemeClr val="accent1"/>
            </a:solidFill>
          </a:ln>
        </p:spPr>
        <p:style>
          <a:lnRef idx="2">
            <a:schemeClr val="accent1"/>
          </a:lnRef>
          <a:fillRef idx="0">
            <a:srgbClr val="FFFFFF"/>
          </a:fillRef>
          <a:effectRef idx="0">
            <a:srgbClr val="FFFFFF"/>
          </a:effectRef>
          <a:fontRef idx="minor">
            <a:schemeClr val="tx1"/>
          </a:fontRef>
        </p:style>
      </p:cxnSp>
      <p:sp>
        <p:nvSpPr>
          <p:cNvPr id="8" name="Text Box 7"/>
          <p:cNvSpPr txBox="1"/>
          <p:nvPr/>
        </p:nvSpPr>
        <p:spPr>
          <a:xfrm>
            <a:off x="4523740" y="1956435"/>
            <a:ext cx="1771015" cy="389890"/>
          </a:xfrm>
          <a:prstGeom prst="rect">
            <a:avLst/>
          </a:prstGeom>
          <a:noFill/>
        </p:spPr>
        <p:txBody>
          <a:bodyPr wrap="square" rtlCol="0">
            <a:noAutofit/>
          </a:bodyPr>
          <a:p>
            <a:r>
              <a:rPr lang="en-US" b="1">
                <a:solidFill>
                  <a:srgbClr val="C00000"/>
                </a:solidFill>
                <a:latin typeface="Times New Roman" panose="02020603050405020304" pitchFamily="18" charset="0"/>
                <a:cs typeface="Times New Roman" panose="02020603050405020304" pitchFamily="18" charset="0"/>
              </a:rPr>
              <a:t>pizza.h</a:t>
            </a:r>
            <a:endParaRPr lang="en-US" b="1">
              <a:solidFill>
                <a:srgbClr val="C00000"/>
              </a:solidFill>
              <a:latin typeface="Times New Roman" panose="02020603050405020304" pitchFamily="18" charset="0"/>
              <a:cs typeface="Times New Roman" panose="02020603050405020304" pitchFamily="18" charset="0"/>
            </a:endParaRPr>
          </a:p>
        </p:txBody>
      </p:sp>
      <p:sp>
        <p:nvSpPr>
          <p:cNvPr id="9" name="Text Box 8"/>
          <p:cNvSpPr txBox="1"/>
          <p:nvPr/>
        </p:nvSpPr>
        <p:spPr>
          <a:xfrm>
            <a:off x="8604885" y="1993900"/>
            <a:ext cx="1771015" cy="389890"/>
          </a:xfrm>
          <a:prstGeom prst="rect">
            <a:avLst/>
          </a:prstGeom>
          <a:noFill/>
        </p:spPr>
        <p:txBody>
          <a:bodyPr wrap="square" rtlCol="0">
            <a:noAutofit/>
          </a:bodyPr>
          <a:p>
            <a:r>
              <a:rPr lang="en-US" b="1">
                <a:solidFill>
                  <a:srgbClr val="C00000"/>
                </a:solidFill>
                <a:latin typeface="Times New Roman" panose="02020603050405020304" pitchFamily="18" charset="0"/>
                <a:cs typeface="Times New Roman" panose="02020603050405020304" pitchFamily="18" charset="0"/>
              </a:rPr>
              <a:t>pizza.h</a:t>
            </a:r>
            <a:endParaRPr lang="en-US" b="1">
              <a:solidFill>
                <a:srgbClr val="C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a:latin typeface="Times New Roman" panose="02020603050405020304" pitchFamily="18" charset="0"/>
                <a:cs typeface="Times New Roman" panose="02020603050405020304" pitchFamily="18" charset="0"/>
                <a:sym typeface="+mn-ea"/>
              </a:rPr>
              <a:t>Example 3 - Pizza Store Ordering (Code)</a:t>
            </a:r>
            <a:endParaRPr lang="en-US"/>
          </a:p>
        </p:txBody>
      </p:sp>
      <p:sp>
        <p:nvSpPr>
          <p:cNvPr id="4" name="Text Box 3"/>
          <p:cNvSpPr txBox="1"/>
          <p:nvPr/>
        </p:nvSpPr>
        <p:spPr>
          <a:xfrm>
            <a:off x="566420" y="1776730"/>
            <a:ext cx="5768340" cy="3204210"/>
          </a:xfrm>
          <a:prstGeom prst="rect">
            <a:avLst/>
          </a:prstGeom>
        </p:spPr>
        <p:txBody>
          <a:bodyPr>
            <a:noAutofit/>
          </a:bodyPr>
          <a:p>
            <a:pPr>
              <a:lnSpc>
                <a:spcPts val="1200"/>
              </a:lnSpc>
            </a:pPr>
            <a:r>
              <a:rPr sz="1400" b="0">
                <a:solidFill>
                  <a:srgbClr val="0000FF"/>
                </a:solidFill>
                <a:latin typeface="Consolas" panose="020B0609020204030204"/>
                <a:ea typeface="Consolas" panose="020B0609020204030204"/>
              </a:rPr>
              <a:t>#pragma </a:t>
            </a:r>
            <a:r>
              <a:rPr sz="1400" b="0">
                <a:solidFill>
                  <a:srgbClr val="E50000"/>
                </a:solidFill>
                <a:latin typeface="Consolas" panose="020B0609020204030204"/>
                <a:ea typeface="Consolas" panose="020B0609020204030204"/>
              </a:rPr>
              <a:t>once</a:t>
            </a:r>
            <a:endParaRPr sz="1400" b="0">
              <a:solidFill>
                <a:srgbClr val="E50000"/>
              </a:solidFill>
              <a:latin typeface="Consolas" panose="020B0609020204030204"/>
              <a:ea typeface="Consolas" panose="020B0609020204030204"/>
            </a:endParaRPr>
          </a:p>
          <a:p>
            <a:pPr>
              <a:lnSpc>
                <a:spcPts val="1200"/>
              </a:lnSpc>
            </a:pPr>
            <a:r>
              <a:rPr sz="1400" b="0">
                <a:solidFill>
                  <a:srgbClr val="0000FF"/>
                </a:solidFill>
                <a:latin typeface="Consolas" panose="020B0609020204030204"/>
                <a:ea typeface="Consolas" panose="020B0609020204030204"/>
              </a:rPr>
              <a:t>#include </a:t>
            </a:r>
            <a:r>
              <a:rPr sz="1400" b="0">
                <a:solidFill>
                  <a:srgbClr val="A31515"/>
                </a:solidFill>
                <a:latin typeface="Consolas" panose="020B0609020204030204"/>
                <a:ea typeface="Consolas" panose="020B0609020204030204"/>
              </a:rPr>
              <a:t>"pizza.h"</a:t>
            </a:r>
            <a:endParaRPr sz="1400" b="0">
              <a:solidFill>
                <a:srgbClr val="A31515"/>
              </a:solidFill>
              <a:latin typeface="Consolas" panose="020B0609020204030204"/>
              <a:ea typeface="Consolas" panose="020B0609020204030204"/>
            </a:endParaRPr>
          </a:p>
          <a:p>
            <a:pPr>
              <a:lnSpc>
                <a:spcPts val="1200"/>
              </a:lnSpc>
            </a:pPr>
            <a:endParaRPr sz="1400" b="0">
              <a:solidFill>
                <a:srgbClr val="A31515"/>
              </a:solidFill>
              <a:latin typeface="Consolas" panose="020B0609020204030204"/>
              <a:ea typeface="Consolas" panose="020B0609020204030204"/>
            </a:endParaRPr>
          </a:p>
          <a:p>
            <a:pPr>
              <a:lnSpc>
                <a:spcPts val="1200"/>
              </a:lnSpc>
            </a:pPr>
            <a:r>
              <a:rPr sz="1400" b="0">
                <a:solidFill>
                  <a:srgbClr val="0000FF"/>
                </a:solidFill>
                <a:latin typeface="Consolas" panose="020B0609020204030204"/>
                <a:ea typeface="Consolas" panose="020B0609020204030204"/>
              </a:rPr>
              <a:t>class</a:t>
            </a:r>
            <a:r>
              <a:rPr sz="1400" b="0">
                <a:solidFill>
                  <a:srgbClr val="000000"/>
                </a:solidFill>
                <a:latin typeface="Consolas" panose="020B0609020204030204"/>
                <a:ea typeface="Consolas" panose="020B0609020204030204"/>
              </a:rPr>
              <a:t> CheesePizza : </a:t>
            </a:r>
            <a:r>
              <a:rPr sz="1400" b="0">
                <a:solidFill>
                  <a:srgbClr val="0000FF"/>
                </a:solidFill>
                <a:latin typeface="Consolas" panose="020B0609020204030204"/>
                <a:ea typeface="Consolas" panose="020B0609020204030204"/>
              </a:rPr>
              <a:t>public</a:t>
            </a:r>
            <a:r>
              <a:rPr sz="1400" b="0">
                <a:solidFill>
                  <a:srgbClr val="000000"/>
                </a:solidFill>
                <a:latin typeface="Consolas" panose="020B0609020204030204"/>
                <a:ea typeface="Consolas" panose="020B0609020204030204"/>
              </a:rPr>
              <a:t> Pizza</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a:t>
            </a:r>
            <a:endParaRPr sz="1400" b="0">
              <a:solidFill>
                <a:srgbClr val="000000"/>
              </a:solidFill>
              <a:latin typeface="Consolas" panose="020B0609020204030204"/>
              <a:ea typeface="Consolas" panose="020B0609020204030204"/>
            </a:endParaRPr>
          </a:p>
          <a:p>
            <a:pPr>
              <a:lnSpc>
                <a:spcPts val="1200"/>
              </a:lnSpc>
            </a:pPr>
            <a:endParaRPr sz="1400" b="0">
              <a:solidFill>
                <a:srgbClr val="000000"/>
              </a:solidFill>
              <a:latin typeface="Consolas" panose="020B0609020204030204"/>
              <a:ea typeface="Consolas" panose="020B0609020204030204"/>
            </a:endParaRPr>
          </a:p>
          <a:p>
            <a:pPr>
              <a:lnSpc>
                <a:spcPts val="1200"/>
              </a:lnSpc>
            </a:pPr>
            <a:r>
              <a:rPr sz="1400" b="0">
                <a:solidFill>
                  <a:srgbClr val="0000FF"/>
                </a:solidFill>
                <a:latin typeface="Consolas" panose="020B0609020204030204"/>
                <a:ea typeface="Consolas" panose="020B0609020204030204"/>
              </a:rPr>
              <a:t>public:</a:t>
            </a:r>
            <a:endParaRPr sz="1400" b="0">
              <a:solidFill>
                <a:srgbClr val="0000FF"/>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CheesePizza();</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a:t>
            </a:r>
            <a:endParaRPr sz="1400" b="0">
              <a:solidFill>
                <a:srgbClr val="000000"/>
              </a:solidFill>
              <a:latin typeface="Consolas" panose="020B0609020204030204"/>
              <a:ea typeface="Consolas" panose="020B0609020204030204"/>
            </a:endParaRPr>
          </a:p>
          <a:p>
            <a:pPr>
              <a:lnSpc>
                <a:spcPts val="1200"/>
              </a:lnSpc>
            </a:pPr>
            <a:endParaRPr sz="1400" b="0">
              <a:solidFill>
                <a:srgbClr val="000000"/>
              </a:solidFill>
              <a:latin typeface="Consolas" panose="020B0609020204030204"/>
              <a:ea typeface="Consolas" panose="020B0609020204030204"/>
            </a:endParaRPr>
          </a:p>
          <a:p>
            <a:pPr>
              <a:lnSpc>
                <a:spcPts val="1200"/>
              </a:lnSpc>
            </a:pPr>
            <a:endParaRPr sz="1400" b="0">
              <a:solidFill>
                <a:srgbClr val="000000"/>
              </a:solidFill>
              <a:latin typeface="Consolas" panose="020B0609020204030204"/>
              <a:ea typeface="Consolas" panose="020B0609020204030204"/>
            </a:endParaRPr>
          </a:p>
          <a:p>
            <a:pPr>
              <a:lnSpc>
                <a:spcPts val="1200"/>
              </a:lnSpc>
            </a:pPr>
            <a:r>
              <a:rPr sz="1400" b="0">
                <a:solidFill>
                  <a:srgbClr val="0000FF"/>
                </a:solidFill>
                <a:latin typeface="Consolas" panose="020B0609020204030204"/>
                <a:ea typeface="Consolas" panose="020B0609020204030204"/>
              </a:rPr>
              <a:t>inline</a:t>
            </a:r>
            <a:r>
              <a:rPr sz="1400" b="0">
                <a:solidFill>
                  <a:srgbClr val="000000"/>
                </a:solidFill>
                <a:latin typeface="Consolas" panose="020B0609020204030204"/>
                <a:ea typeface="Consolas" panose="020B0609020204030204"/>
              </a:rPr>
              <a:t> CheesePizza ::CheesePizza()</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name =</a:t>
            </a:r>
            <a:r>
              <a:rPr sz="1400" b="0">
                <a:solidFill>
                  <a:srgbClr val="A31515"/>
                </a:solidFill>
                <a:latin typeface="Consolas" panose="020B0609020204030204"/>
                <a:ea typeface="Consolas" panose="020B0609020204030204"/>
              </a:rPr>
              <a:t>"Cheese Pizza"</a:t>
            </a:r>
            <a:r>
              <a:rPr sz="1400" b="0">
                <a:solidFill>
                  <a:srgbClr val="000000"/>
                </a:solidFill>
                <a:latin typeface="Consolas" panose="020B0609020204030204"/>
                <a:ea typeface="Consolas" panose="020B0609020204030204"/>
              </a:rPr>
              <a:t>;</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dough =</a:t>
            </a:r>
            <a:r>
              <a:rPr sz="1400" b="0">
                <a:solidFill>
                  <a:srgbClr val="A31515"/>
                </a:solidFill>
                <a:latin typeface="Consolas" panose="020B0609020204030204"/>
                <a:ea typeface="Consolas" panose="020B0609020204030204"/>
              </a:rPr>
              <a:t>"Thin Crust Dough"</a:t>
            </a:r>
            <a:r>
              <a:rPr sz="1400" b="0">
                <a:solidFill>
                  <a:srgbClr val="000000"/>
                </a:solidFill>
                <a:latin typeface="Consolas" panose="020B0609020204030204"/>
                <a:ea typeface="Consolas" panose="020B0609020204030204"/>
              </a:rPr>
              <a:t>;</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sauce =</a:t>
            </a:r>
            <a:r>
              <a:rPr sz="1400" b="0">
                <a:solidFill>
                  <a:srgbClr val="A31515"/>
                </a:solidFill>
                <a:latin typeface="Consolas" panose="020B0609020204030204"/>
                <a:ea typeface="Consolas" panose="020B0609020204030204"/>
              </a:rPr>
              <a:t>"Mariana Sauce"</a:t>
            </a:r>
            <a:r>
              <a:rPr sz="1400" b="0">
                <a:solidFill>
                  <a:srgbClr val="000000"/>
                </a:solidFill>
                <a:latin typeface="Consolas" panose="020B0609020204030204"/>
                <a:ea typeface="Consolas" panose="020B0609020204030204"/>
              </a:rPr>
              <a:t>;</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toppings.push_back(</a:t>
            </a:r>
            <a:r>
              <a:rPr sz="1400" b="0">
                <a:solidFill>
                  <a:srgbClr val="A31515"/>
                </a:solidFill>
                <a:latin typeface="Consolas" panose="020B0609020204030204"/>
                <a:ea typeface="Consolas" panose="020B0609020204030204"/>
              </a:rPr>
              <a:t>"Grated Regiano Cheese"</a:t>
            </a:r>
            <a:r>
              <a:rPr sz="1400" b="0">
                <a:solidFill>
                  <a:srgbClr val="000000"/>
                </a:solidFill>
                <a:latin typeface="Consolas" panose="020B0609020204030204"/>
                <a:ea typeface="Consolas" panose="020B0609020204030204"/>
              </a:rPr>
              <a:t>);</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toppings.push_back(</a:t>
            </a:r>
            <a:r>
              <a:rPr sz="1400" b="0">
                <a:solidFill>
                  <a:srgbClr val="A31515"/>
                </a:solidFill>
                <a:latin typeface="Consolas" panose="020B0609020204030204"/>
                <a:ea typeface="Consolas" panose="020B0609020204030204"/>
              </a:rPr>
              <a:t>"Shredded Cheese"</a:t>
            </a:r>
            <a:r>
              <a:rPr sz="1400" b="0">
                <a:solidFill>
                  <a:srgbClr val="000000"/>
                </a:solidFill>
                <a:latin typeface="Consolas" panose="020B0609020204030204"/>
                <a:ea typeface="Consolas" panose="020B0609020204030204"/>
              </a:rPr>
              <a:t>);</a:t>
            </a:r>
            <a:endParaRPr sz="1400" b="0">
              <a:solidFill>
                <a:srgbClr val="000000"/>
              </a:solidFill>
              <a:latin typeface="Consolas" panose="020B0609020204030204"/>
              <a:ea typeface="Consolas" panose="020B0609020204030204"/>
            </a:endParaRPr>
          </a:p>
          <a:p>
            <a:pPr>
              <a:lnSpc>
                <a:spcPts val="1200"/>
              </a:lnSpc>
            </a:pP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a:t>
            </a:r>
            <a:endParaRPr sz="1400" b="0">
              <a:solidFill>
                <a:srgbClr val="000000"/>
              </a:solidFill>
              <a:latin typeface="Consolas" panose="020B0609020204030204"/>
              <a:ea typeface="Consolas" panose="020B0609020204030204"/>
            </a:endParaRPr>
          </a:p>
        </p:txBody>
      </p:sp>
      <p:sp>
        <p:nvSpPr>
          <p:cNvPr id="8" name="Text Box 7"/>
          <p:cNvSpPr txBox="1"/>
          <p:nvPr/>
        </p:nvSpPr>
        <p:spPr>
          <a:xfrm>
            <a:off x="4019550" y="1776730"/>
            <a:ext cx="1771015" cy="389890"/>
          </a:xfrm>
          <a:prstGeom prst="rect">
            <a:avLst/>
          </a:prstGeom>
          <a:noFill/>
        </p:spPr>
        <p:txBody>
          <a:bodyPr wrap="square" rtlCol="0">
            <a:noAutofit/>
          </a:bodyPr>
          <a:p>
            <a:r>
              <a:rPr lang="en-US" b="1">
                <a:solidFill>
                  <a:srgbClr val="C00000"/>
                </a:solidFill>
                <a:latin typeface="Times New Roman" panose="02020603050405020304" pitchFamily="18" charset="0"/>
                <a:cs typeface="Times New Roman" panose="02020603050405020304" pitchFamily="18" charset="0"/>
              </a:rPr>
              <a:t>cheesePizza.h</a:t>
            </a:r>
            <a:endParaRPr lang="en-US" b="1">
              <a:solidFill>
                <a:srgbClr val="C00000"/>
              </a:solidFill>
              <a:latin typeface="Times New Roman" panose="02020603050405020304" pitchFamily="18" charset="0"/>
              <a:cs typeface="Times New Roman" panose="02020603050405020304" pitchFamily="18" charset="0"/>
            </a:endParaRPr>
          </a:p>
        </p:txBody>
      </p:sp>
      <p:cxnSp>
        <p:nvCxnSpPr>
          <p:cNvPr id="7" name="Straight Connector 6"/>
          <p:cNvCxnSpPr/>
          <p:nvPr/>
        </p:nvCxnSpPr>
        <p:spPr>
          <a:xfrm>
            <a:off x="5534660" y="1776730"/>
            <a:ext cx="23495" cy="3507740"/>
          </a:xfrm>
          <a:prstGeom prst="line">
            <a:avLst/>
          </a:prstGeom>
          <a:ln w="38100">
            <a:solidFill>
              <a:schemeClr val="accent1"/>
            </a:solidFill>
          </a:ln>
        </p:spPr>
        <p:style>
          <a:lnRef idx="2">
            <a:schemeClr val="accent1"/>
          </a:lnRef>
          <a:fillRef idx="0">
            <a:srgbClr val="FFFFFF"/>
          </a:fillRef>
          <a:effectRef idx="0">
            <a:srgbClr val="FFFFFF"/>
          </a:effectRef>
          <a:fontRef idx="minor">
            <a:schemeClr val="tx1"/>
          </a:fontRef>
        </p:style>
      </p:cxnSp>
      <p:sp>
        <p:nvSpPr>
          <p:cNvPr id="5" name="Text Box 4"/>
          <p:cNvSpPr txBox="1"/>
          <p:nvPr/>
        </p:nvSpPr>
        <p:spPr>
          <a:xfrm>
            <a:off x="5790565" y="1428750"/>
            <a:ext cx="5313680" cy="2707005"/>
          </a:xfrm>
          <a:prstGeom prst="rect">
            <a:avLst/>
          </a:prstGeom>
        </p:spPr>
        <p:txBody>
          <a:bodyPr wrap="square">
            <a:spAutoFit/>
          </a:bodyPr>
          <a:p>
            <a:pPr>
              <a:lnSpc>
                <a:spcPts val="1200"/>
              </a:lnSpc>
            </a:pPr>
            <a:r>
              <a:rPr sz="1400" b="0">
                <a:solidFill>
                  <a:srgbClr val="0000FF"/>
                </a:solidFill>
                <a:latin typeface="Consolas" panose="020B0609020204030204"/>
                <a:ea typeface="Consolas" panose="020B0609020204030204"/>
              </a:rPr>
              <a:t>#pragma </a:t>
            </a:r>
            <a:r>
              <a:rPr sz="1400" b="0">
                <a:solidFill>
                  <a:srgbClr val="E50000"/>
                </a:solidFill>
                <a:latin typeface="Consolas" panose="020B0609020204030204"/>
                <a:ea typeface="Consolas" panose="020B0609020204030204"/>
              </a:rPr>
              <a:t>once</a:t>
            </a:r>
            <a:endParaRPr sz="1400" b="0">
              <a:solidFill>
                <a:srgbClr val="E50000"/>
              </a:solidFill>
              <a:latin typeface="Consolas" panose="020B0609020204030204"/>
              <a:ea typeface="Consolas" panose="020B0609020204030204"/>
            </a:endParaRPr>
          </a:p>
          <a:p>
            <a:pPr>
              <a:lnSpc>
                <a:spcPts val="1200"/>
              </a:lnSpc>
            </a:pPr>
            <a:r>
              <a:rPr sz="1400" b="0">
                <a:solidFill>
                  <a:srgbClr val="0000FF"/>
                </a:solidFill>
                <a:latin typeface="Consolas" panose="020B0609020204030204"/>
                <a:ea typeface="Consolas" panose="020B0609020204030204"/>
              </a:rPr>
              <a:t>#include </a:t>
            </a:r>
            <a:r>
              <a:rPr sz="1400" b="0">
                <a:solidFill>
                  <a:srgbClr val="A31515"/>
                </a:solidFill>
                <a:latin typeface="Consolas" panose="020B0609020204030204"/>
                <a:ea typeface="Consolas" panose="020B0609020204030204"/>
              </a:rPr>
              <a:t>"pizza.h"</a:t>
            </a:r>
            <a:endParaRPr sz="1400" b="0">
              <a:solidFill>
                <a:srgbClr val="A31515"/>
              </a:solidFill>
              <a:latin typeface="Consolas" panose="020B0609020204030204"/>
              <a:ea typeface="Consolas" panose="020B0609020204030204"/>
            </a:endParaRPr>
          </a:p>
          <a:p>
            <a:pPr>
              <a:lnSpc>
                <a:spcPts val="1200"/>
              </a:lnSpc>
            </a:pPr>
            <a:endParaRPr sz="1400" b="0">
              <a:solidFill>
                <a:srgbClr val="A31515"/>
              </a:solidFill>
              <a:latin typeface="Consolas" panose="020B0609020204030204"/>
              <a:ea typeface="Consolas" panose="020B0609020204030204"/>
            </a:endParaRPr>
          </a:p>
          <a:p>
            <a:pPr>
              <a:lnSpc>
                <a:spcPts val="1200"/>
              </a:lnSpc>
            </a:pPr>
            <a:r>
              <a:rPr sz="1400" b="0">
                <a:solidFill>
                  <a:srgbClr val="0000FF"/>
                </a:solidFill>
                <a:latin typeface="Consolas" panose="020B0609020204030204"/>
                <a:ea typeface="Consolas" panose="020B0609020204030204"/>
              </a:rPr>
              <a:t>class</a:t>
            </a:r>
            <a:r>
              <a:rPr sz="1400" b="0">
                <a:solidFill>
                  <a:srgbClr val="000000"/>
                </a:solidFill>
                <a:latin typeface="Consolas" panose="020B0609020204030204"/>
                <a:ea typeface="Consolas" panose="020B0609020204030204"/>
              </a:rPr>
              <a:t> ClamsPizza : </a:t>
            </a:r>
            <a:r>
              <a:rPr sz="1400" b="0">
                <a:solidFill>
                  <a:srgbClr val="0000FF"/>
                </a:solidFill>
                <a:latin typeface="Consolas" panose="020B0609020204030204"/>
                <a:ea typeface="Consolas" panose="020B0609020204030204"/>
              </a:rPr>
              <a:t>public</a:t>
            </a:r>
            <a:r>
              <a:rPr sz="1400" b="0">
                <a:solidFill>
                  <a:srgbClr val="000000"/>
                </a:solidFill>
                <a:latin typeface="Consolas" panose="020B0609020204030204"/>
                <a:ea typeface="Consolas" panose="020B0609020204030204"/>
              </a:rPr>
              <a:t> Pizza</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a:t>
            </a:r>
            <a:endParaRPr sz="1400" b="0">
              <a:solidFill>
                <a:srgbClr val="000000"/>
              </a:solidFill>
              <a:latin typeface="Consolas" panose="020B0609020204030204"/>
              <a:ea typeface="Consolas" panose="020B0609020204030204"/>
            </a:endParaRPr>
          </a:p>
          <a:p>
            <a:pPr>
              <a:lnSpc>
                <a:spcPts val="1200"/>
              </a:lnSpc>
            </a:pPr>
            <a:r>
              <a:rPr sz="1400" b="0">
                <a:solidFill>
                  <a:srgbClr val="0000FF"/>
                </a:solidFill>
                <a:latin typeface="Consolas" panose="020B0609020204030204"/>
                <a:ea typeface="Consolas" panose="020B0609020204030204"/>
              </a:rPr>
              <a:t>public:</a:t>
            </a:r>
            <a:endParaRPr sz="1400" b="0">
              <a:solidFill>
                <a:srgbClr val="0000FF"/>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ClamsPizza();</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a:t>
            </a:r>
            <a:endParaRPr sz="1400" b="0">
              <a:solidFill>
                <a:srgbClr val="000000"/>
              </a:solidFill>
              <a:latin typeface="Consolas" panose="020B0609020204030204"/>
              <a:ea typeface="Consolas" panose="020B0609020204030204"/>
            </a:endParaRPr>
          </a:p>
          <a:p>
            <a:pPr>
              <a:lnSpc>
                <a:spcPts val="1200"/>
              </a:lnSpc>
            </a:pPr>
            <a:endParaRPr sz="1400" b="0">
              <a:solidFill>
                <a:srgbClr val="000000"/>
              </a:solidFill>
              <a:latin typeface="Consolas" panose="020B0609020204030204"/>
              <a:ea typeface="Consolas" panose="020B0609020204030204"/>
            </a:endParaRPr>
          </a:p>
          <a:p>
            <a:pPr>
              <a:lnSpc>
                <a:spcPts val="1200"/>
              </a:lnSpc>
            </a:pPr>
            <a:r>
              <a:rPr sz="1400" b="0">
                <a:solidFill>
                  <a:srgbClr val="0000FF"/>
                </a:solidFill>
                <a:latin typeface="Consolas" panose="020B0609020204030204"/>
                <a:ea typeface="Consolas" panose="020B0609020204030204"/>
              </a:rPr>
              <a:t>inline</a:t>
            </a:r>
            <a:r>
              <a:rPr sz="1400" b="0">
                <a:solidFill>
                  <a:srgbClr val="000000"/>
                </a:solidFill>
                <a:latin typeface="Consolas" panose="020B0609020204030204"/>
                <a:ea typeface="Consolas" panose="020B0609020204030204"/>
              </a:rPr>
              <a:t> ClamsPizza ::ClamsPizza()</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name =</a:t>
            </a:r>
            <a:r>
              <a:rPr sz="1400" b="0">
                <a:solidFill>
                  <a:srgbClr val="A31515"/>
                </a:solidFill>
                <a:latin typeface="Consolas" panose="020B0609020204030204"/>
                <a:ea typeface="Consolas" panose="020B0609020204030204"/>
              </a:rPr>
              <a:t>"Clams Pizza"</a:t>
            </a:r>
            <a:r>
              <a:rPr sz="1400" b="0">
                <a:solidFill>
                  <a:srgbClr val="000000"/>
                </a:solidFill>
                <a:latin typeface="Consolas" panose="020B0609020204030204"/>
                <a:ea typeface="Consolas" panose="020B0609020204030204"/>
              </a:rPr>
              <a:t>;</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dough =</a:t>
            </a:r>
            <a:r>
              <a:rPr sz="1400" b="0">
                <a:solidFill>
                  <a:srgbClr val="A31515"/>
                </a:solidFill>
                <a:latin typeface="Consolas" panose="020B0609020204030204"/>
                <a:ea typeface="Consolas" panose="020B0609020204030204"/>
              </a:rPr>
              <a:t>"Thin Crust Though"</a:t>
            </a:r>
            <a:r>
              <a:rPr sz="1400" b="0">
                <a:solidFill>
                  <a:srgbClr val="000000"/>
                </a:solidFill>
                <a:latin typeface="Consolas" panose="020B0609020204030204"/>
                <a:ea typeface="Consolas" panose="020B0609020204030204"/>
              </a:rPr>
              <a:t>;</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sauce =</a:t>
            </a:r>
            <a:r>
              <a:rPr sz="1400" b="0">
                <a:solidFill>
                  <a:srgbClr val="A31515"/>
                </a:solidFill>
                <a:latin typeface="Consolas" panose="020B0609020204030204"/>
                <a:ea typeface="Consolas" panose="020B0609020204030204"/>
              </a:rPr>
              <a:t>"Mariana Sauce"</a:t>
            </a:r>
            <a:r>
              <a:rPr sz="1400" b="0">
                <a:solidFill>
                  <a:srgbClr val="000000"/>
                </a:solidFill>
                <a:latin typeface="Consolas" panose="020B0609020204030204"/>
                <a:ea typeface="Consolas" panose="020B0609020204030204"/>
              </a:rPr>
              <a:t>;</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toppings.push_back(</a:t>
            </a:r>
            <a:r>
              <a:rPr sz="1400" b="0">
                <a:solidFill>
                  <a:srgbClr val="A31515"/>
                </a:solidFill>
                <a:latin typeface="Consolas" panose="020B0609020204030204"/>
                <a:ea typeface="Consolas" panose="020B0609020204030204"/>
              </a:rPr>
              <a:t>"Grated Regiano Clam"</a:t>
            </a:r>
            <a:r>
              <a:rPr sz="1400" b="0">
                <a:solidFill>
                  <a:srgbClr val="000000"/>
                </a:solidFill>
                <a:latin typeface="Consolas" panose="020B0609020204030204"/>
                <a:ea typeface="Consolas" panose="020B0609020204030204"/>
              </a:rPr>
              <a:t>);</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toppings.push_back(</a:t>
            </a:r>
            <a:r>
              <a:rPr sz="1400" b="0">
                <a:solidFill>
                  <a:srgbClr val="A31515"/>
                </a:solidFill>
                <a:latin typeface="Consolas" panose="020B0609020204030204"/>
                <a:ea typeface="Consolas" panose="020B0609020204030204"/>
              </a:rPr>
              <a:t>"Fresh Clams"</a:t>
            </a:r>
            <a:r>
              <a:rPr sz="1400" b="0">
                <a:solidFill>
                  <a:srgbClr val="000000"/>
                </a:solidFill>
                <a:latin typeface="Consolas" panose="020B0609020204030204"/>
                <a:ea typeface="Consolas" panose="020B0609020204030204"/>
              </a:rPr>
              <a:t>);</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a:t>
            </a:r>
            <a:endParaRPr sz="1400" b="0">
              <a:solidFill>
                <a:srgbClr val="000000"/>
              </a:solidFill>
              <a:latin typeface="Consolas" panose="020B0609020204030204"/>
              <a:ea typeface="Consolas" panose="020B0609020204030204"/>
            </a:endParaRPr>
          </a:p>
        </p:txBody>
      </p:sp>
      <p:sp>
        <p:nvSpPr>
          <p:cNvPr id="6" name="Text Box 5"/>
          <p:cNvSpPr txBox="1"/>
          <p:nvPr/>
        </p:nvSpPr>
        <p:spPr>
          <a:xfrm>
            <a:off x="8506460" y="1428750"/>
            <a:ext cx="1771015" cy="389890"/>
          </a:xfrm>
          <a:prstGeom prst="rect">
            <a:avLst/>
          </a:prstGeom>
          <a:noFill/>
        </p:spPr>
        <p:txBody>
          <a:bodyPr wrap="square" rtlCol="0">
            <a:noAutofit/>
          </a:bodyPr>
          <a:p>
            <a:r>
              <a:rPr lang="en-US" b="1">
                <a:solidFill>
                  <a:srgbClr val="C00000"/>
                </a:solidFill>
                <a:latin typeface="Times New Roman" panose="02020603050405020304" pitchFamily="18" charset="0"/>
                <a:cs typeface="Times New Roman" panose="02020603050405020304" pitchFamily="18" charset="0"/>
              </a:rPr>
              <a:t>clamsPizza.h</a:t>
            </a:r>
            <a:endParaRPr lang="en-US" b="1">
              <a:solidFill>
                <a:srgbClr val="C00000"/>
              </a:solidFill>
              <a:latin typeface="Times New Roman" panose="02020603050405020304" pitchFamily="18" charset="0"/>
              <a:cs typeface="Times New Roman" panose="02020603050405020304" pitchFamily="18" charset="0"/>
            </a:endParaRPr>
          </a:p>
        </p:txBody>
      </p:sp>
      <p:sp>
        <p:nvSpPr>
          <p:cNvPr id="9" name="Text Box 8"/>
          <p:cNvSpPr txBox="1"/>
          <p:nvPr/>
        </p:nvSpPr>
        <p:spPr>
          <a:xfrm>
            <a:off x="5790565" y="4150678"/>
            <a:ext cx="5080000" cy="2707005"/>
          </a:xfrm>
          <a:prstGeom prst="rect">
            <a:avLst/>
          </a:prstGeom>
        </p:spPr>
        <p:txBody>
          <a:bodyPr>
            <a:spAutoFit/>
          </a:bodyPr>
          <a:p>
            <a:pPr>
              <a:lnSpc>
                <a:spcPts val="1200"/>
              </a:lnSpc>
            </a:pPr>
            <a:r>
              <a:rPr sz="1400" b="0">
                <a:solidFill>
                  <a:srgbClr val="0000FF"/>
                </a:solidFill>
                <a:latin typeface="Consolas" panose="020B0609020204030204"/>
                <a:ea typeface="Consolas" panose="020B0609020204030204"/>
              </a:rPr>
              <a:t>#pragma </a:t>
            </a:r>
            <a:r>
              <a:rPr sz="1400" b="0">
                <a:solidFill>
                  <a:srgbClr val="E50000"/>
                </a:solidFill>
                <a:latin typeface="Consolas" panose="020B0609020204030204"/>
                <a:ea typeface="Consolas" panose="020B0609020204030204"/>
              </a:rPr>
              <a:t>once</a:t>
            </a:r>
            <a:endParaRPr sz="1400" b="0">
              <a:solidFill>
                <a:srgbClr val="E50000"/>
              </a:solidFill>
              <a:latin typeface="Consolas" panose="020B0609020204030204"/>
              <a:ea typeface="Consolas" panose="020B0609020204030204"/>
            </a:endParaRPr>
          </a:p>
          <a:p>
            <a:pPr>
              <a:lnSpc>
                <a:spcPts val="1200"/>
              </a:lnSpc>
            </a:pPr>
            <a:r>
              <a:rPr sz="1400" b="0">
                <a:solidFill>
                  <a:srgbClr val="0000FF"/>
                </a:solidFill>
                <a:latin typeface="Consolas" panose="020B0609020204030204"/>
                <a:ea typeface="Consolas" panose="020B0609020204030204"/>
              </a:rPr>
              <a:t>#include </a:t>
            </a:r>
            <a:r>
              <a:rPr sz="1400" b="0">
                <a:solidFill>
                  <a:srgbClr val="A31515"/>
                </a:solidFill>
                <a:latin typeface="Consolas" panose="020B0609020204030204"/>
                <a:ea typeface="Consolas" panose="020B0609020204030204"/>
              </a:rPr>
              <a:t>"pizza.h"</a:t>
            </a:r>
            <a:endParaRPr sz="1400" b="0">
              <a:solidFill>
                <a:srgbClr val="A31515"/>
              </a:solidFill>
              <a:latin typeface="Consolas" panose="020B0609020204030204"/>
              <a:ea typeface="Consolas" panose="020B0609020204030204"/>
            </a:endParaRPr>
          </a:p>
          <a:p>
            <a:pPr>
              <a:lnSpc>
                <a:spcPts val="1200"/>
              </a:lnSpc>
            </a:pPr>
            <a:endParaRPr sz="1400" b="0">
              <a:solidFill>
                <a:srgbClr val="A31515"/>
              </a:solidFill>
              <a:latin typeface="Consolas" panose="020B0609020204030204"/>
              <a:ea typeface="Consolas" panose="020B0609020204030204"/>
            </a:endParaRPr>
          </a:p>
          <a:p>
            <a:pPr>
              <a:lnSpc>
                <a:spcPts val="1200"/>
              </a:lnSpc>
            </a:pPr>
            <a:r>
              <a:rPr sz="1400" b="0">
                <a:solidFill>
                  <a:srgbClr val="0000FF"/>
                </a:solidFill>
                <a:latin typeface="Consolas" panose="020B0609020204030204"/>
                <a:ea typeface="Consolas" panose="020B0609020204030204"/>
              </a:rPr>
              <a:t>class</a:t>
            </a:r>
            <a:r>
              <a:rPr sz="1400" b="0">
                <a:solidFill>
                  <a:srgbClr val="000000"/>
                </a:solidFill>
                <a:latin typeface="Consolas" panose="020B0609020204030204"/>
                <a:ea typeface="Consolas" panose="020B0609020204030204"/>
              </a:rPr>
              <a:t> VeggiePizza : </a:t>
            </a:r>
            <a:r>
              <a:rPr sz="1400" b="0">
                <a:solidFill>
                  <a:srgbClr val="0000FF"/>
                </a:solidFill>
                <a:latin typeface="Consolas" panose="020B0609020204030204"/>
                <a:ea typeface="Consolas" panose="020B0609020204030204"/>
              </a:rPr>
              <a:t>public</a:t>
            </a:r>
            <a:r>
              <a:rPr sz="1400" b="0">
                <a:solidFill>
                  <a:srgbClr val="000000"/>
                </a:solidFill>
                <a:latin typeface="Consolas" panose="020B0609020204030204"/>
                <a:ea typeface="Consolas" panose="020B0609020204030204"/>
              </a:rPr>
              <a:t> Pizza</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a:t>
            </a:r>
            <a:endParaRPr sz="1400" b="0">
              <a:solidFill>
                <a:srgbClr val="000000"/>
              </a:solidFill>
              <a:latin typeface="Consolas" panose="020B0609020204030204"/>
              <a:ea typeface="Consolas" panose="020B0609020204030204"/>
            </a:endParaRPr>
          </a:p>
          <a:p>
            <a:pPr>
              <a:lnSpc>
                <a:spcPts val="1200"/>
              </a:lnSpc>
            </a:pPr>
            <a:r>
              <a:rPr sz="1400" b="0">
                <a:solidFill>
                  <a:srgbClr val="0000FF"/>
                </a:solidFill>
                <a:latin typeface="Consolas" panose="020B0609020204030204"/>
                <a:ea typeface="Consolas" panose="020B0609020204030204"/>
              </a:rPr>
              <a:t>public:</a:t>
            </a:r>
            <a:endParaRPr sz="1400" b="0">
              <a:solidFill>
                <a:srgbClr val="0000FF"/>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VeggiePizza();</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a:t>
            </a:r>
            <a:endParaRPr sz="1400" b="0">
              <a:solidFill>
                <a:srgbClr val="000000"/>
              </a:solidFill>
              <a:latin typeface="Consolas" panose="020B0609020204030204"/>
              <a:ea typeface="Consolas" panose="020B0609020204030204"/>
            </a:endParaRPr>
          </a:p>
          <a:p>
            <a:pPr>
              <a:lnSpc>
                <a:spcPts val="1200"/>
              </a:lnSpc>
            </a:pPr>
            <a:endParaRPr sz="1400" b="0">
              <a:solidFill>
                <a:srgbClr val="000000"/>
              </a:solidFill>
              <a:latin typeface="Consolas" panose="020B0609020204030204"/>
              <a:ea typeface="Consolas" panose="020B0609020204030204"/>
            </a:endParaRPr>
          </a:p>
          <a:p>
            <a:pPr>
              <a:lnSpc>
                <a:spcPts val="1200"/>
              </a:lnSpc>
            </a:pPr>
            <a:r>
              <a:rPr sz="1400" b="0">
                <a:solidFill>
                  <a:srgbClr val="0000FF"/>
                </a:solidFill>
                <a:latin typeface="Consolas" panose="020B0609020204030204"/>
                <a:ea typeface="Consolas" panose="020B0609020204030204"/>
              </a:rPr>
              <a:t>inline</a:t>
            </a:r>
            <a:r>
              <a:rPr sz="1400" b="0">
                <a:solidFill>
                  <a:srgbClr val="000000"/>
                </a:solidFill>
                <a:latin typeface="Consolas" panose="020B0609020204030204"/>
                <a:ea typeface="Consolas" panose="020B0609020204030204"/>
              </a:rPr>
              <a:t> VeggiePizza ::VeggiePizza()</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name =</a:t>
            </a:r>
            <a:r>
              <a:rPr sz="1400" b="0">
                <a:solidFill>
                  <a:srgbClr val="A31515"/>
                </a:solidFill>
                <a:latin typeface="Consolas" panose="020B0609020204030204"/>
                <a:ea typeface="Consolas" panose="020B0609020204030204"/>
              </a:rPr>
              <a:t>"Veggie Pizza"</a:t>
            </a:r>
            <a:r>
              <a:rPr sz="1400" b="0">
                <a:solidFill>
                  <a:srgbClr val="000000"/>
                </a:solidFill>
                <a:latin typeface="Consolas" panose="020B0609020204030204"/>
                <a:ea typeface="Consolas" panose="020B0609020204030204"/>
              </a:rPr>
              <a:t>;</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dough =</a:t>
            </a:r>
            <a:r>
              <a:rPr sz="1400" b="0">
                <a:solidFill>
                  <a:srgbClr val="A31515"/>
                </a:solidFill>
                <a:latin typeface="Consolas" panose="020B0609020204030204"/>
                <a:ea typeface="Consolas" panose="020B0609020204030204"/>
              </a:rPr>
              <a:t>"Thin Crust Dough"</a:t>
            </a:r>
            <a:r>
              <a:rPr sz="1400" b="0">
                <a:solidFill>
                  <a:srgbClr val="000000"/>
                </a:solidFill>
                <a:latin typeface="Consolas" panose="020B0609020204030204"/>
                <a:ea typeface="Consolas" panose="020B0609020204030204"/>
              </a:rPr>
              <a:t>;</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sauce =</a:t>
            </a:r>
            <a:r>
              <a:rPr sz="1400" b="0">
                <a:solidFill>
                  <a:srgbClr val="A31515"/>
                </a:solidFill>
                <a:latin typeface="Consolas" panose="020B0609020204030204"/>
                <a:ea typeface="Consolas" panose="020B0609020204030204"/>
              </a:rPr>
              <a:t>"Marinara sauce"</a:t>
            </a:r>
            <a:r>
              <a:rPr sz="1400" b="0">
                <a:solidFill>
                  <a:srgbClr val="000000"/>
                </a:solidFill>
                <a:latin typeface="Consolas" panose="020B0609020204030204"/>
                <a:ea typeface="Consolas" panose="020B0609020204030204"/>
              </a:rPr>
              <a:t>;</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toppings.push_back(</a:t>
            </a:r>
            <a:r>
              <a:rPr sz="1400" b="0">
                <a:solidFill>
                  <a:srgbClr val="A31515"/>
                </a:solidFill>
                <a:latin typeface="Consolas" panose="020B0609020204030204"/>
                <a:ea typeface="Consolas" panose="020B0609020204030204"/>
              </a:rPr>
              <a:t>"Grated Regiano Veggie"</a:t>
            </a:r>
            <a:r>
              <a:rPr sz="1400" b="0">
                <a:solidFill>
                  <a:srgbClr val="000000"/>
                </a:solidFill>
                <a:latin typeface="Consolas" panose="020B0609020204030204"/>
                <a:ea typeface="Consolas" panose="020B0609020204030204"/>
              </a:rPr>
              <a:t>);</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toppings.push_back(</a:t>
            </a:r>
            <a:r>
              <a:rPr sz="1400" b="0">
                <a:solidFill>
                  <a:srgbClr val="A31515"/>
                </a:solidFill>
                <a:latin typeface="Consolas" panose="020B0609020204030204"/>
                <a:ea typeface="Consolas" panose="020B0609020204030204"/>
              </a:rPr>
              <a:t>"Fresh veggies"</a:t>
            </a:r>
            <a:r>
              <a:rPr sz="1400" b="0">
                <a:solidFill>
                  <a:srgbClr val="000000"/>
                </a:solidFill>
                <a:latin typeface="Consolas" panose="020B0609020204030204"/>
                <a:ea typeface="Consolas" panose="020B0609020204030204"/>
              </a:rPr>
              <a:t>);</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a:t>
            </a:r>
            <a:endParaRPr sz="1400" b="0">
              <a:solidFill>
                <a:srgbClr val="000000"/>
              </a:solidFill>
              <a:latin typeface="Consolas" panose="020B0609020204030204"/>
              <a:ea typeface="Consolas" panose="020B0609020204030204"/>
            </a:endParaRPr>
          </a:p>
        </p:txBody>
      </p:sp>
      <p:cxnSp>
        <p:nvCxnSpPr>
          <p:cNvPr id="10" name="Straight Connector 9"/>
          <p:cNvCxnSpPr/>
          <p:nvPr/>
        </p:nvCxnSpPr>
        <p:spPr>
          <a:xfrm flipH="1">
            <a:off x="5717540" y="4102100"/>
            <a:ext cx="5226685" cy="33655"/>
          </a:xfrm>
          <a:prstGeom prst="line">
            <a:avLst/>
          </a:prstGeom>
          <a:ln w="38100">
            <a:solidFill>
              <a:schemeClr val="accent1"/>
            </a:solidFill>
          </a:ln>
        </p:spPr>
        <p:style>
          <a:lnRef idx="2">
            <a:schemeClr val="accent1"/>
          </a:lnRef>
          <a:fillRef idx="0">
            <a:srgbClr val="FFFFFF"/>
          </a:fillRef>
          <a:effectRef idx="0">
            <a:srgbClr val="FFFFFF"/>
          </a:effectRef>
          <a:fontRef idx="minor">
            <a:schemeClr val="tx1"/>
          </a:fontRef>
        </p:style>
      </p:cxnSp>
      <p:sp>
        <p:nvSpPr>
          <p:cNvPr id="11" name="Text Box 10"/>
          <p:cNvSpPr txBox="1"/>
          <p:nvPr/>
        </p:nvSpPr>
        <p:spPr>
          <a:xfrm>
            <a:off x="9099550" y="4894580"/>
            <a:ext cx="1771015" cy="389890"/>
          </a:xfrm>
          <a:prstGeom prst="rect">
            <a:avLst/>
          </a:prstGeom>
          <a:noFill/>
        </p:spPr>
        <p:txBody>
          <a:bodyPr wrap="square" rtlCol="0">
            <a:noAutofit/>
          </a:bodyPr>
          <a:p>
            <a:r>
              <a:rPr lang="en-US" b="1">
                <a:solidFill>
                  <a:srgbClr val="C00000"/>
                </a:solidFill>
                <a:latin typeface="Times New Roman" panose="02020603050405020304" pitchFamily="18" charset="0"/>
                <a:cs typeface="Times New Roman" panose="02020603050405020304" pitchFamily="18" charset="0"/>
              </a:rPr>
              <a:t>veggiePizza.h</a:t>
            </a:r>
            <a:endParaRPr lang="en-US" b="1">
              <a:solidFill>
                <a:srgbClr val="C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a:latin typeface="Times New Roman" panose="02020603050405020304" pitchFamily="18" charset="0"/>
                <a:cs typeface="Times New Roman" panose="02020603050405020304" pitchFamily="18" charset="0"/>
                <a:sym typeface="+mn-ea"/>
              </a:rPr>
              <a:t>Example 3 - Pizza Store Ordering (Code)</a:t>
            </a:r>
            <a:endParaRPr lang="en-US"/>
          </a:p>
        </p:txBody>
      </p:sp>
      <p:sp>
        <p:nvSpPr>
          <p:cNvPr id="5" name="Text Box 4"/>
          <p:cNvSpPr txBox="1"/>
          <p:nvPr/>
        </p:nvSpPr>
        <p:spPr>
          <a:xfrm>
            <a:off x="261620" y="1568450"/>
            <a:ext cx="7806055" cy="3784600"/>
          </a:xfrm>
          <a:prstGeom prst="rect">
            <a:avLst/>
          </a:prstGeom>
        </p:spPr>
        <p:txBody>
          <a:bodyPr wrap="square">
            <a:spAutoFit/>
          </a:bodyPr>
          <a:p>
            <a:pPr>
              <a:lnSpc>
                <a:spcPts val="1200"/>
              </a:lnSpc>
            </a:pPr>
            <a:r>
              <a:rPr sz="1300" b="0">
                <a:solidFill>
                  <a:srgbClr val="0000FF"/>
                </a:solidFill>
                <a:latin typeface="Consolas" panose="020B0609020204030204"/>
                <a:ea typeface="Consolas" panose="020B0609020204030204"/>
              </a:rPr>
              <a:t>#pragma </a:t>
            </a:r>
            <a:r>
              <a:rPr sz="1300" b="0">
                <a:solidFill>
                  <a:srgbClr val="E50000"/>
                </a:solidFill>
                <a:latin typeface="Consolas" panose="020B0609020204030204"/>
                <a:ea typeface="Consolas" panose="020B0609020204030204"/>
              </a:rPr>
              <a:t>once</a:t>
            </a:r>
            <a:endParaRPr sz="1300" b="0">
              <a:solidFill>
                <a:srgbClr val="E50000"/>
              </a:solidFill>
              <a:latin typeface="Consolas" panose="020B0609020204030204"/>
              <a:ea typeface="Consolas" panose="020B0609020204030204"/>
            </a:endParaRPr>
          </a:p>
          <a:p>
            <a:pPr>
              <a:lnSpc>
                <a:spcPts val="1200"/>
              </a:lnSpc>
            </a:pPr>
            <a:r>
              <a:rPr sz="1300" b="0">
                <a:solidFill>
                  <a:srgbClr val="0000FF"/>
                </a:solidFill>
                <a:latin typeface="Consolas" panose="020B0609020204030204"/>
                <a:ea typeface="Consolas" panose="020B0609020204030204"/>
              </a:rPr>
              <a:t>#include </a:t>
            </a:r>
            <a:r>
              <a:rPr sz="1300" b="0">
                <a:solidFill>
                  <a:srgbClr val="A31515"/>
                </a:solidFill>
                <a:latin typeface="Consolas" panose="020B0609020204030204"/>
                <a:ea typeface="Consolas" panose="020B0609020204030204"/>
              </a:rPr>
              <a:t>"cheesePizza.h"</a:t>
            </a:r>
            <a:endParaRPr sz="1300" b="0">
              <a:solidFill>
                <a:srgbClr val="A31515"/>
              </a:solidFill>
              <a:latin typeface="Consolas" panose="020B0609020204030204"/>
              <a:ea typeface="Consolas" panose="020B0609020204030204"/>
            </a:endParaRPr>
          </a:p>
          <a:p>
            <a:pPr>
              <a:lnSpc>
                <a:spcPts val="1200"/>
              </a:lnSpc>
            </a:pPr>
            <a:r>
              <a:rPr sz="1300" b="0">
                <a:solidFill>
                  <a:srgbClr val="0000FF"/>
                </a:solidFill>
                <a:latin typeface="Consolas" panose="020B0609020204030204"/>
                <a:ea typeface="Consolas" panose="020B0609020204030204"/>
              </a:rPr>
              <a:t>#include </a:t>
            </a:r>
            <a:r>
              <a:rPr sz="1300" b="0">
                <a:solidFill>
                  <a:srgbClr val="A31515"/>
                </a:solidFill>
                <a:latin typeface="Consolas" panose="020B0609020204030204"/>
                <a:ea typeface="Consolas" panose="020B0609020204030204"/>
              </a:rPr>
              <a:t>"clamsPizza.h"</a:t>
            </a:r>
            <a:endParaRPr sz="1300" b="0">
              <a:solidFill>
                <a:srgbClr val="A31515"/>
              </a:solidFill>
              <a:latin typeface="Consolas" panose="020B0609020204030204"/>
              <a:ea typeface="Consolas" panose="020B0609020204030204"/>
            </a:endParaRPr>
          </a:p>
          <a:p>
            <a:pPr>
              <a:lnSpc>
                <a:spcPts val="1200"/>
              </a:lnSpc>
            </a:pPr>
            <a:r>
              <a:rPr sz="1300" b="0">
                <a:solidFill>
                  <a:srgbClr val="0000FF"/>
                </a:solidFill>
                <a:latin typeface="Consolas" panose="020B0609020204030204"/>
                <a:ea typeface="Consolas" panose="020B0609020204030204"/>
              </a:rPr>
              <a:t>#include </a:t>
            </a:r>
            <a:r>
              <a:rPr sz="1300" b="0">
                <a:solidFill>
                  <a:srgbClr val="A31515"/>
                </a:solidFill>
                <a:latin typeface="Consolas" panose="020B0609020204030204"/>
                <a:ea typeface="Consolas" panose="020B0609020204030204"/>
              </a:rPr>
              <a:t>"pizza.h"</a:t>
            </a:r>
            <a:endParaRPr sz="1300" b="0">
              <a:solidFill>
                <a:srgbClr val="A31515"/>
              </a:solidFill>
              <a:latin typeface="Consolas" panose="020B0609020204030204"/>
              <a:ea typeface="Consolas" panose="020B0609020204030204"/>
            </a:endParaRPr>
          </a:p>
          <a:p>
            <a:pPr>
              <a:lnSpc>
                <a:spcPts val="1200"/>
              </a:lnSpc>
            </a:pPr>
            <a:r>
              <a:rPr sz="1300" b="0">
                <a:solidFill>
                  <a:srgbClr val="0000FF"/>
                </a:solidFill>
                <a:latin typeface="Consolas" panose="020B0609020204030204"/>
                <a:ea typeface="Consolas" panose="020B0609020204030204"/>
              </a:rPr>
              <a:t>#include </a:t>
            </a:r>
            <a:r>
              <a:rPr sz="1300" b="0">
                <a:solidFill>
                  <a:srgbClr val="A31515"/>
                </a:solidFill>
                <a:latin typeface="Consolas" panose="020B0609020204030204"/>
                <a:ea typeface="Consolas" panose="020B0609020204030204"/>
              </a:rPr>
              <a:t>"veggiePizza.h"</a:t>
            </a:r>
            <a:endParaRPr sz="1300" b="0">
              <a:solidFill>
                <a:srgbClr val="A31515"/>
              </a:solidFill>
              <a:latin typeface="Consolas" panose="020B0609020204030204"/>
              <a:ea typeface="Consolas" panose="020B0609020204030204"/>
            </a:endParaRPr>
          </a:p>
          <a:p>
            <a:pPr>
              <a:lnSpc>
                <a:spcPts val="1200"/>
              </a:lnSpc>
            </a:pPr>
            <a:r>
              <a:rPr sz="1300" b="0">
                <a:solidFill>
                  <a:srgbClr val="0000FF"/>
                </a:solidFill>
                <a:latin typeface="Consolas" panose="020B0609020204030204"/>
                <a:ea typeface="Consolas" panose="020B0609020204030204"/>
              </a:rPr>
              <a:t>#include </a:t>
            </a:r>
            <a:r>
              <a:rPr sz="1300" b="0">
                <a:solidFill>
                  <a:srgbClr val="A31515"/>
                </a:solidFill>
                <a:latin typeface="Consolas" panose="020B0609020204030204"/>
                <a:ea typeface="Consolas" panose="020B0609020204030204"/>
              </a:rPr>
              <a:t>&lt;memory&gt;</a:t>
            </a:r>
            <a:endParaRPr sz="1300" b="0">
              <a:solidFill>
                <a:srgbClr val="A31515"/>
              </a:solidFill>
              <a:latin typeface="Consolas" panose="020B0609020204030204"/>
              <a:ea typeface="Consolas" panose="020B0609020204030204"/>
            </a:endParaRPr>
          </a:p>
          <a:p>
            <a:pPr>
              <a:lnSpc>
                <a:spcPts val="1200"/>
              </a:lnSpc>
            </a:pPr>
            <a:r>
              <a:rPr sz="1300" b="0">
                <a:solidFill>
                  <a:srgbClr val="0000FF"/>
                </a:solidFill>
                <a:latin typeface="Consolas" panose="020B0609020204030204"/>
                <a:ea typeface="Consolas" panose="020B0609020204030204"/>
              </a:rPr>
              <a:t>#include </a:t>
            </a:r>
            <a:r>
              <a:rPr sz="1300" b="0">
                <a:solidFill>
                  <a:srgbClr val="A31515"/>
                </a:solidFill>
                <a:latin typeface="Consolas" panose="020B0609020204030204"/>
                <a:ea typeface="Consolas" panose="020B0609020204030204"/>
              </a:rPr>
              <a:t>&lt;string&gt;</a:t>
            </a:r>
            <a:endParaRPr sz="1300" b="0">
              <a:solidFill>
                <a:srgbClr val="A31515"/>
              </a:solidFill>
              <a:latin typeface="Consolas" panose="020B0609020204030204"/>
              <a:ea typeface="Consolas" panose="020B0609020204030204"/>
            </a:endParaRPr>
          </a:p>
          <a:p>
            <a:pPr>
              <a:lnSpc>
                <a:spcPts val="1200"/>
              </a:lnSpc>
            </a:pPr>
            <a:r>
              <a:rPr sz="1300" b="0">
                <a:solidFill>
                  <a:srgbClr val="0000FF"/>
                </a:solidFill>
                <a:latin typeface="Consolas" panose="020B0609020204030204"/>
                <a:ea typeface="Consolas" panose="020B0609020204030204"/>
              </a:rPr>
              <a:t>usingnamespace</a:t>
            </a:r>
            <a:r>
              <a:rPr sz="1300" b="0">
                <a:solidFill>
                  <a:srgbClr val="000000"/>
                </a:solidFill>
                <a:latin typeface="Consolas" panose="020B0609020204030204"/>
                <a:ea typeface="Consolas" panose="020B0609020204030204"/>
              </a:rPr>
              <a:t> std;</a:t>
            </a:r>
            <a:endParaRPr sz="1300" b="0">
              <a:solidFill>
                <a:srgbClr val="000000"/>
              </a:solidFill>
              <a:latin typeface="Consolas" panose="020B0609020204030204"/>
              <a:ea typeface="Consolas" panose="020B0609020204030204"/>
            </a:endParaRPr>
          </a:p>
          <a:p>
            <a:pPr>
              <a:lnSpc>
                <a:spcPts val="1200"/>
              </a:lnSpc>
            </a:pPr>
            <a:endParaRPr sz="1300" b="0">
              <a:solidFill>
                <a:srgbClr val="000000"/>
              </a:solidFill>
              <a:latin typeface="Consolas" panose="020B0609020204030204"/>
              <a:ea typeface="Consolas" panose="020B0609020204030204"/>
            </a:endParaRPr>
          </a:p>
          <a:p>
            <a:pPr>
              <a:lnSpc>
                <a:spcPts val="1200"/>
              </a:lnSpc>
            </a:pPr>
            <a:r>
              <a:rPr sz="1300" b="0">
                <a:solidFill>
                  <a:srgbClr val="0000FF"/>
                </a:solidFill>
                <a:latin typeface="Consolas" panose="020B0609020204030204"/>
                <a:ea typeface="Consolas" panose="020B0609020204030204"/>
              </a:rPr>
              <a:t>class</a:t>
            </a:r>
            <a:r>
              <a:rPr sz="1300" b="0">
                <a:solidFill>
                  <a:srgbClr val="000000"/>
                </a:solidFill>
                <a:latin typeface="Consolas" panose="020B0609020204030204"/>
                <a:ea typeface="Consolas" panose="020B0609020204030204"/>
              </a:rPr>
              <a:t> PizzaFactory</a:t>
            </a:r>
            <a:endParaRPr sz="1300" b="0">
              <a:solidFill>
                <a:srgbClr val="000000"/>
              </a:solidFill>
              <a:latin typeface="Consolas" panose="020B0609020204030204"/>
              <a:ea typeface="Consolas" panose="020B0609020204030204"/>
            </a:endParaRPr>
          </a:p>
          <a:p>
            <a:pPr>
              <a:lnSpc>
                <a:spcPts val="1200"/>
              </a:lnSpc>
            </a:pPr>
            <a:r>
              <a:rPr sz="1300" b="0">
                <a:solidFill>
                  <a:srgbClr val="000000"/>
                </a:solidFill>
                <a:latin typeface="Consolas" panose="020B0609020204030204"/>
                <a:ea typeface="Consolas" panose="020B0609020204030204"/>
              </a:rPr>
              <a:t>{</a:t>
            </a:r>
            <a:endParaRPr sz="1300" b="0">
              <a:solidFill>
                <a:srgbClr val="000000"/>
              </a:solidFill>
              <a:latin typeface="Consolas" panose="020B0609020204030204"/>
              <a:ea typeface="Consolas" panose="020B0609020204030204"/>
            </a:endParaRPr>
          </a:p>
          <a:p>
            <a:pPr>
              <a:lnSpc>
                <a:spcPts val="1200"/>
              </a:lnSpc>
            </a:pPr>
            <a:r>
              <a:rPr sz="1300" b="0">
                <a:solidFill>
                  <a:srgbClr val="0000FF"/>
                </a:solidFill>
                <a:latin typeface="Consolas" panose="020B0609020204030204"/>
                <a:ea typeface="Consolas" panose="020B0609020204030204"/>
              </a:rPr>
              <a:t>public:</a:t>
            </a:r>
            <a:endParaRPr sz="1300" b="0">
              <a:solidFill>
                <a:srgbClr val="0000FF"/>
              </a:solidFill>
              <a:latin typeface="Consolas" panose="020B0609020204030204"/>
              <a:ea typeface="Consolas" panose="020B0609020204030204"/>
            </a:endParaRPr>
          </a:p>
          <a:p>
            <a:pPr>
              <a:lnSpc>
                <a:spcPts val="1200"/>
              </a:lnSpc>
            </a:pPr>
            <a:r>
              <a:rPr sz="1300" b="0">
                <a:solidFill>
                  <a:srgbClr val="000000"/>
                </a:solidFill>
                <a:latin typeface="Consolas" panose="020B0609020204030204"/>
                <a:ea typeface="Consolas" panose="020B0609020204030204"/>
              </a:rPr>
              <a:t>    </a:t>
            </a:r>
            <a:r>
              <a:rPr sz="1300" b="0">
                <a:solidFill>
                  <a:srgbClr val="0000FF"/>
                </a:solidFill>
                <a:latin typeface="Consolas" panose="020B0609020204030204"/>
                <a:ea typeface="Consolas" panose="020B0609020204030204"/>
              </a:rPr>
              <a:t>virtual</a:t>
            </a:r>
            <a:r>
              <a:rPr sz="1300" b="0">
                <a:solidFill>
                  <a:srgbClr val="000000"/>
                </a:solidFill>
                <a:latin typeface="Consolas" panose="020B0609020204030204"/>
                <a:ea typeface="Consolas" panose="020B0609020204030204"/>
              </a:rPr>
              <a:t> Pizza </a:t>
            </a:r>
            <a:r>
              <a:rPr sz="1300" b="0">
                <a:solidFill>
                  <a:srgbClr val="0000FF"/>
                </a:solidFill>
                <a:latin typeface="Consolas" panose="020B0609020204030204"/>
                <a:ea typeface="Consolas" panose="020B0609020204030204"/>
              </a:rPr>
              <a:t>*</a:t>
            </a:r>
            <a:r>
              <a:rPr sz="1300" b="0">
                <a:solidFill>
                  <a:srgbClr val="000000"/>
                </a:solidFill>
                <a:latin typeface="Consolas" panose="020B0609020204030204"/>
                <a:ea typeface="Consolas" panose="020B0609020204030204"/>
              </a:rPr>
              <a:t>createPizza(string_view) </a:t>
            </a:r>
            <a:r>
              <a:rPr sz="1300" b="0">
                <a:solidFill>
                  <a:srgbClr val="0000FF"/>
                </a:solidFill>
                <a:latin typeface="Consolas" panose="020B0609020204030204"/>
                <a:ea typeface="Consolas" panose="020B0609020204030204"/>
              </a:rPr>
              <a:t>const</a:t>
            </a:r>
            <a:r>
              <a:rPr sz="1300" b="0">
                <a:solidFill>
                  <a:srgbClr val="000000"/>
                </a:solidFill>
                <a:latin typeface="Consolas" panose="020B0609020204030204"/>
                <a:ea typeface="Consolas" panose="020B0609020204030204"/>
              </a:rPr>
              <a:t> = </a:t>
            </a:r>
            <a:r>
              <a:rPr sz="1300" b="0">
                <a:solidFill>
                  <a:srgbClr val="098658"/>
                </a:solidFill>
                <a:latin typeface="Consolas" panose="020B0609020204030204"/>
                <a:ea typeface="Consolas" panose="020B0609020204030204"/>
              </a:rPr>
              <a:t>0</a:t>
            </a:r>
            <a:r>
              <a:rPr sz="1300" b="0">
                <a:solidFill>
                  <a:srgbClr val="000000"/>
                </a:solidFill>
                <a:latin typeface="Consolas" panose="020B0609020204030204"/>
                <a:ea typeface="Consolas" panose="020B0609020204030204"/>
              </a:rPr>
              <a:t>;</a:t>
            </a:r>
            <a:r>
              <a:rPr sz="1300" b="0">
                <a:solidFill>
                  <a:srgbClr val="008000"/>
                </a:solidFill>
                <a:latin typeface="Consolas" panose="020B0609020204030204"/>
                <a:ea typeface="Consolas" panose="020B0609020204030204"/>
              </a:rPr>
              <a:t> // Pure virtual function</a:t>
            </a:r>
            <a:endParaRPr sz="1300" b="0">
              <a:solidFill>
                <a:srgbClr val="008000"/>
              </a:solidFill>
              <a:latin typeface="Consolas" panose="020B0609020204030204"/>
              <a:ea typeface="Consolas" panose="020B0609020204030204"/>
            </a:endParaRPr>
          </a:p>
          <a:p>
            <a:pPr>
              <a:lnSpc>
                <a:spcPts val="1200"/>
              </a:lnSpc>
            </a:pPr>
            <a:r>
              <a:rPr sz="1300" b="0">
                <a:solidFill>
                  <a:srgbClr val="000000"/>
                </a:solidFill>
                <a:latin typeface="Consolas" panose="020B0609020204030204"/>
                <a:ea typeface="Consolas" panose="020B0609020204030204"/>
              </a:rPr>
              <a:t>    </a:t>
            </a:r>
            <a:r>
              <a:rPr sz="1300" b="0">
                <a:solidFill>
                  <a:srgbClr val="0000FF"/>
                </a:solidFill>
                <a:latin typeface="Consolas" panose="020B0609020204030204"/>
                <a:ea typeface="Consolas" panose="020B0609020204030204"/>
              </a:rPr>
              <a:t>virtual</a:t>
            </a:r>
            <a:r>
              <a:rPr sz="1300" b="0">
                <a:solidFill>
                  <a:srgbClr val="000000"/>
                </a:solidFill>
                <a:latin typeface="Consolas" panose="020B0609020204030204"/>
                <a:ea typeface="Consolas" panose="020B0609020204030204"/>
              </a:rPr>
              <a:t> ~PizzaFactory() = </a:t>
            </a:r>
            <a:r>
              <a:rPr sz="1300" b="0">
                <a:solidFill>
                  <a:srgbClr val="0000FF"/>
                </a:solidFill>
                <a:latin typeface="Consolas" panose="020B0609020204030204"/>
                <a:ea typeface="Consolas" panose="020B0609020204030204"/>
              </a:rPr>
              <a:t>default</a:t>
            </a:r>
            <a:r>
              <a:rPr sz="1300" b="0">
                <a:solidFill>
                  <a:srgbClr val="000000"/>
                </a:solidFill>
                <a:latin typeface="Consolas" panose="020B0609020204030204"/>
                <a:ea typeface="Consolas" panose="020B0609020204030204"/>
              </a:rPr>
              <a:t>;</a:t>
            </a:r>
            <a:r>
              <a:rPr sz="1300" b="0">
                <a:solidFill>
                  <a:srgbClr val="008000"/>
                </a:solidFill>
                <a:latin typeface="Consolas" panose="020B0609020204030204"/>
                <a:ea typeface="Consolas" panose="020B0609020204030204"/>
              </a:rPr>
              <a:t>                 // Virtual destructor</a:t>
            </a:r>
            <a:endParaRPr sz="1300" b="0">
              <a:solidFill>
                <a:srgbClr val="008000"/>
              </a:solidFill>
              <a:latin typeface="Consolas" panose="020B0609020204030204"/>
              <a:ea typeface="Consolas" panose="020B0609020204030204"/>
            </a:endParaRPr>
          </a:p>
          <a:p>
            <a:pPr>
              <a:lnSpc>
                <a:spcPts val="1200"/>
              </a:lnSpc>
            </a:pPr>
            <a:r>
              <a:rPr sz="1300" b="0">
                <a:solidFill>
                  <a:srgbClr val="000000"/>
                </a:solidFill>
                <a:latin typeface="Consolas" panose="020B0609020204030204"/>
                <a:ea typeface="Consolas" panose="020B0609020204030204"/>
              </a:rPr>
              <a:t>};</a:t>
            </a:r>
            <a:endParaRPr sz="1300" b="0">
              <a:solidFill>
                <a:srgbClr val="000000"/>
              </a:solidFill>
              <a:latin typeface="Consolas" panose="020B0609020204030204"/>
              <a:ea typeface="Consolas" panose="020B0609020204030204"/>
            </a:endParaRPr>
          </a:p>
          <a:p>
            <a:pPr>
              <a:lnSpc>
                <a:spcPts val="1200"/>
              </a:lnSpc>
            </a:pPr>
            <a:endParaRPr sz="1300" b="0">
              <a:solidFill>
                <a:srgbClr val="000000"/>
              </a:solidFill>
              <a:latin typeface="Consolas" panose="020B0609020204030204"/>
              <a:ea typeface="Consolas" panose="020B0609020204030204"/>
            </a:endParaRPr>
          </a:p>
          <a:p>
            <a:pPr>
              <a:lnSpc>
                <a:spcPts val="1200"/>
              </a:lnSpc>
            </a:pPr>
            <a:r>
              <a:rPr sz="1300" b="0">
                <a:solidFill>
                  <a:srgbClr val="0000FF"/>
                </a:solidFill>
                <a:latin typeface="Consolas" panose="020B0609020204030204"/>
                <a:ea typeface="Consolas" panose="020B0609020204030204"/>
              </a:rPr>
              <a:t>class</a:t>
            </a:r>
            <a:r>
              <a:rPr sz="1300" b="0">
                <a:solidFill>
                  <a:srgbClr val="000000"/>
                </a:solidFill>
                <a:latin typeface="Consolas" panose="020B0609020204030204"/>
                <a:ea typeface="Consolas" panose="020B0609020204030204"/>
              </a:rPr>
              <a:t> VeggiePizzaFactory : </a:t>
            </a:r>
            <a:r>
              <a:rPr sz="1300" b="0">
                <a:solidFill>
                  <a:srgbClr val="0000FF"/>
                </a:solidFill>
                <a:latin typeface="Consolas" panose="020B0609020204030204"/>
                <a:ea typeface="Consolas" panose="020B0609020204030204"/>
              </a:rPr>
              <a:t>public</a:t>
            </a:r>
            <a:r>
              <a:rPr sz="1300" b="0">
                <a:solidFill>
                  <a:srgbClr val="000000"/>
                </a:solidFill>
                <a:latin typeface="Consolas" panose="020B0609020204030204"/>
                <a:ea typeface="Consolas" panose="020B0609020204030204"/>
              </a:rPr>
              <a:t> PizzaFactory</a:t>
            </a:r>
            <a:endParaRPr sz="1300" b="0">
              <a:solidFill>
                <a:srgbClr val="000000"/>
              </a:solidFill>
              <a:latin typeface="Consolas" panose="020B0609020204030204"/>
              <a:ea typeface="Consolas" panose="020B0609020204030204"/>
            </a:endParaRPr>
          </a:p>
          <a:p>
            <a:pPr>
              <a:lnSpc>
                <a:spcPts val="1200"/>
              </a:lnSpc>
            </a:pPr>
            <a:r>
              <a:rPr sz="1300" b="0">
                <a:solidFill>
                  <a:srgbClr val="000000"/>
                </a:solidFill>
                <a:latin typeface="Consolas" panose="020B0609020204030204"/>
                <a:ea typeface="Consolas" panose="020B0609020204030204"/>
              </a:rPr>
              <a:t>{</a:t>
            </a:r>
            <a:endParaRPr sz="1300" b="0">
              <a:solidFill>
                <a:srgbClr val="000000"/>
              </a:solidFill>
              <a:latin typeface="Consolas" panose="020B0609020204030204"/>
              <a:ea typeface="Consolas" panose="020B0609020204030204"/>
            </a:endParaRPr>
          </a:p>
          <a:p>
            <a:pPr>
              <a:lnSpc>
                <a:spcPts val="1200"/>
              </a:lnSpc>
            </a:pPr>
            <a:r>
              <a:rPr sz="1300" b="0">
                <a:solidFill>
                  <a:srgbClr val="0000FF"/>
                </a:solidFill>
                <a:latin typeface="Consolas" panose="020B0609020204030204"/>
                <a:ea typeface="Consolas" panose="020B0609020204030204"/>
              </a:rPr>
              <a:t>public:</a:t>
            </a:r>
            <a:endParaRPr sz="1300" b="0">
              <a:solidFill>
                <a:srgbClr val="0000FF"/>
              </a:solidFill>
              <a:latin typeface="Consolas" panose="020B0609020204030204"/>
              <a:ea typeface="Consolas" panose="020B0609020204030204"/>
            </a:endParaRPr>
          </a:p>
          <a:p>
            <a:pPr>
              <a:lnSpc>
                <a:spcPts val="1200"/>
              </a:lnSpc>
            </a:pPr>
            <a:r>
              <a:rPr sz="1300" b="0">
                <a:solidFill>
                  <a:srgbClr val="000000"/>
                </a:solidFill>
                <a:latin typeface="Consolas" panose="020B0609020204030204"/>
                <a:ea typeface="Consolas" panose="020B0609020204030204"/>
              </a:rPr>
              <a:t>    Pizza </a:t>
            </a:r>
            <a:r>
              <a:rPr sz="1300" b="0">
                <a:solidFill>
                  <a:srgbClr val="0000FF"/>
                </a:solidFill>
                <a:latin typeface="Consolas" panose="020B0609020204030204"/>
                <a:ea typeface="Consolas" panose="020B0609020204030204"/>
              </a:rPr>
              <a:t>*</a:t>
            </a:r>
            <a:r>
              <a:rPr sz="1300" b="0">
                <a:solidFill>
                  <a:srgbClr val="000000"/>
                </a:solidFill>
                <a:latin typeface="Consolas" panose="020B0609020204030204"/>
                <a:ea typeface="Consolas" panose="020B0609020204030204"/>
              </a:rPr>
              <a:t>createPizza(string_view name) </a:t>
            </a:r>
            <a:r>
              <a:rPr sz="1300" b="0">
                <a:solidFill>
                  <a:srgbClr val="0000FF"/>
                </a:solidFill>
                <a:latin typeface="Consolas" panose="020B0609020204030204"/>
                <a:ea typeface="Consolas" panose="020B0609020204030204"/>
              </a:rPr>
              <a:t>constoverride</a:t>
            </a:r>
            <a:endParaRPr sz="1300" b="0">
              <a:solidFill>
                <a:srgbClr val="0000FF"/>
              </a:solidFill>
              <a:latin typeface="Consolas" panose="020B0609020204030204"/>
              <a:ea typeface="Consolas" panose="020B0609020204030204"/>
            </a:endParaRPr>
          </a:p>
          <a:p>
            <a:pPr>
              <a:lnSpc>
                <a:spcPts val="1200"/>
              </a:lnSpc>
            </a:pPr>
            <a:r>
              <a:rPr sz="1300" b="0">
                <a:solidFill>
                  <a:srgbClr val="000000"/>
                </a:solidFill>
                <a:latin typeface="Consolas" panose="020B0609020204030204"/>
                <a:ea typeface="Consolas" panose="020B0609020204030204"/>
              </a:rPr>
              <a:t>    {</a:t>
            </a:r>
            <a:endParaRPr sz="1300" b="0">
              <a:solidFill>
                <a:srgbClr val="000000"/>
              </a:solidFill>
              <a:latin typeface="Consolas" panose="020B0609020204030204"/>
              <a:ea typeface="Consolas" panose="020B0609020204030204"/>
            </a:endParaRPr>
          </a:p>
          <a:p>
            <a:pPr>
              <a:lnSpc>
                <a:spcPts val="1200"/>
              </a:lnSpc>
            </a:pPr>
            <a:r>
              <a:rPr sz="1300" b="0">
                <a:solidFill>
                  <a:srgbClr val="000000"/>
                </a:solidFill>
                <a:latin typeface="Consolas" panose="020B0609020204030204"/>
                <a:ea typeface="Consolas" panose="020B0609020204030204"/>
              </a:rPr>
              <a:t>        </a:t>
            </a:r>
            <a:r>
              <a:rPr sz="1300" b="0">
                <a:solidFill>
                  <a:srgbClr val="0000FF"/>
                </a:solidFill>
                <a:latin typeface="Consolas" panose="020B0609020204030204"/>
                <a:ea typeface="Consolas" panose="020B0609020204030204"/>
              </a:rPr>
              <a:t>returnnew</a:t>
            </a:r>
            <a:r>
              <a:rPr sz="1300" b="0">
                <a:solidFill>
                  <a:srgbClr val="000000"/>
                </a:solidFill>
                <a:latin typeface="Consolas" panose="020B0609020204030204"/>
                <a:ea typeface="Consolas" panose="020B0609020204030204"/>
              </a:rPr>
              <a:t> VeggiePizza();</a:t>
            </a:r>
            <a:endParaRPr sz="1300" b="0">
              <a:solidFill>
                <a:srgbClr val="000000"/>
              </a:solidFill>
              <a:latin typeface="Consolas" panose="020B0609020204030204"/>
              <a:ea typeface="Consolas" panose="020B0609020204030204"/>
            </a:endParaRPr>
          </a:p>
          <a:p>
            <a:pPr>
              <a:lnSpc>
                <a:spcPts val="1200"/>
              </a:lnSpc>
            </a:pPr>
            <a:r>
              <a:rPr sz="1300" b="0">
                <a:solidFill>
                  <a:srgbClr val="000000"/>
                </a:solidFill>
                <a:latin typeface="Consolas" panose="020B0609020204030204"/>
                <a:ea typeface="Consolas" panose="020B0609020204030204"/>
              </a:rPr>
              <a:t>    }</a:t>
            </a:r>
            <a:endParaRPr sz="1300" b="0">
              <a:solidFill>
                <a:srgbClr val="000000"/>
              </a:solidFill>
              <a:latin typeface="Consolas" panose="020B0609020204030204"/>
              <a:ea typeface="Consolas" panose="020B0609020204030204"/>
            </a:endParaRPr>
          </a:p>
          <a:p>
            <a:pPr>
              <a:lnSpc>
                <a:spcPts val="1200"/>
              </a:lnSpc>
            </a:pPr>
            <a:r>
              <a:rPr sz="1300" b="0">
                <a:solidFill>
                  <a:srgbClr val="000000"/>
                </a:solidFill>
                <a:latin typeface="Consolas" panose="020B0609020204030204"/>
                <a:ea typeface="Consolas" panose="020B0609020204030204"/>
              </a:rPr>
              <a:t>};</a:t>
            </a:r>
            <a:endParaRPr sz="1300" b="0">
              <a:solidFill>
                <a:srgbClr val="000000"/>
              </a:solidFill>
              <a:latin typeface="Consolas" panose="020B0609020204030204"/>
              <a:ea typeface="Consolas" panose="020B0609020204030204"/>
            </a:endParaRPr>
          </a:p>
        </p:txBody>
      </p:sp>
      <p:sp>
        <p:nvSpPr>
          <p:cNvPr id="6" name="Text Box 5"/>
          <p:cNvSpPr txBox="1"/>
          <p:nvPr/>
        </p:nvSpPr>
        <p:spPr>
          <a:xfrm>
            <a:off x="6389370" y="3939540"/>
            <a:ext cx="5754370" cy="2707005"/>
          </a:xfrm>
          <a:prstGeom prst="rect">
            <a:avLst/>
          </a:prstGeom>
        </p:spPr>
        <p:txBody>
          <a:bodyPr wrap="square">
            <a:spAutoFit/>
          </a:bodyPr>
          <a:p>
            <a:pPr>
              <a:lnSpc>
                <a:spcPts val="1200"/>
              </a:lnSpc>
            </a:pPr>
            <a:r>
              <a:rPr sz="1300" b="0">
                <a:solidFill>
                  <a:srgbClr val="0000FF"/>
                </a:solidFill>
                <a:latin typeface="Consolas" panose="020B0609020204030204"/>
                <a:ea typeface="Consolas" panose="020B0609020204030204"/>
              </a:rPr>
              <a:t>class</a:t>
            </a:r>
            <a:r>
              <a:rPr sz="1300" b="0">
                <a:solidFill>
                  <a:srgbClr val="000000"/>
                </a:solidFill>
                <a:latin typeface="Consolas" panose="020B0609020204030204"/>
                <a:ea typeface="Consolas" panose="020B0609020204030204"/>
              </a:rPr>
              <a:t> CheesePizzaFactory : </a:t>
            </a:r>
            <a:r>
              <a:rPr sz="1300" b="0">
                <a:solidFill>
                  <a:srgbClr val="0000FF"/>
                </a:solidFill>
                <a:latin typeface="Consolas" panose="020B0609020204030204"/>
                <a:ea typeface="Consolas" panose="020B0609020204030204"/>
              </a:rPr>
              <a:t>public</a:t>
            </a:r>
            <a:r>
              <a:rPr sz="1300" b="0">
                <a:solidFill>
                  <a:srgbClr val="000000"/>
                </a:solidFill>
                <a:latin typeface="Consolas" panose="020B0609020204030204"/>
                <a:ea typeface="Consolas" panose="020B0609020204030204"/>
              </a:rPr>
              <a:t> PizzaFactory</a:t>
            </a:r>
            <a:endParaRPr sz="1300" b="0">
              <a:solidFill>
                <a:srgbClr val="000000"/>
              </a:solidFill>
              <a:latin typeface="Consolas" panose="020B0609020204030204"/>
              <a:ea typeface="Consolas" panose="020B0609020204030204"/>
            </a:endParaRPr>
          </a:p>
          <a:p>
            <a:pPr>
              <a:lnSpc>
                <a:spcPts val="1200"/>
              </a:lnSpc>
            </a:pPr>
            <a:r>
              <a:rPr sz="1300" b="0">
                <a:solidFill>
                  <a:srgbClr val="000000"/>
                </a:solidFill>
                <a:latin typeface="Consolas" panose="020B0609020204030204"/>
                <a:ea typeface="Consolas" panose="020B0609020204030204"/>
              </a:rPr>
              <a:t>{</a:t>
            </a:r>
            <a:endParaRPr sz="1300" b="0">
              <a:solidFill>
                <a:srgbClr val="000000"/>
              </a:solidFill>
              <a:latin typeface="Consolas" panose="020B0609020204030204"/>
              <a:ea typeface="Consolas" panose="020B0609020204030204"/>
            </a:endParaRPr>
          </a:p>
          <a:p>
            <a:pPr>
              <a:lnSpc>
                <a:spcPts val="1200"/>
              </a:lnSpc>
            </a:pPr>
            <a:r>
              <a:rPr sz="1300" b="0">
                <a:solidFill>
                  <a:srgbClr val="0000FF"/>
                </a:solidFill>
                <a:latin typeface="Consolas" panose="020B0609020204030204"/>
                <a:ea typeface="Consolas" panose="020B0609020204030204"/>
              </a:rPr>
              <a:t>public:</a:t>
            </a:r>
            <a:endParaRPr sz="1300" b="0">
              <a:solidFill>
                <a:srgbClr val="0000FF"/>
              </a:solidFill>
              <a:latin typeface="Consolas" panose="020B0609020204030204"/>
              <a:ea typeface="Consolas" panose="020B0609020204030204"/>
            </a:endParaRPr>
          </a:p>
          <a:p>
            <a:pPr>
              <a:lnSpc>
                <a:spcPts val="1200"/>
              </a:lnSpc>
            </a:pPr>
            <a:r>
              <a:rPr sz="1300" b="0">
                <a:solidFill>
                  <a:srgbClr val="000000"/>
                </a:solidFill>
                <a:latin typeface="Consolas" panose="020B0609020204030204"/>
                <a:ea typeface="Consolas" panose="020B0609020204030204"/>
              </a:rPr>
              <a:t>    Pizza </a:t>
            </a:r>
            <a:r>
              <a:rPr sz="1300" b="0">
                <a:solidFill>
                  <a:srgbClr val="0000FF"/>
                </a:solidFill>
                <a:latin typeface="Consolas" panose="020B0609020204030204"/>
                <a:ea typeface="Consolas" panose="020B0609020204030204"/>
              </a:rPr>
              <a:t>*</a:t>
            </a:r>
            <a:r>
              <a:rPr sz="1300" b="0">
                <a:solidFill>
                  <a:srgbClr val="000000"/>
                </a:solidFill>
                <a:latin typeface="Consolas" panose="020B0609020204030204"/>
                <a:ea typeface="Consolas" panose="020B0609020204030204"/>
              </a:rPr>
              <a:t>createPizza(string_view name) </a:t>
            </a:r>
            <a:r>
              <a:rPr sz="1300" b="0">
                <a:solidFill>
                  <a:srgbClr val="0000FF"/>
                </a:solidFill>
                <a:latin typeface="Consolas" panose="020B0609020204030204"/>
                <a:ea typeface="Consolas" panose="020B0609020204030204"/>
              </a:rPr>
              <a:t>constoverride</a:t>
            </a:r>
            <a:endParaRPr sz="1300" b="0">
              <a:solidFill>
                <a:srgbClr val="0000FF"/>
              </a:solidFill>
              <a:latin typeface="Consolas" panose="020B0609020204030204"/>
              <a:ea typeface="Consolas" panose="020B0609020204030204"/>
            </a:endParaRPr>
          </a:p>
          <a:p>
            <a:pPr>
              <a:lnSpc>
                <a:spcPts val="1200"/>
              </a:lnSpc>
            </a:pPr>
            <a:r>
              <a:rPr sz="1300" b="0">
                <a:solidFill>
                  <a:srgbClr val="000000"/>
                </a:solidFill>
                <a:latin typeface="Consolas" panose="020B0609020204030204"/>
                <a:ea typeface="Consolas" panose="020B0609020204030204"/>
              </a:rPr>
              <a:t>    {</a:t>
            </a:r>
            <a:endParaRPr sz="1300" b="0">
              <a:solidFill>
                <a:srgbClr val="000000"/>
              </a:solidFill>
              <a:latin typeface="Consolas" panose="020B0609020204030204"/>
              <a:ea typeface="Consolas" panose="020B0609020204030204"/>
            </a:endParaRPr>
          </a:p>
          <a:p>
            <a:pPr>
              <a:lnSpc>
                <a:spcPts val="1200"/>
              </a:lnSpc>
            </a:pPr>
            <a:r>
              <a:rPr sz="1300" b="0">
                <a:solidFill>
                  <a:srgbClr val="000000"/>
                </a:solidFill>
                <a:latin typeface="Consolas" panose="020B0609020204030204"/>
                <a:ea typeface="Consolas" panose="020B0609020204030204"/>
              </a:rPr>
              <a:t>        </a:t>
            </a:r>
            <a:r>
              <a:rPr sz="1300" b="0">
                <a:solidFill>
                  <a:srgbClr val="0000FF"/>
                </a:solidFill>
                <a:latin typeface="Consolas" panose="020B0609020204030204"/>
                <a:ea typeface="Consolas" panose="020B0609020204030204"/>
              </a:rPr>
              <a:t>returnnew</a:t>
            </a:r>
            <a:r>
              <a:rPr sz="1300" b="0">
                <a:solidFill>
                  <a:srgbClr val="000000"/>
                </a:solidFill>
                <a:latin typeface="Consolas" panose="020B0609020204030204"/>
                <a:ea typeface="Consolas" panose="020B0609020204030204"/>
              </a:rPr>
              <a:t> CheesePizza();</a:t>
            </a:r>
            <a:endParaRPr sz="1300" b="0">
              <a:solidFill>
                <a:srgbClr val="000000"/>
              </a:solidFill>
              <a:latin typeface="Consolas" panose="020B0609020204030204"/>
              <a:ea typeface="Consolas" panose="020B0609020204030204"/>
            </a:endParaRPr>
          </a:p>
          <a:p>
            <a:pPr>
              <a:lnSpc>
                <a:spcPts val="1200"/>
              </a:lnSpc>
            </a:pPr>
            <a:r>
              <a:rPr sz="1300" b="0">
                <a:solidFill>
                  <a:srgbClr val="000000"/>
                </a:solidFill>
                <a:latin typeface="Consolas" panose="020B0609020204030204"/>
                <a:ea typeface="Consolas" panose="020B0609020204030204"/>
              </a:rPr>
              <a:t>    }</a:t>
            </a:r>
            <a:endParaRPr sz="1300" b="0">
              <a:solidFill>
                <a:srgbClr val="000000"/>
              </a:solidFill>
              <a:latin typeface="Consolas" panose="020B0609020204030204"/>
              <a:ea typeface="Consolas" panose="020B0609020204030204"/>
            </a:endParaRPr>
          </a:p>
          <a:p>
            <a:pPr>
              <a:lnSpc>
                <a:spcPts val="1200"/>
              </a:lnSpc>
            </a:pPr>
            <a:r>
              <a:rPr sz="1300" b="0">
                <a:solidFill>
                  <a:srgbClr val="000000"/>
                </a:solidFill>
                <a:latin typeface="Consolas" panose="020B0609020204030204"/>
                <a:ea typeface="Consolas" panose="020B0609020204030204"/>
              </a:rPr>
              <a:t>};</a:t>
            </a:r>
            <a:endParaRPr sz="1300" b="0">
              <a:solidFill>
                <a:srgbClr val="000000"/>
              </a:solidFill>
              <a:latin typeface="Consolas" panose="020B0609020204030204"/>
              <a:ea typeface="Consolas" panose="020B0609020204030204"/>
            </a:endParaRPr>
          </a:p>
          <a:p>
            <a:pPr>
              <a:lnSpc>
                <a:spcPts val="1200"/>
              </a:lnSpc>
            </a:pPr>
            <a:endParaRPr sz="1300" b="0">
              <a:solidFill>
                <a:srgbClr val="000000"/>
              </a:solidFill>
              <a:latin typeface="Consolas" panose="020B0609020204030204"/>
              <a:ea typeface="Consolas" panose="020B0609020204030204"/>
            </a:endParaRPr>
          </a:p>
          <a:p>
            <a:pPr>
              <a:lnSpc>
                <a:spcPts val="1200"/>
              </a:lnSpc>
            </a:pPr>
            <a:r>
              <a:rPr sz="1300" b="0">
                <a:solidFill>
                  <a:srgbClr val="0000FF"/>
                </a:solidFill>
                <a:latin typeface="Consolas" panose="020B0609020204030204"/>
                <a:ea typeface="Consolas" panose="020B0609020204030204"/>
              </a:rPr>
              <a:t>class</a:t>
            </a:r>
            <a:r>
              <a:rPr sz="1300" b="0">
                <a:solidFill>
                  <a:srgbClr val="000000"/>
                </a:solidFill>
                <a:latin typeface="Consolas" panose="020B0609020204030204"/>
                <a:ea typeface="Consolas" panose="020B0609020204030204"/>
              </a:rPr>
              <a:t> ClamsPizzaFactory : </a:t>
            </a:r>
            <a:r>
              <a:rPr sz="1300" b="0">
                <a:solidFill>
                  <a:srgbClr val="0000FF"/>
                </a:solidFill>
                <a:latin typeface="Consolas" panose="020B0609020204030204"/>
                <a:ea typeface="Consolas" panose="020B0609020204030204"/>
              </a:rPr>
              <a:t>public</a:t>
            </a:r>
            <a:r>
              <a:rPr sz="1300" b="0">
                <a:solidFill>
                  <a:srgbClr val="000000"/>
                </a:solidFill>
                <a:latin typeface="Consolas" panose="020B0609020204030204"/>
                <a:ea typeface="Consolas" panose="020B0609020204030204"/>
              </a:rPr>
              <a:t> PizzaFactory</a:t>
            </a:r>
            <a:endParaRPr sz="1300" b="0">
              <a:solidFill>
                <a:srgbClr val="000000"/>
              </a:solidFill>
              <a:latin typeface="Consolas" panose="020B0609020204030204"/>
              <a:ea typeface="Consolas" panose="020B0609020204030204"/>
            </a:endParaRPr>
          </a:p>
          <a:p>
            <a:pPr>
              <a:lnSpc>
                <a:spcPts val="1200"/>
              </a:lnSpc>
            </a:pPr>
            <a:r>
              <a:rPr sz="1300" b="0">
                <a:solidFill>
                  <a:srgbClr val="000000"/>
                </a:solidFill>
                <a:latin typeface="Consolas" panose="020B0609020204030204"/>
                <a:ea typeface="Consolas" panose="020B0609020204030204"/>
              </a:rPr>
              <a:t>{</a:t>
            </a:r>
            <a:endParaRPr sz="1300" b="0">
              <a:solidFill>
                <a:srgbClr val="000000"/>
              </a:solidFill>
              <a:latin typeface="Consolas" panose="020B0609020204030204"/>
              <a:ea typeface="Consolas" panose="020B0609020204030204"/>
            </a:endParaRPr>
          </a:p>
          <a:p>
            <a:pPr>
              <a:lnSpc>
                <a:spcPts val="1200"/>
              </a:lnSpc>
            </a:pPr>
            <a:r>
              <a:rPr sz="1300" b="0">
                <a:solidFill>
                  <a:srgbClr val="0000FF"/>
                </a:solidFill>
                <a:latin typeface="Consolas" panose="020B0609020204030204"/>
                <a:ea typeface="Consolas" panose="020B0609020204030204"/>
              </a:rPr>
              <a:t>public:</a:t>
            </a:r>
            <a:endParaRPr sz="1300" b="0">
              <a:solidFill>
                <a:srgbClr val="0000FF"/>
              </a:solidFill>
              <a:latin typeface="Consolas" panose="020B0609020204030204"/>
              <a:ea typeface="Consolas" panose="020B0609020204030204"/>
            </a:endParaRPr>
          </a:p>
          <a:p>
            <a:pPr>
              <a:lnSpc>
                <a:spcPts val="1200"/>
              </a:lnSpc>
            </a:pPr>
            <a:r>
              <a:rPr sz="1300" b="0">
                <a:solidFill>
                  <a:srgbClr val="000000"/>
                </a:solidFill>
                <a:latin typeface="Consolas" panose="020B0609020204030204"/>
                <a:ea typeface="Consolas" panose="020B0609020204030204"/>
              </a:rPr>
              <a:t>    Pizza </a:t>
            </a:r>
            <a:r>
              <a:rPr sz="1300" b="0">
                <a:solidFill>
                  <a:srgbClr val="0000FF"/>
                </a:solidFill>
                <a:latin typeface="Consolas" panose="020B0609020204030204"/>
                <a:ea typeface="Consolas" panose="020B0609020204030204"/>
              </a:rPr>
              <a:t>*</a:t>
            </a:r>
            <a:r>
              <a:rPr sz="1300" b="0">
                <a:solidFill>
                  <a:srgbClr val="000000"/>
                </a:solidFill>
                <a:latin typeface="Consolas" panose="020B0609020204030204"/>
                <a:ea typeface="Consolas" panose="020B0609020204030204"/>
              </a:rPr>
              <a:t>createPizza(string_view name) </a:t>
            </a:r>
            <a:r>
              <a:rPr sz="1300" b="0">
                <a:solidFill>
                  <a:srgbClr val="0000FF"/>
                </a:solidFill>
                <a:latin typeface="Consolas" panose="020B0609020204030204"/>
                <a:ea typeface="Consolas" panose="020B0609020204030204"/>
              </a:rPr>
              <a:t>constoverride</a:t>
            </a:r>
            <a:endParaRPr sz="1300" b="0">
              <a:solidFill>
                <a:srgbClr val="0000FF"/>
              </a:solidFill>
              <a:latin typeface="Consolas" panose="020B0609020204030204"/>
              <a:ea typeface="Consolas" panose="020B0609020204030204"/>
            </a:endParaRPr>
          </a:p>
          <a:p>
            <a:pPr>
              <a:lnSpc>
                <a:spcPts val="1200"/>
              </a:lnSpc>
            </a:pPr>
            <a:r>
              <a:rPr sz="1300" b="0">
                <a:solidFill>
                  <a:srgbClr val="000000"/>
                </a:solidFill>
                <a:latin typeface="Consolas" panose="020B0609020204030204"/>
                <a:ea typeface="Consolas" panose="020B0609020204030204"/>
              </a:rPr>
              <a:t>    {</a:t>
            </a:r>
            <a:endParaRPr sz="1300" b="0">
              <a:solidFill>
                <a:srgbClr val="000000"/>
              </a:solidFill>
              <a:latin typeface="Consolas" panose="020B0609020204030204"/>
              <a:ea typeface="Consolas" panose="020B0609020204030204"/>
            </a:endParaRPr>
          </a:p>
          <a:p>
            <a:pPr>
              <a:lnSpc>
                <a:spcPts val="1200"/>
              </a:lnSpc>
            </a:pPr>
            <a:r>
              <a:rPr sz="1300" b="0">
                <a:solidFill>
                  <a:srgbClr val="000000"/>
                </a:solidFill>
                <a:latin typeface="Consolas" panose="020B0609020204030204"/>
                <a:ea typeface="Consolas" panose="020B0609020204030204"/>
              </a:rPr>
              <a:t>        </a:t>
            </a:r>
            <a:r>
              <a:rPr sz="1300" b="0">
                <a:solidFill>
                  <a:srgbClr val="0000FF"/>
                </a:solidFill>
                <a:latin typeface="Consolas" panose="020B0609020204030204"/>
                <a:ea typeface="Consolas" panose="020B0609020204030204"/>
              </a:rPr>
              <a:t>returnnew</a:t>
            </a:r>
            <a:r>
              <a:rPr sz="1300" b="0">
                <a:solidFill>
                  <a:srgbClr val="000000"/>
                </a:solidFill>
                <a:latin typeface="Consolas" panose="020B0609020204030204"/>
                <a:ea typeface="Consolas" panose="020B0609020204030204"/>
              </a:rPr>
              <a:t> ClamsPizza();</a:t>
            </a:r>
            <a:endParaRPr sz="1300" b="0">
              <a:solidFill>
                <a:srgbClr val="000000"/>
              </a:solidFill>
              <a:latin typeface="Consolas" panose="020B0609020204030204"/>
              <a:ea typeface="Consolas" panose="020B0609020204030204"/>
            </a:endParaRPr>
          </a:p>
          <a:p>
            <a:pPr>
              <a:lnSpc>
                <a:spcPts val="1200"/>
              </a:lnSpc>
            </a:pPr>
            <a:r>
              <a:rPr sz="1300" b="0">
                <a:solidFill>
                  <a:srgbClr val="000000"/>
                </a:solidFill>
                <a:latin typeface="Consolas" panose="020B0609020204030204"/>
                <a:ea typeface="Consolas" panose="020B0609020204030204"/>
              </a:rPr>
              <a:t>    }</a:t>
            </a:r>
            <a:endParaRPr sz="1300" b="0">
              <a:solidFill>
                <a:srgbClr val="000000"/>
              </a:solidFill>
              <a:latin typeface="Consolas" panose="020B0609020204030204"/>
              <a:ea typeface="Consolas" panose="020B0609020204030204"/>
            </a:endParaRPr>
          </a:p>
          <a:p>
            <a:pPr>
              <a:lnSpc>
                <a:spcPts val="1200"/>
              </a:lnSpc>
            </a:pPr>
            <a:r>
              <a:rPr sz="1300" b="0">
                <a:solidFill>
                  <a:srgbClr val="000000"/>
                </a:solidFill>
                <a:latin typeface="Consolas" panose="020B0609020204030204"/>
                <a:ea typeface="Consolas" panose="020B0609020204030204"/>
              </a:rPr>
              <a:t>};</a:t>
            </a:r>
            <a:endParaRPr sz="1300" b="0">
              <a:solidFill>
                <a:srgbClr val="000000"/>
              </a:solidFill>
              <a:latin typeface="Consolas" panose="020B0609020204030204"/>
              <a:ea typeface="Consolas" panose="020B0609020204030204"/>
            </a:endParaRPr>
          </a:p>
        </p:txBody>
      </p:sp>
      <p:sp>
        <p:nvSpPr>
          <p:cNvPr id="8" name="Text Box 7"/>
          <p:cNvSpPr txBox="1"/>
          <p:nvPr/>
        </p:nvSpPr>
        <p:spPr>
          <a:xfrm>
            <a:off x="6483985" y="1776730"/>
            <a:ext cx="1771015" cy="389890"/>
          </a:xfrm>
          <a:prstGeom prst="rect">
            <a:avLst/>
          </a:prstGeom>
          <a:noFill/>
        </p:spPr>
        <p:txBody>
          <a:bodyPr wrap="square" rtlCol="0">
            <a:noAutofit/>
          </a:bodyPr>
          <a:p>
            <a:r>
              <a:rPr lang="en-US" b="1">
                <a:solidFill>
                  <a:srgbClr val="C00000"/>
                </a:solidFill>
                <a:latin typeface="Times New Roman" panose="02020603050405020304" pitchFamily="18" charset="0"/>
                <a:cs typeface="Times New Roman" panose="02020603050405020304" pitchFamily="18" charset="0"/>
              </a:rPr>
              <a:t>pizzaFactory.h</a:t>
            </a:r>
            <a:endParaRPr lang="en-US" b="1">
              <a:solidFill>
                <a:srgbClr val="C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a:latin typeface="Times New Roman" panose="02020603050405020304" pitchFamily="18" charset="0"/>
                <a:cs typeface="Times New Roman" panose="02020603050405020304" pitchFamily="18" charset="0"/>
                <a:sym typeface="+mn-ea"/>
              </a:rPr>
              <a:t>Example 3 - Pizza Store Ordering (Code)</a:t>
            </a:r>
            <a:endParaRPr lang="en-US"/>
          </a:p>
        </p:txBody>
      </p:sp>
      <p:sp>
        <p:nvSpPr>
          <p:cNvPr id="4" name="Text Box 3"/>
          <p:cNvSpPr txBox="1"/>
          <p:nvPr/>
        </p:nvSpPr>
        <p:spPr>
          <a:xfrm>
            <a:off x="1013460" y="1640840"/>
            <a:ext cx="8481060" cy="4707890"/>
          </a:xfrm>
          <a:prstGeom prst="rect">
            <a:avLst/>
          </a:prstGeom>
        </p:spPr>
        <p:txBody>
          <a:bodyPr wrap="square">
            <a:spAutoFit/>
          </a:bodyPr>
          <a:p>
            <a:pPr>
              <a:lnSpc>
                <a:spcPts val="1200"/>
              </a:lnSpc>
            </a:pPr>
            <a:r>
              <a:rPr sz="1400" b="0">
                <a:solidFill>
                  <a:srgbClr val="0000FF"/>
                </a:solidFill>
                <a:latin typeface="Consolas" panose="020B0609020204030204"/>
                <a:ea typeface="Consolas" panose="020B0609020204030204"/>
              </a:rPr>
              <a:t>#pragma </a:t>
            </a:r>
            <a:r>
              <a:rPr sz="1400" b="0">
                <a:solidFill>
                  <a:srgbClr val="E50000"/>
                </a:solidFill>
                <a:latin typeface="Consolas" panose="020B0609020204030204"/>
                <a:ea typeface="Consolas" panose="020B0609020204030204"/>
              </a:rPr>
              <a:t>once</a:t>
            </a:r>
            <a:endParaRPr sz="1400" b="0">
              <a:solidFill>
                <a:srgbClr val="E50000"/>
              </a:solidFill>
              <a:latin typeface="Consolas" panose="020B0609020204030204"/>
              <a:ea typeface="Consolas" panose="020B0609020204030204"/>
            </a:endParaRPr>
          </a:p>
          <a:p>
            <a:pPr>
              <a:lnSpc>
                <a:spcPts val="1200"/>
              </a:lnSpc>
            </a:pPr>
            <a:r>
              <a:rPr sz="1400" b="0">
                <a:solidFill>
                  <a:srgbClr val="0000FF"/>
                </a:solidFill>
                <a:latin typeface="Consolas" panose="020B0609020204030204"/>
                <a:ea typeface="Consolas" panose="020B0609020204030204"/>
              </a:rPr>
              <a:t>#include </a:t>
            </a:r>
            <a:r>
              <a:rPr sz="1400" b="0">
                <a:solidFill>
                  <a:srgbClr val="A31515"/>
                </a:solidFill>
                <a:latin typeface="Consolas" panose="020B0609020204030204"/>
                <a:ea typeface="Consolas" panose="020B0609020204030204"/>
              </a:rPr>
              <a:t>"pizza.h"</a:t>
            </a:r>
            <a:endParaRPr sz="1400" b="0">
              <a:solidFill>
                <a:srgbClr val="A31515"/>
              </a:solidFill>
              <a:latin typeface="Consolas" panose="020B0609020204030204"/>
              <a:ea typeface="Consolas" panose="020B0609020204030204"/>
            </a:endParaRPr>
          </a:p>
          <a:p>
            <a:pPr>
              <a:lnSpc>
                <a:spcPts val="1200"/>
              </a:lnSpc>
            </a:pPr>
            <a:r>
              <a:rPr sz="1400" b="0">
                <a:solidFill>
                  <a:srgbClr val="0000FF"/>
                </a:solidFill>
                <a:latin typeface="Consolas" panose="020B0609020204030204"/>
                <a:ea typeface="Consolas" panose="020B0609020204030204"/>
              </a:rPr>
              <a:t>#include </a:t>
            </a:r>
            <a:r>
              <a:rPr sz="1400" b="0">
                <a:solidFill>
                  <a:srgbClr val="A31515"/>
                </a:solidFill>
                <a:latin typeface="Consolas" panose="020B0609020204030204"/>
                <a:ea typeface="Consolas" panose="020B0609020204030204"/>
              </a:rPr>
              <a:t>"pizzaFactory.h"</a:t>
            </a:r>
            <a:endParaRPr sz="1400" b="0">
              <a:solidFill>
                <a:srgbClr val="A31515"/>
              </a:solidFill>
              <a:latin typeface="Consolas" panose="020B0609020204030204"/>
              <a:ea typeface="Consolas" panose="020B0609020204030204"/>
            </a:endParaRPr>
          </a:p>
          <a:p>
            <a:pPr>
              <a:lnSpc>
                <a:spcPts val="1200"/>
              </a:lnSpc>
            </a:pPr>
            <a:r>
              <a:rPr sz="1400" b="0">
                <a:solidFill>
                  <a:srgbClr val="0000FF"/>
                </a:solidFill>
                <a:latin typeface="Consolas" panose="020B0609020204030204"/>
                <a:ea typeface="Consolas" panose="020B0609020204030204"/>
              </a:rPr>
              <a:t>#include </a:t>
            </a:r>
            <a:r>
              <a:rPr sz="1400" b="0">
                <a:solidFill>
                  <a:srgbClr val="A31515"/>
                </a:solidFill>
                <a:latin typeface="Consolas" panose="020B0609020204030204"/>
                <a:ea typeface="Consolas" panose="020B0609020204030204"/>
              </a:rPr>
              <a:t>&lt;unordered_map&gt;</a:t>
            </a:r>
            <a:endParaRPr sz="1400" b="0">
              <a:solidFill>
                <a:srgbClr val="A31515"/>
              </a:solidFill>
              <a:latin typeface="Consolas" panose="020B0609020204030204"/>
              <a:ea typeface="Consolas" panose="020B0609020204030204"/>
            </a:endParaRPr>
          </a:p>
          <a:p>
            <a:pPr>
              <a:lnSpc>
                <a:spcPts val="1200"/>
              </a:lnSpc>
            </a:pPr>
            <a:endParaRPr sz="1400" b="0">
              <a:solidFill>
                <a:srgbClr val="A31515"/>
              </a:solidFill>
              <a:latin typeface="Consolas" panose="020B0609020204030204"/>
              <a:ea typeface="Consolas" panose="020B0609020204030204"/>
            </a:endParaRPr>
          </a:p>
          <a:p>
            <a:pPr>
              <a:lnSpc>
                <a:spcPts val="1200"/>
              </a:lnSpc>
            </a:pPr>
            <a:r>
              <a:rPr sz="1400" b="0">
                <a:solidFill>
                  <a:srgbClr val="0000FF"/>
                </a:solidFill>
                <a:latin typeface="Consolas" panose="020B0609020204030204"/>
                <a:ea typeface="Consolas" panose="020B0609020204030204"/>
              </a:rPr>
              <a:t>class</a:t>
            </a:r>
            <a:r>
              <a:rPr sz="1400" b="0">
                <a:solidFill>
                  <a:srgbClr val="000000"/>
                </a:solidFill>
                <a:latin typeface="Consolas" panose="020B0609020204030204"/>
                <a:ea typeface="Consolas" panose="020B0609020204030204"/>
              </a:rPr>
              <a:t> PizzaFactoryRegistry</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a:t>
            </a:r>
            <a:endParaRPr sz="1400" b="0">
              <a:solidFill>
                <a:srgbClr val="000000"/>
              </a:solidFill>
              <a:latin typeface="Consolas" panose="020B0609020204030204"/>
              <a:ea typeface="Consolas" panose="020B0609020204030204"/>
            </a:endParaRPr>
          </a:p>
          <a:p>
            <a:pPr>
              <a:lnSpc>
                <a:spcPts val="1200"/>
              </a:lnSpc>
            </a:pPr>
            <a:r>
              <a:rPr sz="1400" b="0">
                <a:solidFill>
                  <a:srgbClr val="0000FF"/>
                </a:solidFill>
                <a:latin typeface="Consolas" panose="020B0609020204030204"/>
                <a:ea typeface="Consolas" panose="020B0609020204030204"/>
              </a:rPr>
              <a:t>public:</a:t>
            </a:r>
            <a:endParaRPr sz="1400" b="0">
              <a:solidFill>
                <a:srgbClr val="0000FF"/>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a:t>
            </a:r>
            <a:r>
              <a:rPr sz="1400" b="0">
                <a:solidFill>
                  <a:srgbClr val="0000FF"/>
                </a:solidFill>
                <a:latin typeface="Consolas" panose="020B0609020204030204"/>
                <a:ea typeface="Consolas" panose="020B0609020204030204"/>
              </a:rPr>
              <a:t>static</a:t>
            </a:r>
            <a:r>
              <a:rPr sz="1400" b="0">
                <a:solidFill>
                  <a:srgbClr val="000000"/>
                </a:solidFill>
                <a:latin typeface="Consolas" panose="020B0609020204030204"/>
                <a:ea typeface="Consolas" panose="020B0609020204030204"/>
              </a:rPr>
              <a:t> PizzaFactoryRegistry </a:t>
            </a:r>
            <a:r>
              <a:rPr sz="1400" b="0">
                <a:solidFill>
                  <a:srgbClr val="0000FF"/>
                </a:solidFill>
                <a:latin typeface="Consolas" panose="020B0609020204030204"/>
                <a:ea typeface="Consolas" panose="020B0609020204030204"/>
              </a:rPr>
              <a:t>&amp;</a:t>
            </a:r>
            <a:r>
              <a:rPr sz="1400" b="0">
                <a:solidFill>
                  <a:srgbClr val="000000"/>
                </a:solidFill>
                <a:latin typeface="Consolas" panose="020B0609020204030204"/>
                <a:ea typeface="Consolas" panose="020B0609020204030204"/>
              </a:rPr>
              <a:t>getInstance()</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a:t>
            </a:r>
            <a:r>
              <a:rPr sz="1400" b="0">
                <a:solidFill>
                  <a:srgbClr val="0000FF"/>
                </a:solidFill>
                <a:latin typeface="Consolas" panose="020B0609020204030204"/>
                <a:ea typeface="Consolas" panose="020B0609020204030204"/>
              </a:rPr>
              <a:t>static</a:t>
            </a:r>
            <a:r>
              <a:rPr sz="1400" b="0">
                <a:solidFill>
                  <a:srgbClr val="000000"/>
                </a:solidFill>
                <a:latin typeface="Consolas" panose="020B0609020204030204"/>
                <a:ea typeface="Consolas" panose="020B0609020204030204"/>
              </a:rPr>
              <a:t> PizzaFactoryRegistry instance;</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a:t>
            </a:r>
            <a:r>
              <a:rPr sz="1400" b="0">
                <a:solidFill>
                  <a:srgbClr val="0000FF"/>
                </a:solidFill>
                <a:latin typeface="Consolas" panose="020B0609020204030204"/>
                <a:ea typeface="Consolas" panose="020B0609020204030204"/>
              </a:rPr>
              <a:t>return</a:t>
            </a:r>
            <a:r>
              <a:rPr sz="1400" b="0">
                <a:solidFill>
                  <a:srgbClr val="000000"/>
                </a:solidFill>
                <a:latin typeface="Consolas" panose="020B0609020204030204"/>
                <a:ea typeface="Consolas" panose="020B0609020204030204"/>
              </a:rPr>
              <a:t> instance;</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a:t>
            </a:r>
            <a:r>
              <a:rPr sz="1400" b="0">
                <a:solidFill>
                  <a:srgbClr val="0000FF"/>
                </a:solidFill>
                <a:latin typeface="Consolas" panose="020B0609020204030204"/>
                <a:ea typeface="Consolas" panose="020B0609020204030204"/>
              </a:rPr>
              <a:t>void</a:t>
            </a:r>
            <a:r>
              <a:rPr sz="1400" b="0">
                <a:solidFill>
                  <a:srgbClr val="000000"/>
                </a:solidFill>
                <a:latin typeface="Consolas" panose="020B0609020204030204"/>
                <a:ea typeface="Consolas" panose="020B0609020204030204"/>
              </a:rPr>
              <a:t> registerFactory(</a:t>
            </a:r>
            <a:r>
              <a:rPr sz="1400" b="0">
                <a:solidFill>
                  <a:srgbClr val="0000FF"/>
                </a:solidFill>
                <a:latin typeface="Consolas" panose="020B0609020204030204"/>
                <a:ea typeface="Consolas" panose="020B0609020204030204"/>
              </a:rPr>
              <a:t>const</a:t>
            </a:r>
            <a:r>
              <a:rPr sz="1400" b="0">
                <a:solidFill>
                  <a:srgbClr val="000000"/>
                </a:solidFill>
                <a:latin typeface="Consolas" panose="020B0609020204030204"/>
                <a:ea typeface="Consolas" panose="020B0609020204030204"/>
              </a:rPr>
              <a:t> string </a:t>
            </a:r>
            <a:r>
              <a:rPr sz="1400" b="0">
                <a:solidFill>
                  <a:srgbClr val="0000FF"/>
                </a:solidFill>
                <a:latin typeface="Consolas" panose="020B0609020204030204"/>
                <a:ea typeface="Consolas" panose="020B0609020204030204"/>
              </a:rPr>
              <a:t>&amp;</a:t>
            </a:r>
            <a:r>
              <a:rPr sz="1400" b="0">
                <a:solidFill>
                  <a:srgbClr val="000000"/>
                </a:solidFill>
                <a:latin typeface="Consolas" panose="020B0609020204030204"/>
                <a:ea typeface="Consolas" panose="020B0609020204030204"/>
              </a:rPr>
              <a:t>name, PizzaFactory </a:t>
            </a:r>
            <a:r>
              <a:rPr sz="1400" b="0">
                <a:solidFill>
                  <a:srgbClr val="0000FF"/>
                </a:solidFill>
                <a:latin typeface="Consolas" panose="020B0609020204030204"/>
                <a:ea typeface="Consolas" panose="020B0609020204030204"/>
              </a:rPr>
              <a:t>*</a:t>
            </a:r>
            <a:r>
              <a:rPr sz="1400" b="0">
                <a:solidFill>
                  <a:srgbClr val="000000"/>
                </a:solidFill>
                <a:latin typeface="Consolas" panose="020B0609020204030204"/>
                <a:ea typeface="Consolas" panose="020B0609020204030204"/>
              </a:rPr>
              <a:t>factory)</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factories[name] = factory;</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PizzaFactory </a:t>
            </a:r>
            <a:r>
              <a:rPr sz="1400" b="0">
                <a:solidFill>
                  <a:srgbClr val="0000FF"/>
                </a:solidFill>
                <a:latin typeface="Consolas" panose="020B0609020204030204"/>
                <a:ea typeface="Consolas" panose="020B0609020204030204"/>
              </a:rPr>
              <a:t>*</a:t>
            </a:r>
            <a:r>
              <a:rPr sz="1400" b="0">
                <a:solidFill>
                  <a:srgbClr val="000000"/>
                </a:solidFill>
                <a:latin typeface="Consolas" panose="020B0609020204030204"/>
                <a:ea typeface="Consolas" panose="020B0609020204030204"/>
              </a:rPr>
              <a:t>getFactory(</a:t>
            </a:r>
            <a:r>
              <a:rPr sz="1400" b="0">
                <a:solidFill>
                  <a:srgbClr val="0000FF"/>
                </a:solidFill>
                <a:latin typeface="Consolas" panose="020B0609020204030204"/>
                <a:ea typeface="Consolas" panose="020B0609020204030204"/>
              </a:rPr>
              <a:t>const</a:t>
            </a:r>
            <a:r>
              <a:rPr sz="1400" b="0">
                <a:solidFill>
                  <a:srgbClr val="000000"/>
                </a:solidFill>
                <a:latin typeface="Consolas" panose="020B0609020204030204"/>
                <a:ea typeface="Consolas" panose="020B0609020204030204"/>
              </a:rPr>
              <a:t> string </a:t>
            </a:r>
            <a:r>
              <a:rPr sz="1400" b="0">
                <a:solidFill>
                  <a:srgbClr val="0000FF"/>
                </a:solidFill>
                <a:latin typeface="Consolas" panose="020B0609020204030204"/>
                <a:ea typeface="Consolas" panose="020B0609020204030204"/>
              </a:rPr>
              <a:t>&amp;</a:t>
            </a:r>
            <a:r>
              <a:rPr sz="1400" b="0">
                <a:solidFill>
                  <a:srgbClr val="000000"/>
                </a:solidFill>
                <a:latin typeface="Consolas" panose="020B0609020204030204"/>
                <a:ea typeface="Consolas" panose="020B0609020204030204"/>
              </a:rPr>
              <a:t>name)</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a:t>
            </a:r>
            <a:r>
              <a:rPr sz="1400" b="0">
                <a:solidFill>
                  <a:srgbClr val="0000FF"/>
                </a:solidFill>
                <a:latin typeface="Consolas" panose="020B0609020204030204"/>
                <a:ea typeface="Consolas" panose="020B0609020204030204"/>
              </a:rPr>
              <a:t>auto</a:t>
            </a:r>
            <a:r>
              <a:rPr sz="1400" b="0">
                <a:solidFill>
                  <a:srgbClr val="000000"/>
                </a:solidFill>
                <a:latin typeface="Consolas" panose="020B0609020204030204"/>
                <a:ea typeface="Consolas" panose="020B0609020204030204"/>
              </a:rPr>
              <a:t> it = factories.find(name);</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a:t>
            </a:r>
            <a:r>
              <a:rPr sz="1400" b="0">
                <a:solidFill>
                  <a:srgbClr val="0000FF"/>
                </a:solidFill>
                <a:latin typeface="Consolas" panose="020B0609020204030204"/>
                <a:ea typeface="Consolas" panose="020B0609020204030204"/>
              </a:rPr>
              <a:t>if</a:t>
            </a:r>
            <a:r>
              <a:rPr sz="1400" b="0">
                <a:solidFill>
                  <a:srgbClr val="000000"/>
                </a:solidFill>
                <a:latin typeface="Consolas" panose="020B0609020204030204"/>
                <a:ea typeface="Consolas" panose="020B0609020204030204"/>
              </a:rPr>
              <a:t> (it != factories.end())</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a:t>
            </a:r>
            <a:r>
              <a:rPr sz="1400" b="0">
                <a:solidFill>
                  <a:srgbClr val="0000FF"/>
                </a:solidFill>
                <a:latin typeface="Consolas" panose="020B0609020204030204"/>
                <a:ea typeface="Consolas" panose="020B0609020204030204"/>
              </a:rPr>
              <a:t>return</a:t>
            </a:r>
            <a:r>
              <a:rPr sz="1400" b="0">
                <a:solidFill>
                  <a:srgbClr val="000000"/>
                </a:solidFill>
                <a:latin typeface="Consolas" panose="020B0609020204030204"/>
                <a:ea typeface="Consolas" panose="020B0609020204030204"/>
              </a:rPr>
              <a:t> it-&gt;second;</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a:t>
            </a:r>
            <a:r>
              <a:rPr sz="1400" b="0">
                <a:solidFill>
                  <a:srgbClr val="0000FF"/>
                </a:solidFill>
                <a:latin typeface="Consolas" panose="020B0609020204030204"/>
                <a:ea typeface="Consolas" panose="020B0609020204030204"/>
              </a:rPr>
              <a:t>returnnullptr</a:t>
            </a:r>
            <a:r>
              <a:rPr sz="1400" b="0">
                <a:solidFill>
                  <a:srgbClr val="000000"/>
                </a:solidFill>
                <a:latin typeface="Consolas" panose="020B0609020204030204"/>
                <a:ea typeface="Consolas" panose="020B0609020204030204"/>
              </a:rPr>
              <a:t>;</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a:t>
            </a:r>
            <a:endParaRPr sz="1400" b="0">
              <a:solidFill>
                <a:srgbClr val="000000"/>
              </a:solidFill>
              <a:latin typeface="Consolas" panose="020B0609020204030204"/>
              <a:ea typeface="Consolas" panose="020B0609020204030204"/>
            </a:endParaRPr>
          </a:p>
          <a:p>
            <a:pPr>
              <a:lnSpc>
                <a:spcPts val="1200"/>
              </a:lnSpc>
            </a:pPr>
            <a:r>
              <a:rPr sz="1400" b="0">
                <a:solidFill>
                  <a:srgbClr val="0000FF"/>
                </a:solidFill>
                <a:latin typeface="Consolas" panose="020B0609020204030204"/>
                <a:ea typeface="Consolas" panose="020B0609020204030204"/>
              </a:rPr>
              <a:t>private:</a:t>
            </a:r>
            <a:endParaRPr sz="1400" b="0">
              <a:solidFill>
                <a:srgbClr val="0000FF"/>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PizzaFactoryRegistry() = </a:t>
            </a:r>
            <a:r>
              <a:rPr sz="1400" b="0">
                <a:solidFill>
                  <a:srgbClr val="0000FF"/>
                </a:solidFill>
                <a:latin typeface="Consolas" panose="020B0609020204030204"/>
                <a:ea typeface="Consolas" panose="020B0609020204030204"/>
              </a:rPr>
              <a:t>default</a:t>
            </a:r>
            <a:r>
              <a:rPr sz="1400" b="0">
                <a:solidFill>
                  <a:srgbClr val="000000"/>
                </a:solidFill>
                <a:latin typeface="Consolas" panose="020B0609020204030204"/>
                <a:ea typeface="Consolas" panose="020B0609020204030204"/>
              </a:rPr>
              <a:t>;</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unordered_map&lt;string, PizzaFactory *&gt; factories;</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a:t>
            </a:r>
            <a:endParaRPr sz="1400" b="0">
              <a:solidFill>
                <a:srgbClr val="000000"/>
              </a:solidFill>
              <a:latin typeface="Consolas" panose="020B0609020204030204"/>
              <a:ea typeface="Consolas" panose="020B0609020204030204"/>
            </a:endParaRPr>
          </a:p>
        </p:txBody>
      </p:sp>
      <p:sp>
        <p:nvSpPr>
          <p:cNvPr id="8" name="Text Box 7"/>
          <p:cNvSpPr txBox="1"/>
          <p:nvPr/>
        </p:nvSpPr>
        <p:spPr>
          <a:xfrm>
            <a:off x="5965825" y="1989455"/>
            <a:ext cx="2658110" cy="389890"/>
          </a:xfrm>
          <a:prstGeom prst="rect">
            <a:avLst/>
          </a:prstGeom>
          <a:noFill/>
        </p:spPr>
        <p:txBody>
          <a:bodyPr wrap="square" rtlCol="0">
            <a:noAutofit/>
          </a:bodyPr>
          <a:p>
            <a:r>
              <a:rPr lang="en-US" b="1">
                <a:solidFill>
                  <a:srgbClr val="C00000"/>
                </a:solidFill>
                <a:latin typeface="Times New Roman" panose="02020603050405020304" pitchFamily="18" charset="0"/>
                <a:cs typeface="Times New Roman" panose="02020603050405020304" pitchFamily="18" charset="0"/>
              </a:rPr>
              <a:t>pizzaFactoryRegistry.h</a:t>
            </a:r>
            <a:endParaRPr lang="en-US" b="1">
              <a:solidFill>
                <a:srgbClr val="C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a:latin typeface="Times New Roman" panose="02020603050405020304" pitchFamily="18" charset="0"/>
                <a:cs typeface="Times New Roman" panose="02020603050405020304" pitchFamily="18" charset="0"/>
                <a:sym typeface="+mn-ea"/>
              </a:rPr>
              <a:t>Example 3 - Pizza Store Ordering (Code)</a:t>
            </a:r>
            <a:endParaRPr lang="en-US"/>
          </a:p>
        </p:txBody>
      </p:sp>
      <p:sp>
        <p:nvSpPr>
          <p:cNvPr id="4" name="Text Box 3"/>
          <p:cNvSpPr txBox="1"/>
          <p:nvPr/>
        </p:nvSpPr>
        <p:spPr>
          <a:xfrm>
            <a:off x="1241425" y="1592580"/>
            <a:ext cx="7927975" cy="5169535"/>
          </a:xfrm>
          <a:prstGeom prst="rect">
            <a:avLst/>
          </a:prstGeom>
        </p:spPr>
        <p:txBody>
          <a:bodyPr wrap="square">
            <a:spAutoFit/>
          </a:bodyPr>
          <a:p>
            <a:pPr>
              <a:lnSpc>
                <a:spcPts val="1200"/>
              </a:lnSpc>
            </a:pPr>
            <a:r>
              <a:rPr sz="1400" b="0">
                <a:solidFill>
                  <a:srgbClr val="0000FF"/>
                </a:solidFill>
                <a:latin typeface="Consolas" panose="020B0609020204030204"/>
                <a:ea typeface="Consolas" panose="020B0609020204030204"/>
              </a:rPr>
              <a:t>#pragma </a:t>
            </a:r>
            <a:r>
              <a:rPr sz="1400" b="0">
                <a:solidFill>
                  <a:srgbClr val="E50000"/>
                </a:solidFill>
                <a:latin typeface="Consolas" panose="020B0609020204030204"/>
                <a:ea typeface="Consolas" panose="020B0609020204030204"/>
              </a:rPr>
              <a:t>once</a:t>
            </a:r>
            <a:endParaRPr sz="1400" b="0">
              <a:solidFill>
                <a:srgbClr val="E50000"/>
              </a:solidFill>
              <a:latin typeface="Consolas" panose="020B0609020204030204"/>
              <a:ea typeface="Consolas" panose="020B0609020204030204"/>
            </a:endParaRPr>
          </a:p>
          <a:p>
            <a:pPr>
              <a:lnSpc>
                <a:spcPts val="1200"/>
              </a:lnSpc>
            </a:pPr>
            <a:r>
              <a:rPr sz="1400" b="0">
                <a:solidFill>
                  <a:srgbClr val="0000FF"/>
                </a:solidFill>
                <a:latin typeface="Consolas" panose="020B0609020204030204"/>
                <a:ea typeface="Consolas" panose="020B0609020204030204"/>
              </a:rPr>
              <a:t>#include </a:t>
            </a:r>
            <a:r>
              <a:rPr sz="1400" b="0">
                <a:solidFill>
                  <a:srgbClr val="A31515"/>
                </a:solidFill>
                <a:latin typeface="Consolas" panose="020B0609020204030204"/>
                <a:ea typeface="Consolas" panose="020B0609020204030204"/>
              </a:rPr>
              <a:t>"pizzaFactoryRegistry.h"</a:t>
            </a:r>
            <a:endParaRPr sz="1400" b="0">
              <a:solidFill>
                <a:srgbClr val="A31515"/>
              </a:solidFill>
              <a:latin typeface="Consolas" panose="020B0609020204030204"/>
              <a:ea typeface="Consolas" panose="020B0609020204030204"/>
            </a:endParaRPr>
          </a:p>
          <a:p>
            <a:pPr>
              <a:lnSpc>
                <a:spcPts val="1200"/>
              </a:lnSpc>
            </a:pPr>
            <a:r>
              <a:rPr sz="1400" b="0">
                <a:solidFill>
                  <a:srgbClr val="0000FF"/>
                </a:solidFill>
                <a:latin typeface="Consolas" panose="020B0609020204030204"/>
                <a:ea typeface="Consolas" panose="020B0609020204030204"/>
              </a:rPr>
              <a:t>#include </a:t>
            </a:r>
            <a:r>
              <a:rPr sz="1400" b="0">
                <a:solidFill>
                  <a:srgbClr val="A31515"/>
                </a:solidFill>
                <a:latin typeface="Consolas" panose="020B0609020204030204"/>
                <a:ea typeface="Consolas" panose="020B0609020204030204"/>
              </a:rPr>
              <a:t>"pizzaFactory.h"</a:t>
            </a:r>
            <a:endParaRPr sz="1400" b="0">
              <a:solidFill>
                <a:srgbClr val="A31515"/>
              </a:solidFill>
              <a:latin typeface="Consolas" panose="020B0609020204030204"/>
              <a:ea typeface="Consolas" panose="020B0609020204030204"/>
            </a:endParaRPr>
          </a:p>
          <a:p>
            <a:pPr>
              <a:lnSpc>
                <a:spcPts val="1200"/>
              </a:lnSpc>
            </a:pPr>
            <a:r>
              <a:rPr sz="1400" b="0">
                <a:solidFill>
                  <a:srgbClr val="0000FF"/>
                </a:solidFill>
                <a:latin typeface="Consolas" panose="020B0609020204030204"/>
                <a:ea typeface="Consolas" panose="020B0609020204030204"/>
              </a:rPr>
              <a:t>#include </a:t>
            </a:r>
            <a:r>
              <a:rPr sz="1400" b="0">
                <a:solidFill>
                  <a:srgbClr val="A31515"/>
                </a:solidFill>
                <a:latin typeface="Consolas" panose="020B0609020204030204"/>
                <a:ea typeface="Consolas" panose="020B0609020204030204"/>
              </a:rPr>
              <a:t>"cheesePizza.h"</a:t>
            </a:r>
            <a:endParaRPr sz="1400" b="0">
              <a:solidFill>
                <a:srgbClr val="A31515"/>
              </a:solidFill>
              <a:latin typeface="Consolas" panose="020B0609020204030204"/>
              <a:ea typeface="Consolas" panose="020B0609020204030204"/>
            </a:endParaRPr>
          </a:p>
          <a:p>
            <a:pPr>
              <a:lnSpc>
                <a:spcPts val="1200"/>
              </a:lnSpc>
            </a:pPr>
            <a:r>
              <a:rPr sz="1400" b="0">
                <a:solidFill>
                  <a:srgbClr val="0000FF"/>
                </a:solidFill>
                <a:latin typeface="Consolas" panose="020B0609020204030204"/>
                <a:ea typeface="Consolas" panose="020B0609020204030204"/>
              </a:rPr>
              <a:t>#include </a:t>
            </a:r>
            <a:r>
              <a:rPr sz="1400" b="0">
                <a:solidFill>
                  <a:srgbClr val="A31515"/>
                </a:solidFill>
                <a:latin typeface="Consolas" panose="020B0609020204030204"/>
                <a:ea typeface="Consolas" panose="020B0609020204030204"/>
              </a:rPr>
              <a:t>"clamsPizza.h"</a:t>
            </a:r>
            <a:endParaRPr sz="1400" b="0">
              <a:solidFill>
                <a:srgbClr val="A31515"/>
              </a:solidFill>
              <a:latin typeface="Consolas" panose="020B0609020204030204"/>
              <a:ea typeface="Consolas" panose="020B0609020204030204"/>
            </a:endParaRPr>
          </a:p>
          <a:p>
            <a:pPr>
              <a:lnSpc>
                <a:spcPts val="1200"/>
              </a:lnSpc>
            </a:pPr>
            <a:r>
              <a:rPr sz="1400" b="0">
                <a:solidFill>
                  <a:srgbClr val="0000FF"/>
                </a:solidFill>
                <a:latin typeface="Consolas" panose="020B0609020204030204"/>
                <a:ea typeface="Consolas" panose="020B0609020204030204"/>
              </a:rPr>
              <a:t>#include </a:t>
            </a:r>
            <a:r>
              <a:rPr sz="1400" b="0">
                <a:solidFill>
                  <a:srgbClr val="A31515"/>
                </a:solidFill>
                <a:latin typeface="Consolas" panose="020B0609020204030204"/>
                <a:ea typeface="Consolas" panose="020B0609020204030204"/>
              </a:rPr>
              <a:t>"veggiePizza.h"</a:t>
            </a:r>
            <a:endParaRPr sz="1400" b="0">
              <a:solidFill>
                <a:srgbClr val="A31515"/>
              </a:solidFill>
              <a:latin typeface="Consolas" panose="020B0609020204030204"/>
              <a:ea typeface="Consolas" panose="020B0609020204030204"/>
            </a:endParaRPr>
          </a:p>
          <a:p>
            <a:pPr>
              <a:lnSpc>
                <a:spcPts val="1200"/>
              </a:lnSpc>
            </a:pPr>
            <a:endParaRPr sz="1400" b="0">
              <a:solidFill>
                <a:srgbClr val="A31515"/>
              </a:solidFill>
              <a:latin typeface="Consolas" panose="020B0609020204030204"/>
              <a:ea typeface="Consolas" panose="020B0609020204030204"/>
            </a:endParaRPr>
          </a:p>
          <a:p>
            <a:pPr>
              <a:lnSpc>
                <a:spcPts val="1200"/>
              </a:lnSpc>
            </a:pPr>
            <a:r>
              <a:rPr sz="1400" b="0">
                <a:solidFill>
                  <a:srgbClr val="0000FF"/>
                </a:solidFill>
                <a:latin typeface="Consolas" panose="020B0609020204030204"/>
                <a:ea typeface="Consolas" panose="020B0609020204030204"/>
              </a:rPr>
              <a:t>class</a:t>
            </a:r>
            <a:r>
              <a:rPr sz="1400" b="0">
                <a:solidFill>
                  <a:srgbClr val="000000"/>
                </a:solidFill>
                <a:latin typeface="Consolas" panose="020B0609020204030204"/>
                <a:ea typeface="Consolas" panose="020B0609020204030204"/>
              </a:rPr>
              <a:t> PizzaStore</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a:t>
            </a:r>
            <a:endParaRPr sz="1400" b="0">
              <a:solidFill>
                <a:srgbClr val="000000"/>
              </a:solidFill>
              <a:latin typeface="Consolas" panose="020B0609020204030204"/>
              <a:ea typeface="Consolas" panose="020B0609020204030204"/>
            </a:endParaRPr>
          </a:p>
          <a:p>
            <a:pPr>
              <a:lnSpc>
                <a:spcPts val="1200"/>
              </a:lnSpc>
            </a:pPr>
            <a:r>
              <a:rPr sz="1400" b="0">
                <a:solidFill>
                  <a:srgbClr val="0000FF"/>
                </a:solidFill>
                <a:latin typeface="Consolas" panose="020B0609020204030204"/>
                <a:ea typeface="Consolas" panose="020B0609020204030204"/>
              </a:rPr>
              <a:t>public:</a:t>
            </a:r>
            <a:endParaRPr sz="1400" b="0">
              <a:solidFill>
                <a:srgbClr val="0000FF"/>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PizzaStore(PizzaFactory </a:t>
            </a:r>
            <a:r>
              <a:rPr sz="1400" b="0">
                <a:solidFill>
                  <a:srgbClr val="0000FF"/>
                </a:solidFill>
                <a:latin typeface="Consolas" panose="020B0609020204030204"/>
                <a:ea typeface="Consolas" panose="020B0609020204030204"/>
              </a:rPr>
              <a:t>*</a:t>
            </a:r>
            <a:r>
              <a:rPr sz="1400" b="0">
                <a:solidFill>
                  <a:srgbClr val="000000"/>
                </a:solidFill>
                <a:latin typeface="Consolas" panose="020B0609020204030204"/>
                <a:ea typeface="Consolas" panose="020B0609020204030204"/>
              </a:rPr>
              <a:t>f) : factory(f)</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a:t>
            </a:r>
            <a:endParaRPr sz="1400" b="0">
              <a:solidFill>
                <a:srgbClr val="000000"/>
              </a:solidFill>
              <a:latin typeface="Consolas" panose="020B0609020204030204"/>
              <a:ea typeface="Consolas" panose="020B0609020204030204"/>
            </a:endParaRPr>
          </a:p>
          <a:p>
            <a:pPr>
              <a:lnSpc>
                <a:spcPts val="1200"/>
              </a:lnSpc>
            </a:pPr>
            <a:r>
              <a:rPr sz="1400" b="0">
                <a:solidFill>
                  <a:srgbClr val="008000"/>
                </a:solidFill>
                <a:latin typeface="Consolas" panose="020B0609020204030204"/>
                <a:ea typeface="Consolas" panose="020B0609020204030204"/>
              </a:rPr>
              <a:t>        // Get singleton instance of Factory Registry</a:t>
            </a:r>
            <a:endParaRPr sz="1400" b="0">
              <a:solidFill>
                <a:srgbClr val="008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PizzaFactoryRegistry &amp;registry = PizzaFactoryRegistry::getInstance();</a:t>
            </a:r>
            <a:endParaRPr sz="1400" b="0">
              <a:solidFill>
                <a:srgbClr val="000000"/>
              </a:solidFill>
              <a:latin typeface="Consolas" panose="020B0609020204030204"/>
              <a:ea typeface="Consolas" panose="020B0609020204030204"/>
            </a:endParaRPr>
          </a:p>
          <a:p>
            <a:pPr>
              <a:lnSpc>
                <a:spcPts val="1200"/>
              </a:lnSpc>
            </a:pPr>
            <a:endParaRPr sz="1400" b="0">
              <a:solidFill>
                <a:srgbClr val="000000"/>
              </a:solidFill>
              <a:latin typeface="Consolas" panose="020B0609020204030204"/>
              <a:ea typeface="Consolas" panose="020B0609020204030204"/>
            </a:endParaRPr>
          </a:p>
          <a:p>
            <a:pPr>
              <a:lnSpc>
                <a:spcPts val="1200"/>
              </a:lnSpc>
            </a:pPr>
            <a:r>
              <a:rPr sz="1400" b="0">
                <a:solidFill>
                  <a:srgbClr val="008000"/>
                </a:solidFill>
                <a:latin typeface="Consolas" panose="020B0609020204030204"/>
                <a:ea typeface="Consolas" panose="020B0609020204030204"/>
              </a:rPr>
              <a:t>        // Register Concrete Factories</a:t>
            </a:r>
            <a:endParaRPr sz="1400" b="0">
              <a:solidFill>
                <a:srgbClr val="008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registry.registerFactory(</a:t>
            </a:r>
            <a:r>
              <a:rPr sz="1400" b="0">
                <a:solidFill>
                  <a:srgbClr val="A31515"/>
                </a:solidFill>
                <a:latin typeface="Consolas" panose="020B0609020204030204"/>
                <a:ea typeface="Consolas" panose="020B0609020204030204"/>
              </a:rPr>
              <a:t>"CheesePizza"</a:t>
            </a:r>
            <a:r>
              <a:rPr sz="1400" b="0">
                <a:solidFill>
                  <a:srgbClr val="000000"/>
                </a:solidFill>
                <a:latin typeface="Consolas" panose="020B0609020204030204"/>
                <a:ea typeface="Consolas" panose="020B0609020204030204"/>
              </a:rPr>
              <a:t>, </a:t>
            </a:r>
            <a:r>
              <a:rPr sz="1400" b="0">
                <a:solidFill>
                  <a:srgbClr val="0000FF"/>
                </a:solidFill>
                <a:latin typeface="Consolas" panose="020B0609020204030204"/>
                <a:ea typeface="Consolas" panose="020B0609020204030204"/>
              </a:rPr>
              <a:t>new</a:t>
            </a:r>
            <a:r>
              <a:rPr sz="1400" b="0">
                <a:solidFill>
                  <a:srgbClr val="000000"/>
                </a:solidFill>
                <a:latin typeface="Consolas" panose="020B0609020204030204"/>
                <a:ea typeface="Consolas" panose="020B0609020204030204"/>
              </a:rPr>
              <a:t> CheesePizzaFactory());</a:t>
            </a:r>
            <a:endParaRPr sz="1400" b="0">
              <a:solidFill>
                <a:srgbClr val="008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registry.registerFactory(</a:t>
            </a:r>
            <a:r>
              <a:rPr sz="1400" b="0">
                <a:solidFill>
                  <a:srgbClr val="A31515"/>
                </a:solidFill>
                <a:latin typeface="Consolas" panose="020B0609020204030204"/>
                <a:ea typeface="Consolas" panose="020B0609020204030204"/>
              </a:rPr>
              <a:t>"ClamsPizza"</a:t>
            </a:r>
            <a:r>
              <a:rPr sz="1400" b="0">
                <a:solidFill>
                  <a:srgbClr val="000000"/>
                </a:solidFill>
                <a:latin typeface="Consolas" panose="020B0609020204030204"/>
                <a:ea typeface="Consolas" panose="020B0609020204030204"/>
              </a:rPr>
              <a:t>, </a:t>
            </a:r>
            <a:r>
              <a:rPr sz="1400" b="0">
                <a:solidFill>
                  <a:srgbClr val="0000FF"/>
                </a:solidFill>
                <a:latin typeface="Consolas" panose="020B0609020204030204"/>
                <a:ea typeface="Consolas" panose="020B0609020204030204"/>
              </a:rPr>
              <a:t>new</a:t>
            </a:r>
            <a:r>
              <a:rPr sz="1400" b="0">
                <a:solidFill>
                  <a:srgbClr val="000000"/>
                </a:solidFill>
                <a:latin typeface="Consolas" panose="020B0609020204030204"/>
                <a:ea typeface="Consolas" panose="020B0609020204030204"/>
              </a:rPr>
              <a:t> ClamsPizzaFactory());</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registry.registerFactory(</a:t>
            </a:r>
            <a:r>
              <a:rPr sz="1400" b="0">
                <a:solidFill>
                  <a:srgbClr val="A31515"/>
                </a:solidFill>
                <a:latin typeface="Consolas" panose="020B0609020204030204"/>
                <a:ea typeface="Consolas" panose="020B0609020204030204"/>
              </a:rPr>
              <a:t>"VeggiePizza"</a:t>
            </a:r>
            <a:r>
              <a:rPr sz="1400" b="0">
                <a:solidFill>
                  <a:srgbClr val="000000"/>
                </a:solidFill>
                <a:latin typeface="Consolas" panose="020B0609020204030204"/>
                <a:ea typeface="Consolas" panose="020B0609020204030204"/>
              </a:rPr>
              <a:t>, </a:t>
            </a:r>
            <a:r>
              <a:rPr sz="1400" b="0">
                <a:solidFill>
                  <a:srgbClr val="0000FF"/>
                </a:solidFill>
                <a:latin typeface="Consolas" panose="020B0609020204030204"/>
                <a:ea typeface="Consolas" panose="020B0609020204030204"/>
              </a:rPr>
              <a:t>new</a:t>
            </a:r>
            <a:r>
              <a:rPr sz="1400" b="0">
                <a:solidFill>
                  <a:srgbClr val="000000"/>
                </a:solidFill>
                <a:latin typeface="Consolas" panose="020B0609020204030204"/>
                <a:ea typeface="Consolas" panose="020B0609020204030204"/>
              </a:rPr>
              <a:t> VeggiePizzaFactory());</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Pizza </a:t>
            </a:r>
            <a:r>
              <a:rPr sz="1400" b="0">
                <a:solidFill>
                  <a:srgbClr val="0000FF"/>
                </a:solidFill>
                <a:latin typeface="Consolas" panose="020B0609020204030204"/>
                <a:ea typeface="Consolas" panose="020B0609020204030204"/>
              </a:rPr>
              <a:t>*</a:t>
            </a:r>
            <a:r>
              <a:rPr sz="1400" b="0">
                <a:solidFill>
                  <a:srgbClr val="000000"/>
                </a:solidFill>
                <a:latin typeface="Consolas" panose="020B0609020204030204"/>
                <a:ea typeface="Consolas" panose="020B0609020204030204"/>
              </a:rPr>
              <a:t>orderPizza(string_view type);</a:t>
            </a:r>
            <a:endParaRPr sz="1400" b="0">
              <a:solidFill>
                <a:srgbClr val="000000"/>
              </a:solidFill>
              <a:latin typeface="Consolas" panose="020B0609020204030204"/>
              <a:ea typeface="Consolas" panose="020B0609020204030204"/>
            </a:endParaRPr>
          </a:p>
          <a:p>
            <a:pPr>
              <a:lnSpc>
                <a:spcPts val="1200"/>
              </a:lnSpc>
            </a:pPr>
            <a:r>
              <a:rPr sz="1400" b="0">
                <a:solidFill>
                  <a:srgbClr val="0000FF"/>
                </a:solidFill>
                <a:latin typeface="Consolas" panose="020B0609020204030204"/>
                <a:ea typeface="Consolas" panose="020B0609020204030204"/>
              </a:rPr>
              <a:t>private:</a:t>
            </a:r>
            <a:endParaRPr sz="1400" b="0">
              <a:solidFill>
                <a:srgbClr val="0000FF"/>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PizzaFactory *factory = </a:t>
            </a:r>
            <a:r>
              <a:rPr sz="1400" b="0">
                <a:solidFill>
                  <a:srgbClr val="0000FF"/>
                </a:solidFill>
                <a:latin typeface="Consolas" panose="020B0609020204030204"/>
                <a:ea typeface="Consolas" panose="020B0609020204030204"/>
              </a:rPr>
              <a:t>nullptr</a:t>
            </a:r>
            <a:r>
              <a:rPr sz="1400" b="0">
                <a:solidFill>
                  <a:srgbClr val="000000"/>
                </a:solidFill>
                <a:latin typeface="Consolas" panose="020B0609020204030204"/>
                <a:ea typeface="Consolas" panose="020B0609020204030204"/>
              </a:rPr>
              <a:t>;</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a:t>
            </a:r>
            <a:endParaRPr sz="1400" b="0">
              <a:solidFill>
                <a:srgbClr val="000000"/>
              </a:solidFill>
              <a:latin typeface="Consolas" panose="020B0609020204030204"/>
              <a:ea typeface="Consolas" panose="020B0609020204030204"/>
            </a:endParaRPr>
          </a:p>
          <a:p>
            <a:pPr>
              <a:lnSpc>
                <a:spcPts val="1200"/>
              </a:lnSpc>
            </a:pPr>
            <a:r>
              <a:rPr sz="1400" b="0">
                <a:solidFill>
                  <a:srgbClr val="0000FF"/>
                </a:solidFill>
                <a:latin typeface="Consolas" panose="020B0609020204030204"/>
                <a:ea typeface="Consolas" panose="020B0609020204030204"/>
              </a:rPr>
              <a:t>inline</a:t>
            </a:r>
            <a:r>
              <a:rPr sz="1400" b="0">
                <a:solidFill>
                  <a:srgbClr val="000000"/>
                </a:solidFill>
                <a:latin typeface="Consolas" panose="020B0609020204030204"/>
                <a:ea typeface="Consolas" panose="020B0609020204030204"/>
              </a:rPr>
              <a:t> Pizza </a:t>
            </a:r>
            <a:r>
              <a:rPr sz="1400" b="0">
                <a:solidFill>
                  <a:srgbClr val="0000FF"/>
                </a:solidFill>
                <a:latin typeface="Consolas" panose="020B0609020204030204"/>
                <a:ea typeface="Consolas" panose="020B0609020204030204"/>
              </a:rPr>
              <a:t>*</a:t>
            </a:r>
            <a:r>
              <a:rPr sz="1400" b="0">
                <a:solidFill>
                  <a:srgbClr val="000000"/>
                </a:solidFill>
                <a:latin typeface="Consolas" panose="020B0609020204030204"/>
                <a:ea typeface="Consolas" panose="020B0609020204030204"/>
              </a:rPr>
              <a:t>PizzaStore::orderPizza(string_view type)</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a:t>
            </a:r>
            <a:r>
              <a:rPr sz="1400" b="0">
                <a:solidFill>
                  <a:srgbClr val="0000FF"/>
                </a:solidFill>
                <a:latin typeface="Consolas" panose="020B0609020204030204"/>
                <a:ea typeface="Consolas" panose="020B0609020204030204"/>
              </a:rPr>
              <a:t>auto</a:t>
            </a:r>
            <a:r>
              <a:rPr sz="1400" b="0">
                <a:solidFill>
                  <a:srgbClr val="000000"/>
                </a:solidFill>
                <a:latin typeface="Consolas" panose="020B0609020204030204"/>
                <a:ea typeface="Consolas" panose="020B0609020204030204"/>
              </a:rPr>
              <a:t> pizza = factory-&gt;createPizza(type);</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pizza-&gt;prepare();</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pizza-&gt;bake();</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pizza-&gt;cut();</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pizza-&gt;box();</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    </a:t>
            </a:r>
            <a:r>
              <a:rPr sz="1400" b="0">
                <a:solidFill>
                  <a:srgbClr val="0000FF"/>
                </a:solidFill>
                <a:latin typeface="Consolas" panose="020B0609020204030204"/>
                <a:ea typeface="Consolas" panose="020B0609020204030204"/>
              </a:rPr>
              <a:t>return</a:t>
            </a:r>
            <a:r>
              <a:rPr sz="1400" b="0">
                <a:solidFill>
                  <a:srgbClr val="000000"/>
                </a:solidFill>
                <a:latin typeface="Consolas" panose="020B0609020204030204"/>
                <a:ea typeface="Consolas" panose="020B0609020204030204"/>
              </a:rPr>
              <a:t> pizza;</a:t>
            </a:r>
            <a:endParaRPr sz="1400" b="0">
              <a:solidFill>
                <a:srgbClr val="000000"/>
              </a:solidFill>
              <a:latin typeface="Consolas" panose="020B0609020204030204"/>
              <a:ea typeface="Consolas" panose="020B0609020204030204"/>
            </a:endParaRPr>
          </a:p>
          <a:p>
            <a:pPr>
              <a:lnSpc>
                <a:spcPts val="1200"/>
              </a:lnSpc>
            </a:pPr>
            <a:r>
              <a:rPr sz="1400" b="0">
                <a:solidFill>
                  <a:srgbClr val="000000"/>
                </a:solidFill>
                <a:latin typeface="Consolas" panose="020B0609020204030204"/>
                <a:ea typeface="Consolas" panose="020B0609020204030204"/>
              </a:rPr>
              <a:t>}</a:t>
            </a:r>
            <a:endParaRPr sz="1400" b="0">
              <a:solidFill>
                <a:srgbClr val="000000"/>
              </a:solidFill>
              <a:latin typeface="Consolas" panose="020B0609020204030204"/>
              <a:ea typeface="Consolas" panose="020B0609020204030204"/>
            </a:endParaRPr>
          </a:p>
        </p:txBody>
      </p:sp>
      <p:sp>
        <p:nvSpPr>
          <p:cNvPr id="8" name="Text Box 7"/>
          <p:cNvSpPr txBox="1"/>
          <p:nvPr/>
        </p:nvSpPr>
        <p:spPr>
          <a:xfrm>
            <a:off x="5965825" y="1989455"/>
            <a:ext cx="2658110" cy="389890"/>
          </a:xfrm>
          <a:prstGeom prst="rect">
            <a:avLst/>
          </a:prstGeom>
          <a:noFill/>
        </p:spPr>
        <p:txBody>
          <a:bodyPr wrap="square" rtlCol="0">
            <a:noAutofit/>
          </a:bodyPr>
          <a:p>
            <a:r>
              <a:rPr lang="en-US" b="1">
                <a:solidFill>
                  <a:srgbClr val="C00000"/>
                </a:solidFill>
                <a:latin typeface="Times New Roman" panose="02020603050405020304" pitchFamily="18" charset="0"/>
                <a:cs typeface="Times New Roman" panose="02020603050405020304" pitchFamily="18" charset="0"/>
              </a:rPr>
              <a:t>pizzaStore.h</a:t>
            </a:r>
            <a:endParaRPr lang="en-US" b="1">
              <a:solidFill>
                <a:srgbClr val="C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a:latin typeface="Times New Roman" panose="02020603050405020304" pitchFamily="18" charset="0"/>
                <a:cs typeface="Times New Roman" panose="02020603050405020304" pitchFamily="18" charset="0"/>
                <a:sym typeface="+mn-ea"/>
              </a:rPr>
              <a:t>Example 3 - Pizza Store Ordering (Code)</a:t>
            </a:r>
            <a:endParaRPr lang="en-US"/>
          </a:p>
        </p:txBody>
      </p:sp>
      <p:sp>
        <p:nvSpPr>
          <p:cNvPr id="4" name="Text Box 3"/>
          <p:cNvSpPr txBox="1"/>
          <p:nvPr/>
        </p:nvSpPr>
        <p:spPr>
          <a:xfrm>
            <a:off x="177165" y="2167255"/>
            <a:ext cx="7138035" cy="3014980"/>
          </a:xfrm>
          <a:prstGeom prst="rect">
            <a:avLst/>
          </a:prstGeom>
        </p:spPr>
        <p:txBody>
          <a:bodyPr wrap="square">
            <a:spAutoFit/>
          </a:bodyPr>
          <a:p>
            <a:pPr>
              <a:lnSpc>
                <a:spcPts val="1200"/>
              </a:lnSpc>
            </a:pPr>
            <a:r>
              <a:rPr sz="1200" b="0">
                <a:solidFill>
                  <a:srgbClr val="0000FF"/>
                </a:solidFill>
                <a:latin typeface="Consolas" panose="020B0609020204030204"/>
                <a:ea typeface="Consolas" panose="020B0609020204030204"/>
              </a:rPr>
              <a:t>#include </a:t>
            </a:r>
            <a:r>
              <a:rPr sz="1200" b="0">
                <a:solidFill>
                  <a:srgbClr val="A31515"/>
                </a:solidFill>
                <a:latin typeface="Consolas" panose="020B0609020204030204"/>
                <a:ea typeface="Consolas" panose="020B0609020204030204"/>
              </a:rPr>
              <a:t>"pizzaFactory.h"</a:t>
            </a:r>
            <a:endParaRPr sz="1200" b="0">
              <a:solidFill>
                <a:srgbClr val="A31515"/>
              </a:solidFill>
              <a:latin typeface="Consolas" panose="020B0609020204030204"/>
              <a:ea typeface="Consolas" panose="020B0609020204030204"/>
            </a:endParaRPr>
          </a:p>
          <a:p>
            <a:pPr>
              <a:lnSpc>
                <a:spcPts val="1200"/>
              </a:lnSpc>
            </a:pPr>
            <a:r>
              <a:rPr sz="1200" b="0">
                <a:solidFill>
                  <a:srgbClr val="0000FF"/>
                </a:solidFill>
                <a:latin typeface="Consolas" panose="020B0609020204030204"/>
                <a:ea typeface="Consolas" panose="020B0609020204030204"/>
              </a:rPr>
              <a:t>#include </a:t>
            </a:r>
            <a:r>
              <a:rPr sz="1200" b="0">
                <a:solidFill>
                  <a:srgbClr val="A31515"/>
                </a:solidFill>
                <a:latin typeface="Consolas" panose="020B0609020204030204"/>
                <a:ea typeface="Consolas" panose="020B0609020204030204"/>
              </a:rPr>
              <a:t>"pizzaStore.h"</a:t>
            </a:r>
            <a:endParaRPr sz="1200" b="0">
              <a:solidFill>
                <a:srgbClr val="A31515"/>
              </a:solidFill>
              <a:latin typeface="Consolas" panose="020B0609020204030204"/>
              <a:ea typeface="Consolas" panose="020B0609020204030204"/>
            </a:endParaRPr>
          </a:p>
          <a:p>
            <a:pPr>
              <a:lnSpc>
                <a:spcPts val="1200"/>
              </a:lnSpc>
            </a:pPr>
            <a:r>
              <a:rPr sz="1200" b="0">
                <a:solidFill>
                  <a:srgbClr val="0000FF"/>
                </a:solidFill>
                <a:latin typeface="Consolas" panose="020B0609020204030204"/>
                <a:ea typeface="Consolas" panose="020B0609020204030204"/>
              </a:rPr>
              <a:t>#include </a:t>
            </a:r>
            <a:r>
              <a:rPr sz="1200" b="0">
                <a:solidFill>
                  <a:srgbClr val="A31515"/>
                </a:solidFill>
                <a:latin typeface="Consolas" panose="020B0609020204030204"/>
                <a:ea typeface="Consolas" panose="020B0609020204030204"/>
              </a:rPr>
              <a:t>"veggiePizza.h"</a:t>
            </a:r>
            <a:endParaRPr sz="1200" b="0">
              <a:solidFill>
                <a:srgbClr val="A31515"/>
              </a:solidFill>
              <a:latin typeface="Consolas" panose="020B0609020204030204"/>
              <a:ea typeface="Consolas" panose="020B0609020204030204"/>
            </a:endParaRPr>
          </a:p>
          <a:p>
            <a:pPr>
              <a:lnSpc>
                <a:spcPts val="1200"/>
              </a:lnSpc>
            </a:pPr>
            <a:r>
              <a:rPr sz="1200" b="0">
                <a:solidFill>
                  <a:srgbClr val="0000FF"/>
                </a:solidFill>
                <a:latin typeface="Consolas" panose="020B0609020204030204"/>
                <a:ea typeface="Consolas" panose="020B0609020204030204"/>
              </a:rPr>
              <a:t>#include </a:t>
            </a:r>
            <a:r>
              <a:rPr sz="1200" b="0">
                <a:solidFill>
                  <a:srgbClr val="A31515"/>
                </a:solidFill>
                <a:latin typeface="Consolas" panose="020B0609020204030204"/>
                <a:ea typeface="Consolas" panose="020B0609020204030204"/>
              </a:rPr>
              <a:t>"clamsPizza.h"</a:t>
            </a:r>
            <a:endParaRPr sz="1200" b="0">
              <a:solidFill>
                <a:srgbClr val="A31515"/>
              </a:solidFill>
              <a:latin typeface="Consolas" panose="020B0609020204030204"/>
              <a:ea typeface="Consolas" panose="020B0609020204030204"/>
            </a:endParaRPr>
          </a:p>
          <a:p>
            <a:pPr>
              <a:lnSpc>
                <a:spcPts val="1200"/>
              </a:lnSpc>
            </a:pPr>
            <a:r>
              <a:rPr sz="1200" b="0">
                <a:solidFill>
                  <a:srgbClr val="0000FF"/>
                </a:solidFill>
                <a:latin typeface="Consolas" panose="020B0609020204030204"/>
                <a:ea typeface="Consolas" panose="020B0609020204030204"/>
              </a:rPr>
              <a:t>#include </a:t>
            </a:r>
            <a:r>
              <a:rPr sz="1200" b="0">
                <a:solidFill>
                  <a:srgbClr val="A31515"/>
                </a:solidFill>
                <a:latin typeface="Consolas" panose="020B0609020204030204"/>
                <a:ea typeface="Consolas" panose="020B0609020204030204"/>
              </a:rPr>
              <a:t>"pizzaFactoryRegistry.h"</a:t>
            </a:r>
            <a:endParaRPr sz="1200" b="0">
              <a:solidFill>
                <a:srgbClr val="A31515"/>
              </a:solidFill>
              <a:latin typeface="Consolas" panose="020B0609020204030204"/>
              <a:ea typeface="Consolas" panose="020B0609020204030204"/>
            </a:endParaRPr>
          </a:p>
          <a:p>
            <a:pPr>
              <a:lnSpc>
                <a:spcPts val="1200"/>
              </a:lnSpc>
            </a:pPr>
            <a:r>
              <a:rPr sz="1200" b="0">
                <a:solidFill>
                  <a:srgbClr val="0000FF"/>
                </a:solidFill>
                <a:latin typeface="Consolas" panose="020B0609020204030204"/>
                <a:ea typeface="Consolas" panose="020B0609020204030204"/>
              </a:rPr>
              <a:t>#include </a:t>
            </a:r>
            <a:r>
              <a:rPr sz="1200" b="0">
                <a:solidFill>
                  <a:srgbClr val="A31515"/>
                </a:solidFill>
                <a:latin typeface="Consolas" panose="020B0609020204030204"/>
                <a:ea typeface="Consolas" panose="020B0609020204030204"/>
              </a:rPr>
              <a:t>"cheesePizza.h"</a:t>
            </a:r>
            <a:endParaRPr sz="1200" b="0">
              <a:solidFill>
                <a:srgbClr val="A31515"/>
              </a:solidFill>
              <a:latin typeface="Consolas" panose="020B0609020204030204"/>
              <a:ea typeface="Consolas" panose="020B0609020204030204"/>
            </a:endParaRPr>
          </a:p>
          <a:p>
            <a:pPr>
              <a:lnSpc>
                <a:spcPts val="1200"/>
              </a:lnSpc>
            </a:pPr>
            <a:r>
              <a:rPr sz="1200" b="0">
                <a:solidFill>
                  <a:srgbClr val="0000FF"/>
                </a:solidFill>
                <a:latin typeface="Consolas" panose="020B0609020204030204"/>
                <a:ea typeface="Consolas" panose="020B0609020204030204"/>
              </a:rPr>
              <a:t>#include </a:t>
            </a:r>
            <a:r>
              <a:rPr sz="1200" b="0">
                <a:solidFill>
                  <a:srgbClr val="A31515"/>
                </a:solidFill>
                <a:latin typeface="Consolas" panose="020B0609020204030204"/>
                <a:ea typeface="Consolas" panose="020B0609020204030204"/>
              </a:rPr>
              <a:t>&lt;memory&gt;</a:t>
            </a:r>
            <a:endParaRPr sz="1200" b="0">
              <a:solidFill>
                <a:srgbClr val="A31515"/>
              </a:solidFill>
              <a:latin typeface="Consolas" panose="020B0609020204030204"/>
              <a:ea typeface="Consolas" panose="020B0609020204030204"/>
            </a:endParaRPr>
          </a:p>
          <a:p>
            <a:pPr>
              <a:lnSpc>
                <a:spcPts val="1200"/>
              </a:lnSpc>
            </a:pPr>
            <a:r>
              <a:rPr sz="1200" b="0">
                <a:solidFill>
                  <a:srgbClr val="0000FF"/>
                </a:solidFill>
                <a:latin typeface="Consolas" panose="020B0609020204030204"/>
                <a:ea typeface="Consolas" panose="020B0609020204030204"/>
              </a:rPr>
              <a:t>int</a:t>
            </a:r>
            <a:r>
              <a:rPr sz="1200" b="0">
                <a:solidFill>
                  <a:srgbClr val="000000"/>
                </a:solidFill>
                <a:latin typeface="Consolas" panose="020B0609020204030204"/>
                <a:ea typeface="Consolas" panose="020B0609020204030204"/>
              </a:rPr>
              <a:t> main()</a:t>
            </a:r>
            <a:endParaRPr sz="1200" b="0">
              <a:solidFill>
                <a:srgbClr val="000000"/>
              </a:solidFill>
              <a:latin typeface="Consolas" panose="020B0609020204030204"/>
              <a:ea typeface="Consolas" panose="020B0609020204030204"/>
            </a:endParaRPr>
          </a:p>
          <a:p>
            <a:pPr>
              <a:lnSpc>
                <a:spcPts val="1200"/>
              </a:lnSpc>
            </a:pPr>
            <a:r>
              <a:rPr sz="1200" b="0">
                <a:solidFill>
                  <a:srgbClr val="000000"/>
                </a:solidFill>
                <a:latin typeface="Consolas" panose="020B0609020204030204"/>
                <a:ea typeface="Consolas" panose="020B0609020204030204"/>
              </a:rPr>
              <a:t>{</a:t>
            </a:r>
            <a:endParaRPr sz="1200" b="0">
              <a:solidFill>
                <a:srgbClr val="000000"/>
              </a:solidFill>
              <a:latin typeface="Consolas" panose="020B0609020204030204"/>
              <a:ea typeface="Consolas" panose="020B0609020204030204"/>
            </a:endParaRPr>
          </a:p>
          <a:p>
            <a:pPr>
              <a:lnSpc>
                <a:spcPts val="1200"/>
              </a:lnSpc>
            </a:pPr>
            <a:r>
              <a:rPr sz="1200" b="0">
                <a:solidFill>
                  <a:srgbClr val="000000"/>
                </a:solidFill>
                <a:latin typeface="Consolas" panose="020B0609020204030204"/>
                <a:ea typeface="Consolas" panose="020B0609020204030204"/>
              </a:rPr>
              <a:t>    </a:t>
            </a:r>
            <a:r>
              <a:rPr sz="1200" b="0">
                <a:solidFill>
                  <a:srgbClr val="0000FF"/>
                </a:solidFill>
                <a:latin typeface="Consolas" panose="020B0609020204030204"/>
                <a:ea typeface="Consolas" panose="020B0609020204030204"/>
              </a:rPr>
              <a:t>auto</a:t>
            </a:r>
            <a:r>
              <a:rPr sz="1200" b="0">
                <a:solidFill>
                  <a:srgbClr val="000000"/>
                </a:solidFill>
                <a:latin typeface="Consolas" panose="020B0609020204030204"/>
                <a:ea typeface="Consolas" panose="020B0609020204030204"/>
              </a:rPr>
              <a:t> factory = </a:t>
            </a:r>
            <a:r>
              <a:rPr sz="1200" b="0">
                <a:solidFill>
                  <a:srgbClr val="0000FF"/>
                </a:solidFill>
                <a:latin typeface="Consolas" panose="020B0609020204030204"/>
                <a:ea typeface="Consolas" panose="020B0609020204030204"/>
              </a:rPr>
              <a:t>new</a:t>
            </a:r>
            <a:r>
              <a:rPr sz="1200" b="0">
                <a:solidFill>
                  <a:srgbClr val="000000"/>
                </a:solidFill>
                <a:latin typeface="Consolas" panose="020B0609020204030204"/>
                <a:ea typeface="Consolas" panose="020B0609020204030204"/>
              </a:rPr>
              <a:t> CheesePizzaFactory();</a:t>
            </a:r>
            <a:r>
              <a:rPr sz="1200" b="0">
                <a:solidFill>
                  <a:srgbClr val="008000"/>
                </a:solidFill>
                <a:latin typeface="Consolas" panose="020B0609020204030204"/>
                <a:ea typeface="Consolas" panose="020B0609020204030204"/>
              </a:rPr>
              <a:t> // Create Facotry</a:t>
            </a:r>
            <a:endParaRPr sz="1200" b="0">
              <a:solidFill>
                <a:srgbClr val="008000"/>
              </a:solidFill>
              <a:latin typeface="Consolas" panose="020B0609020204030204"/>
              <a:ea typeface="Consolas" panose="020B0609020204030204"/>
            </a:endParaRPr>
          </a:p>
          <a:p>
            <a:pPr>
              <a:lnSpc>
                <a:spcPts val="1200"/>
              </a:lnSpc>
            </a:pPr>
            <a:r>
              <a:rPr sz="1200" b="0">
                <a:solidFill>
                  <a:srgbClr val="000000"/>
                </a:solidFill>
                <a:latin typeface="Consolas" panose="020B0609020204030204"/>
                <a:ea typeface="Consolas" panose="020B0609020204030204"/>
              </a:rPr>
              <a:t>    </a:t>
            </a:r>
            <a:r>
              <a:rPr sz="1200" b="0">
                <a:solidFill>
                  <a:srgbClr val="0000FF"/>
                </a:solidFill>
                <a:latin typeface="Consolas" panose="020B0609020204030204"/>
                <a:ea typeface="Consolas" panose="020B0609020204030204"/>
              </a:rPr>
              <a:t>auto</a:t>
            </a:r>
            <a:r>
              <a:rPr sz="1200" b="0">
                <a:solidFill>
                  <a:srgbClr val="000000"/>
                </a:solidFill>
                <a:latin typeface="Consolas" panose="020B0609020204030204"/>
                <a:ea typeface="Consolas" panose="020B0609020204030204"/>
              </a:rPr>
              <a:t> pizzaStore = PizzaStore(factory);</a:t>
            </a:r>
            <a:r>
              <a:rPr sz="1200" b="0">
                <a:solidFill>
                  <a:srgbClr val="008000"/>
                </a:solidFill>
                <a:latin typeface="Consolas" panose="020B0609020204030204"/>
                <a:ea typeface="Consolas" panose="020B0609020204030204"/>
              </a:rPr>
              <a:t>   // Create store and pass it factory</a:t>
            </a:r>
            <a:endParaRPr sz="1200" b="0">
              <a:solidFill>
                <a:srgbClr val="008000"/>
              </a:solidFill>
              <a:latin typeface="Consolas" panose="020B0609020204030204"/>
              <a:ea typeface="Consolas" panose="020B0609020204030204"/>
            </a:endParaRPr>
          </a:p>
          <a:p>
            <a:pPr>
              <a:lnSpc>
                <a:spcPts val="1200"/>
              </a:lnSpc>
            </a:pPr>
            <a:r>
              <a:rPr sz="1200" b="0">
                <a:solidFill>
                  <a:srgbClr val="000000"/>
                </a:solidFill>
                <a:latin typeface="Consolas" panose="020B0609020204030204"/>
                <a:ea typeface="Consolas" panose="020B0609020204030204"/>
              </a:rPr>
              <a:t>    string customerOrder1 = </a:t>
            </a:r>
            <a:r>
              <a:rPr sz="1200" b="0">
                <a:solidFill>
                  <a:srgbClr val="A31515"/>
                </a:solidFill>
                <a:latin typeface="Consolas" panose="020B0609020204030204"/>
                <a:ea typeface="Consolas" panose="020B0609020204030204"/>
              </a:rPr>
              <a:t>"CheesePizza"</a:t>
            </a:r>
            <a:r>
              <a:rPr sz="1200" b="0">
                <a:solidFill>
                  <a:srgbClr val="000000"/>
                </a:solidFill>
                <a:latin typeface="Consolas" panose="020B0609020204030204"/>
                <a:ea typeface="Consolas" panose="020B0609020204030204"/>
              </a:rPr>
              <a:t>;</a:t>
            </a:r>
            <a:endParaRPr sz="1200" b="0">
              <a:solidFill>
                <a:srgbClr val="000000"/>
              </a:solidFill>
              <a:latin typeface="Consolas" panose="020B0609020204030204"/>
              <a:ea typeface="Consolas" panose="020B0609020204030204"/>
            </a:endParaRPr>
          </a:p>
          <a:p>
            <a:pPr>
              <a:lnSpc>
                <a:spcPts val="1200"/>
              </a:lnSpc>
            </a:pPr>
            <a:r>
              <a:rPr sz="1200" b="0">
                <a:solidFill>
                  <a:srgbClr val="000000"/>
                </a:solidFill>
                <a:latin typeface="Consolas" panose="020B0609020204030204"/>
                <a:ea typeface="Consolas" panose="020B0609020204030204"/>
              </a:rPr>
              <a:t>    </a:t>
            </a:r>
            <a:r>
              <a:rPr sz="1200" b="0">
                <a:solidFill>
                  <a:srgbClr val="0000FF"/>
                </a:solidFill>
                <a:latin typeface="Consolas" panose="020B0609020204030204"/>
                <a:ea typeface="Consolas" panose="020B0609020204030204"/>
              </a:rPr>
              <a:t>auto</a:t>
            </a:r>
            <a:r>
              <a:rPr sz="1200" b="0">
                <a:solidFill>
                  <a:srgbClr val="000000"/>
                </a:solidFill>
                <a:latin typeface="Consolas" panose="020B0609020204030204"/>
                <a:ea typeface="Consolas" panose="020B0609020204030204"/>
              </a:rPr>
              <a:t> pizza = pizzaStore.orderPizza(customerOrder1);</a:t>
            </a:r>
            <a:r>
              <a:rPr sz="1200" b="0">
                <a:solidFill>
                  <a:srgbClr val="008000"/>
                </a:solidFill>
                <a:latin typeface="Consolas" panose="020B0609020204030204"/>
                <a:ea typeface="Consolas" panose="020B0609020204030204"/>
              </a:rPr>
              <a:t> // Order pizza from store</a:t>
            </a:r>
            <a:endParaRPr sz="1200" b="0">
              <a:solidFill>
                <a:srgbClr val="008000"/>
              </a:solidFill>
              <a:latin typeface="Consolas" panose="020B0609020204030204"/>
              <a:ea typeface="Consolas" panose="020B0609020204030204"/>
            </a:endParaRPr>
          </a:p>
          <a:p>
            <a:pPr>
              <a:lnSpc>
                <a:spcPts val="1200"/>
              </a:lnSpc>
            </a:pPr>
            <a:r>
              <a:rPr sz="1200" b="0">
                <a:solidFill>
                  <a:srgbClr val="000000"/>
                </a:solidFill>
                <a:latin typeface="Consolas" panose="020B0609020204030204"/>
                <a:ea typeface="Consolas" panose="020B0609020204030204"/>
              </a:rPr>
              <a:t>    cout &lt;&lt;</a:t>
            </a:r>
            <a:r>
              <a:rPr sz="1200" b="0">
                <a:solidFill>
                  <a:srgbClr val="A31515"/>
                </a:solidFill>
                <a:latin typeface="Consolas" panose="020B0609020204030204"/>
                <a:ea typeface="Consolas" panose="020B0609020204030204"/>
              </a:rPr>
              <a:t>"\n\t"</a:t>
            </a:r>
            <a:r>
              <a:rPr sz="1200" b="0">
                <a:solidFill>
                  <a:srgbClr val="000000"/>
                </a:solidFill>
                <a:latin typeface="Consolas" panose="020B0609020204030204"/>
                <a:ea typeface="Consolas" panose="020B0609020204030204"/>
              </a:rPr>
              <a:t>;</a:t>
            </a:r>
            <a:endParaRPr sz="1200" b="0">
              <a:solidFill>
                <a:srgbClr val="000000"/>
              </a:solidFill>
              <a:latin typeface="Consolas" panose="020B0609020204030204"/>
              <a:ea typeface="Consolas" panose="020B0609020204030204"/>
            </a:endParaRPr>
          </a:p>
          <a:p>
            <a:pPr>
              <a:lnSpc>
                <a:spcPts val="1200"/>
              </a:lnSpc>
            </a:pPr>
            <a:r>
              <a:rPr sz="1200" b="0">
                <a:solidFill>
                  <a:srgbClr val="000000"/>
                </a:solidFill>
                <a:latin typeface="Consolas" panose="020B0609020204030204"/>
                <a:ea typeface="Consolas" panose="020B0609020204030204"/>
              </a:rPr>
              <a:t>    </a:t>
            </a:r>
            <a:r>
              <a:rPr sz="1200" b="0">
                <a:solidFill>
                  <a:srgbClr val="0000FF"/>
                </a:solidFill>
                <a:latin typeface="Consolas" panose="020B0609020204030204"/>
                <a:ea typeface="Consolas" panose="020B0609020204030204"/>
              </a:rPr>
              <a:t>auto</a:t>
            </a:r>
            <a:r>
              <a:rPr sz="1200" b="0">
                <a:solidFill>
                  <a:srgbClr val="000000"/>
                </a:solidFill>
                <a:latin typeface="Consolas" panose="020B0609020204030204"/>
                <a:ea typeface="Consolas" panose="020B0609020204030204"/>
              </a:rPr>
              <a:t> factory2 = </a:t>
            </a:r>
            <a:r>
              <a:rPr sz="1200" b="0">
                <a:solidFill>
                  <a:srgbClr val="0000FF"/>
                </a:solidFill>
                <a:latin typeface="Consolas" panose="020B0609020204030204"/>
                <a:ea typeface="Consolas" panose="020B0609020204030204"/>
              </a:rPr>
              <a:t>new</a:t>
            </a:r>
            <a:r>
              <a:rPr sz="1200" b="0">
                <a:solidFill>
                  <a:srgbClr val="000000"/>
                </a:solidFill>
                <a:latin typeface="Consolas" panose="020B0609020204030204"/>
                <a:ea typeface="Consolas" panose="020B0609020204030204"/>
              </a:rPr>
              <a:t> ClamsPizzaFactory();</a:t>
            </a:r>
            <a:endParaRPr sz="1200" b="0">
              <a:solidFill>
                <a:srgbClr val="000000"/>
              </a:solidFill>
              <a:latin typeface="Consolas" panose="020B0609020204030204"/>
              <a:ea typeface="Consolas" panose="020B0609020204030204"/>
            </a:endParaRPr>
          </a:p>
          <a:p>
            <a:pPr>
              <a:lnSpc>
                <a:spcPts val="1200"/>
              </a:lnSpc>
            </a:pPr>
            <a:r>
              <a:rPr sz="1200" b="0">
                <a:solidFill>
                  <a:srgbClr val="000000"/>
                </a:solidFill>
                <a:latin typeface="Consolas" panose="020B0609020204030204"/>
                <a:ea typeface="Consolas" panose="020B0609020204030204"/>
              </a:rPr>
              <a:t>    </a:t>
            </a:r>
            <a:r>
              <a:rPr sz="1200" b="0">
                <a:solidFill>
                  <a:srgbClr val="0000FF"/>
                </a:solidFill>
                <a:latin typeface="Consolas" panose="020B0609020204030204"/>
                <a:ea typeface="Consolas" panose="020B0609020204030204"/>
              </a:rPr>
              <a:t>auto</a:t>
            </a:r>
            <a:r>
              <a:rPr sz="1200" b="0">
                <a:solidFill>
                  <a:srgbClr val="000000"/>
                </a:solidFill>
                <a:latin typeface="Consolas" panose="020B0609020204030204"/>
                <a:ea typeface="Consolas" panose="020B0609020204030204"/>
              </a:rPr>
              <a:t> store = PizzaStore(factory2);</a:t>
            </a:r>
            <a:endParaRPr sz="1200" b="0">
              <a:solidFill>
                <a:srgbClr val="000000"/>
              </a:solidFill>
              <a:latin typeface="Consolas" panose="020B0609020204030204"/>
              <a:ea typeface="Consolas" panose="020B0609020204030204"/>
            </a:endParaRPr>
          </a:p>
          <a:p>
            <a:pPr>
              <a:lnSpc>
                <a:spcPts val="1200"/>
              </a:lnSpc>
            </a:pPr>
            <a:r>
              <a:rPr sz="1200" b="0">
                <a:solidFill>
                  <a:srgbClr val="000000"/>
                </a:solidFill>
                <a:latin typeface="Consolas" panose="020B0609020204030204"/>
                <a:ea typeface="Consolas" panose="020B0609020204030204"/>
              </a:rPr>
              <a:t>    string customerOrder2 = </a:t>
            </a:r>
            <a:r>
              <a:rPr sz="1200" b="0">
                <a:solidFill>
                  <a:srgbClr val="A31515"/>
                </a:solidFill>
                <a:latin typeface="Consolas" panose="020B0609020204030204"/>
                <a:ea typeface="Consolas" panose="020B0609020204030204"/>
              </a:rPr>
              <a:t>"ClamsPizza"</a:t>
            </a:r>
            <a:r>
              <a:rPr sz="1200" b="0">
                <a:solidFill>
                  <a:srgbClr val="000000"/>
                </a:solidFill>
                <a:latin typeface="Consolas" panose="020B0609020204030204"/>
                <a:ea typeface="Consolas" panose="020B0609020204030204"/>
              </a:rPr>
              <a:t>;</a:t>
            </a:r>
            <a:endParaRPr sz="1200" b="0">
              <a:solidFill>
                <a:srgbClr val="000000"/>
              </a:solidFill>
              <a:latin typeface="Consolas" panose="020B0609020204030204"/>
              <a:ea typeface="Consolas" panose="020B0609020204030204"/>
            </a:endParaRPr>
          </a:p>
          <a:p>
            <a:pPr>
              <a:lnSpc>
                <a:spcPts val="1200"/>
              </a:lnSpc>
            </a:pPr>
            <a:r>
              <a:rPr sz="1200" b="0">
                <a:solidFill>
                  <a:srgbClr val="000000"/>
                </a:solidFill>
                <a:latin typeface="Consolas" panose="020B0609020204030204"/>
                <a:ea typeface="Consolas" panose="020B0609020204030204"/>
              </a:rPr>
              <a:t>    </a:t>
            </a:r>
            <a:r>
              <a:rPr sz="1200" b="0">
                <a:solidFill>
                  <a:srgbClr val="0000FF"/>
                </a:solidFill>
                <a:latin typeface="Consolas" panose="020B0609020204030204"/>
                <a:ea typeface="Consolas" panose="020B0609020204030204"/>
              </a:rPr>
              <a:t>auto</a:t>
            </a:r>
            <a:r>
              <a:rPr sz="1200" b="0">
                <a:solidFill>
                  <a:srgbClr val="000000"/>
                </a:solidFill>
                <a:latin typeface="Consolas" panose="020B0609020204030204"/>
                <a:ea typeface="Consolas" panose="020B0609020204030204"/>
              </a:rPr>
              <a:t> pizza2 = store.orderPizza(customerOrder2);</a:t>
            </a:r>
            <a:endParaRPr sz="1200" b="0">
              <a:solidFill>
                <a:srgbClr val="000000"/>
              </a:solidFill>
              <a:latin typeface="Consolas" panose="020B0609020204030204"/>
              <a:ea typeface="Consolas" panose="020B0609020204030204"/>
            </a:endParaRPr>
          </a:p>
          <a:p>
            <a:pPr>
              <a:lnSpc>
                <a:spcPts val="1200"/>
              </a:lnSpc>
            </a:pPr>
            <a:r>
              <a:rPr sz="1200" b="0">
                <a:solidFill>
                  <a:srgbClr val="000000"/>
                </a:solidFill>
                <a:latin typeface="Consolas" panose="020B0609020204030204"/>
                <a:ea typeface="Consolas" panose="020B0609020204030204"/>
              </a:rPr>
              <a:t>}</a:t>
            </a:r>
            <a:endParaRPr sz="1200" b="0">
              <a:solidFill>
                <a:srgbClr val="000000"/>
              </a:solidFill>
              <a:latin typeface="Consolas" panose="020B0609020204030204"/>
              <a:ea typeface="Consolas" panose="020B0609020204030204"/>
            </a:endParaRPr>
          </a:p>
        </p:txBody>
      </p:sp>
      <p:sp>
        <p:nvSpPr>
          <p:cNvPr id="5" name="Text Box 4"/>
          <p:cNvSpPr txBox="1"/>
          <p:nvPr/>
        </p:nvSpPr>
        <p:spPr>
          <a:xfrm>
            <a:off x="7102475" y="1994535"/>
            <a:ext cx="5017135" cy="4948555"/>
          </a:xfrm>
          <a:prstGeom prst="rect">
            <a:avLst/>
          </a:prstGeom>
          <a:noFill/>
        </p:spPr>
        <p:txBody>
          <a:bodyPr wrap="square" rtlCol="0" anchor="t">
            <a:noAutofit/>
          </a:bodyPr>
          <a:p>
            <a:r>
              <a:rPr lang="en-US" altLang="en-US" sz="1400" b="1">
                <a:solidFill>
                  <a:srgbClr val="C00000"/>
                </a:solidFill>
                <a:latin typeface="Times New Roman" panose="02020603050405020304" pitchFamily="18" charset="0"/>
                <a:cs typeface="Times New Roman" panose="02020603050405020304" pitchFamily="18" charset="0"/>
              </a:rPr>
              <a:t>Output:</a:t>
            </a:r>
            <a:endParaRPr lang="en-US" altLang="en-US" sz="1400" b="1">
              <a:solidFill>
                <a:srgbClr val="C00000"/>
              </a:solidFill>
              <a:latin typeface="Times New Roman" panose="02020603050405020304" pitchFamily="18" charset="0"/>
              <a:cs typeface="Times New Roman" panose="02020603050405020304" pitchFamily="18" charset="0"/>
            </a:endParaRPr>
          </a:p>
          <a:p>
            <a:r>
              <a:rPr lang="en-US" altLang="en-US" sz="1400">
                <a:gradFill>
                  <a:gsLst>
                    <a:gs pos="0">
                      <a:srgbClr val="7B32B2"/>
                    </a:gs>
                    <a:gs pos="100000">
                      <a:srgbClr val="401A5D"/>
                    </a:gs>
                  </a:gsLst>
                  <a:lin scaled="0"/>
                </a:gradFill>
                <a:latin typeface="Times New Roman" panose="02020603050405020304" pitchFamily="18" charset="0"/>
                <a:cs typeface="Times New Roman" panose="02020603050405020304" pitchFamily="18" charset="0"/>
              </a:rPr>
              <a:t>Preparing Cheese Pizza</a:t>
            </a:r>
            <a:endParaRPr lang="en-US" altLang="en-US" sz="1400">
              <a:gradFill>
                <a:gsLst>
                  <a:gs pos="0">
                    <a:srgbClr val="7B32B2"/>
                  </a:gs>
                  <a:gs pos="100000">
                    <a:srgbClr val="401A5D"/>
                  </a:gs>
                </a:gsLst>
                <a:lin scaled="0"/>
              </a:gradFill>
              <a:latin typeface="Times New Roman" panose="02020603050405020304" pitchFamily="18" charset="0"/>
              <a:cs typeface="Times New Roman" panose="02020603050405020304" pitchFamily="18" charset="0"/>
            </a:endParaRPr>
          </a:p>
          <a:p>
            <a:endParaRPr lang="en-US" altLang="en-US" sz="1400">
              <a:gradFill>
                <a:gsLst>
                  <a:gs pos="0">
                    <a:srgbClr val="7B32B2"/>
                  </a:gs>
                  <a:gs pos="100000">
                    <a:srgbClr val="401A5D"/>
                  </a:gs>
                </a:gsLst>
                <a:lin scaled="0"/>
              </a:gradFill>
              <a:latin typeface="Times New Roman" panose="02020603050405020304" pitchFamily="18" charset="0"/>
              <a:cs typeface="Times New Roman" panose="02020603050405020304" pitchFamily="18" charset="0"/>
            </a:endParaRPr>
          </a:p>
          <a:p>
            <a:r>
              <a:rPr lang="en-US" altLang="en-US" sz="1400">
                <a:gradFill>
                  <a:gsLst>
                    <a:gs pos="0">
                      <a:srgbClr val="7B32B2"/>
                    </a:gs>
                    <a:gs pos="100000">
                      <a:srgbClr val="401A5D"/>
                    </a:gs>
                  </a:gsLst>
                  <a:lin scaled="0"/>
                </a:gradFill>
                <a:latin typeface="Times New Roman" panose="02020603050405020304" pitchFamily="18" charset="0"/>
                <a:cs typeface="Times New Roman" panose="02020603050405020304" pitchFamily="18" charset="0"/>
              </a:rPr>
              <a:t>Tossing dough...</a:t>
            </a:r>
            <a:endParaRPr lang="en-US" altLang="en-US" sz="1400">
              <a:gradFill>
                <a:gsLst>
                  <a:gs pos="0">
                    <a:srgbClr val="7B32B2"/>
                  </a:gs>
                  <a:gs pos="100000">
                    <a:srgbClr val="401A5D"/>
                  </a:gs>
                </a:gsLst>
                <a:lin scaled="0"/>
              </a:gradFill>
              <a:latin typeface="Times New Roman" panose="02020603050405020304" pitchFamily="18" charset="0"/>
              <a:cs typeface="Times New Roman" panose="02020603050405020304" pitchFamily="18" charset="0"/>
            </a:endParaRPr>
          </a:p>
          <a:p>
            <a:r>
              <a:rPr lang="en-US" altLang="en-US" sz="1400">
                <a:gradFill>
                  <a:gsLst>
                    <a:gs pos="0">
                      <a:srgbClr val="7B32B2"/>
                    </a:gs>
                    <a:gs pos="100000">
                      <a:srgbClr val="401A5D"/>
                    </a:gs>
                  </a:gsLst>
                  <a:lin scaled="0"/>
                </a:gradFill>
                <a:latin typeface="Times New Roman" panose="02020603050405020304" pitchFamily="18" charset="0"/>
                <a:cs typeface="Times New Roman" panose="02020603050405020304" pitchFamily="18" charset="0"/>
              </a:rPr>
              <a:t>Adding sauce...</a:t>
            </a:r>
            <a:endParaRPr lang="en-US" altLang="en-US" sz="1400">
              <a:gradFill>
                <a:gsLst>
                  <a:gs pos="0">
                    <a:srgbClr val="7B32B2"/>
                  </a:gs>
                  <a:gs pos="100000">
                    <a:srgbClr val="401A5D"/>
                  </a:gs>
                </a:gsLst>
                <a:lin scaled="0"/>
              </a:gradFill>
              <a:latin typeface="Times New Roman" panose="02020603050405020304" pitchFamily="18" charset="0"/>
              <a:cs typeface="Times New Roman" panose="02020603050405020304" pitchFamily="18" charset="0"/>
            </a:endParaRPr>
          </a:p>
          <a:p>
            <a:r>
              <a:rPr lang="en-US" altLang="en-US" sz="1400">
                <a:gradFill>
                  <a:gsLst>
                    <a:gs pos="0">
                      <a:srgbClr val="7B32B2"/>
                    </a:gs>
                    <a:gs pos="100000">
                      <a:srgbClr val="401A5D"/>
                    </a:gs>
                  </a:gsLst>
                  <a:lin scaled="0"/>
                </a:gradFill>
                <a:latin typeface="Times New Roman" panose="02020603050405020304" pitchFamily="18" charset="0"/>
                <a:cs typeface="Times New Roman" panose="02020603050405020304" pitchFamily="18" charset="0"/>
              </a:rPr>
              <a:t>Adding toppings...</a:t>
            </a:r>
            <a:endParaRPr lang="en-US" altLang="en-US" sz="1400">
              <a:gradFill>
                <a:gsLst>
                  <a:gs pos="0">
                    <a:srgbClr val="7B32B2"/>
                  </a:gs>
                  <a:gs pos="100000">
                    <a:srgbClr val="401A5D"/>
                  </a:gs>
                </a:gsLst>
                <a:lin scaled="0"/>
              </a:gradFill>
              <a:latin typeface="Times New Roman" panose="02020603050405020304" pitchFamily="18" charset="0"/>
              <a:cs typeface="Times New Roman" panose="02020603050405020304" pitchFamily="18" charset="0"/>
            </a:endParaRPr>
          </a:p>
          <a:p>
            <a:r>
              <a:rPr lang="en-US" altLang="en-US" sz="1400">
                <a:gradFill>
                  <a:gsLst>
                    <a:gs pos="0">
                      <a:srgbClr val="7B32B2"/>
                    </a:gs>
                    <a:gs pos="100000">
                      <a:srgbClr val="401A5D"/>
                    </a:gs>
                  </a:gsLst>
                  <a:lin scaled="0"/>
                </a:gradFill>
                <a:latin typeface="Times New Roman" panose="02020603050405020304" pitchFamily="18" charset="0"/>
                <a:cs typeface="Times New Roman" panose="02020603050405020304" pitchFamily="18" charset="0"/>
              </a:rPr>
              <a:t> Grated Regiano Cheese</a:t>
            </a:r>
            <a:endParaRPr lang="en-US" altLang="en-US" sz="1400">
              <a:gradFill>
                <a:gsLst>
                  <a:gs pos="0">
                    <a:srgbClr val="7B32B2"/>
                  </a:gs>
                  <a:gs pos="100000">
                    <a:srgbClr val="401A5D"/>
                  </a:gs>
                </a:gsLst>
                <a:lin scaled="0"/>
              </a:gradFill>
              <a:latin typeface="Times New Roman" panose="02020603050405020304" pitchFamily="18" charset="0"/>
              <a:cs typeface="Times New Roman" panose="02020603050405020304" pitchFamily="18" charset="0"/>
            </a:endParaRPr>
          </a:p>
          <a:p>
            <a:r>
              <a:rPr lang="en-US" altLang="en-US" sz="1400">
                <a:gradFill>
                  <a:gsLst>
                    <a:gs pos="0">
                      <a:srgbClr val="7B32B2"/>
                    </a:gs>
                    <a:gs pos="100000">
                      <a:srgbClr val="401A5D"/>
                    </a:gs>
                  </a:gsLst>
                  <a:lin scaled="0"/>
                </a:gradFill>
                <a:latin typeface="Times New Roman" panose="02020603050405020304" pitchFamily="18" charset="0"/>
                <a:cs typeface="Times New Roman" panose="02020603050405020304" pitchFamily="18" charset="0"/>
              </a:rPr>
              <a:t> Shredded Cheese</a:t>
            </a:r>
            <a:endParaRPr lang="en-US" altLang="en-US" sz="1400">
              <a:gradFill>
                <a:gsLst>
                  <a:gs pos="0">
                    <a:srgbClr val="7B32B2"/>
                  </a:gs>
                  <a:gs pos="100000">
                    <a:srgbClr val="401A5D"/>
                  </a:gs>
                </a:gsLst>
                <a:lin scaled="0"/>
              </a:gradFill>
              <a:latin typeface="Times New Roman" panose="02020603050405020304" pitchFamily="18" charset="0"/>
              <a:cs typeface="Times New Roman" panose="02020603050405020304" pitchFamily="18" charset="0"/>
            </a:endParaRPr>
          </a:p>
          <a:p>
            <a:r>
              <a:rPr lang="en-US" altLang="en-US" sz="1400">
                <a:gradFill>
                  <a:gsLst>
                    <a:gs pos="0">
                      <a:srgbClr val="7B32B2"/>
                    </a:gs>
                    <a:gs pos="100000">
                      <a:srgbClr val="401A5D"/>
                    </a:gs>
                  </a:gsLst>
                  <a:lin scaled="0"/>
                </a:gradFill>
                <a:latin typeface="Times New Roman" panose="02020603050405020304" pitchFamily="18" charset="0"/>
                <a:cs typeface="Times New Roman" panose="02020603050405020304" pitchFamily="18" charset="0"/>
              </a:rPr>
              <a:t>Bake for 25 minutes at 350</a:t>
            </a:r>
            <a:endParaRPr lang="en-US" altLang="en-US" sz="1400">
              <a:gradFill>
                <a:gsLst>
                  <a:gs pos="0">
                    <a:srgbClr val="7B32B2"/>
                  </a:gs>
                  <a:gs pos="100000">
                    <a:srgbClr val="401A5D"/>
                  </a:gs>
                </a:gsLst>
                <a:lin scaled="0"/>
              </a:gradFill>
              <a:latin typeface="Times New Roman" panose="02020603050405020304" pitchFamily="18" charset="0"/>
              <a:cs typeface="Times New Roman" panose="02020603050405020304" pitchFamily="18" charset="0"/>
            </a:endParaRPr>
          </a:p>
          <a:p>
            <a:r>
              <a:rPr lang="en-US" altLang="en-US" sz="1400">
                <a:gradFill>
                  <a:gsLst>
                    <a:gs pos="0">
                      <a:srgbClr val="7B32B2"/>
                    </a:gs>
                    <a:gs pos="100000">
                      <a:srgbClr val="401A5D"/>
                    </a:gs>
                  </a:gsLst>
                  <a:lin scaled="0"/>
                </a:gradFill>
                <a:latin typeface="Times New Roman" panose="02020603050405020304" pitchFamily="18" charset="0"/>
                <a:cs typeface="Times New Roman" panose="02020603050405020304" pitchFamily="18" charset="0"/>
              </a:rPr>
              <a:t>Cutting the pizza into diagonal slices</a:t>
            </a:r>
            <a:endParaRPr lang="en-US" altLang="en-US" sz="1400">
              <a:gradFill>
                <a:gsLst>
                  <a:gs pos="0">
                    <a:srgbClr val="7B32B2"/>
                  </a:gs>
                  <a:gs pos="100000">
                    <a:srgbClr val="401A5D"/>
                  </a:gs>
                </a:gsLst>
                <a:lin scaled="0"/>
              </a:gradFill>
              <a:latin typeface="Times New Roman" panose="02020603050405020304" pitchFamily="18" charset="0"/>
              <a:cs typeface="Times New Roman" panose="02020603050405020304" pitchFamily="18" charset="0"/>
            </a:endParaRPr>
          </a:p>
          <a:p>
            <a:r>
              <a:rPr lang="en-US" altLang="en-US" sz="1400">
                <a:gradFill>
                  <a:gsLst>
                    <a:gs pos="0">
                      <a:srgbClr val="7B32B2"/>
                    </a:gs>
                    <a:gs pos="100000">
                      <a:srgbClr val="401A5D"/>
                    </a:gs>
                  </a:gsLst>
                  <a:lin scaled="0"/>
                </a:gradFill>
                <a:latin typeface="Times New Roman" panose="02020603050405020304" pitchFamily="18" charset="0"/>
                <a:cs typeface="Times New Roman" panose="02020603050405020304" pitchFamily="18" charset="0"/>
              </a:rPr>
              <a:t>Place pizza in official PizzaStore box</a:t>
            </a:r>
            <a:endParaRPr lang="en-US" altLang="en-US" sz="1400">
              <a:gradFill>
                <a:gsLst>
                  <a:gs pos="0">
                    <a:srgbClr val="7B32B2"/>
                  </a:gs>
                  <a:gs pos="100000">
                    <a:srgbClr val="401A5D"/>
                  </a:gs>
                </a:gsLst>
                <a:lin scaled="0"/>
              </a:gradFill>
              <a:latin typeface="Times New Roman" panose="02020603050405020304" pitchFamily="18" charset="0"/>
              <a:cs typeface="Times New Roman" panose="02020603050405020304" pitchFamily="18" charset="0"/>
            </a:endParaRPr>
          </a:p>
          <a:p>
            <a:endParaRPr lang="en-US" altLang="en-US" sz="1400">
              <a:gradFill>
                <a:gsLst>
                  <a:gs pos="0">
                    <a:srgbClr val="7B32B2"/>
                  </a:gs>
                  <a:gs pos="100000">
                    <a:srgbClr val="401A5D"/>
                  </a:gs>
                </a:gsLst>
                <a:lin scaled="0"/>
              </a:gradFill>
              <a:latin typeface="Times New Roman" panose="02020603050405020304" pitchFamily="18" charset="0"/>
              <a:cs typeface="Times New Roman" panose="02020603050405020304" pitchFamily="18" charset="0"/>
            </a:endParaRPr>
          </a:p>
          <a:p>
            <a:r>
              <a:rPr lang="en-US" altLang="en-US" sz="1400">
                <a:gradFill>
                  <a:gsLst>
                    <a:gs pos="0">
                      <a:srgbClr val="7B32B2"/>
                    </a:gs>
                    <a:gs pos="100000">
                      <a:srgbClr val="401A5D"/>
                    </a:gs>
                  </a:gsLst>
                  <a:lin scaled="0"/>
                </a:gradFill>
                <a:latin typeface="Times New Roman" panose="02020603050405020304" pitchFamily="18" charset="0"/>
                <a:cs typeface="Times New Roman" panose="02020603050405020304" pitchFamily="18" charset="0"/>
              </a:rPr>
              <a:t>        Preparing Clams Pizza</a:t>
            </a:r>
            <a:endParaRPr lang="en-US" altLang="en-US" sz="1400">
              <a:gradFill>
                <a:gsLst>
                  <a:gs pos="0">
                    <a:srgbClr val="7B32B2"/>
                  </a:gs>
                  <a:gs pos="100000">
                    <a:srgbClr val="401A5D"/>
                  </a:gs>
                </a:gsLst>
                <a:lin scaled="0"/>
              </a:gradFill>
              <a:latin typeface="Times New Roman" panose="02020603050405020304" pitchFamily="18" charset="0"/>
              <a:cs typeface="Times New Roman" panose="02020603050405020304" pitchFamily="18" charset="0"/>
            </a:endParaRPr>
          </a:p>
          <a:p>
            <a:endParaRPr lang="en-US" altLang="en-US" sz="1400">
              <a:gradFill>
                <a:gsLst>
                  <a:gs pos="0">
                    <a:srgbClr val="7B32B2"/>
                  </a:gs>
                  <a:gs pos="100000">
                    <a:srgbClr val="401A5D"/>
                  </a:gs>
                </a:gsLst>
                <a:lin scaled="0"/>
              </a:gradFill>
              <a:latin typeface="Times New Roman" panose="02020603050405020304" pitchFamily="18" charset="0"/>
              <a:cs typeface="Times New Roman" panose="02020603050405020304" pitchFamily="18" charset="0"/>
            </a:endParaRPr>
          </a:p>
          <a:p>
            <a:r>
              <a:rPr lang="en-US" altLang="en-US" sz="1400">
                <a:gradFill>
                  <a:gsLst>
                    <a:gs pos="0">
                      <a:srgbClr val="7B32B2"/>
                    </a:gs>
                    <a:gs pos="100000">
                      <a:srgbClr val="401A5D"/>
                    </a:gs>
                  </a:gsLst>
                  <a:lin scaled="0"/>
                </a:gradFill>
                <a:latin typeface="Times New Roman" panose="02020603050405020304" pitchFamily="18" charset="0"/>
                <a:cs typeface="Times New Roman" panose="02020603050405020304" pitchFamily="18" charset="0"/>
              </a:rPr>
              <a:t>Tossing dough...</a:t>
            </a:r>
            <a:endParaRPr lang="en-US" altLang="en-US" sz="1400">
              <a:gradFill>
                <a:gsLst>
                  <a:gs pos="0">
                    <a:srgbClr val="7B32B2"/>
                  </a:gs>
                  <a:gs pos="100000">
                    <a:srgbClr val="401A5D"/>
                  </a:gs>
                </a:gsLst>
                <a:lin scaled="0"/>
              </a:gradFill>
              <a:latin typeface="Times New Roman" panose="02020603050405020304" pitchFamily="18" charset="0"/>
              <a:cs typeface="Times New Roman" panose="02020603050405020304" pitchFamily="18" charset="0"/>
            </a:endParaRPr>
          </a:p>
          <a:p>
            <a:r>
              <a:rPr lang="en-US" altLang="en-US" sz="1400">
                <a:gradFill>
                  <a:gsLst>
                    <a:gs pos="0">
                      <a:srgbClr val="7B32B2"/>
                    </a:gs>
                    <a:gs pos="100000">
                      <a:srgbClr val="401A5D"/>
                    </a:gs>
                  </a:gsLst>
                  <a:lin scaled="0"/>
                </a:gradFill>
                <a:latin typeface="Times New Roman" panose="02020603050405020304" pitchFamily="18" charset="0"/>
                <a:cs typeface="Times New Roman" panose="02020603050405020304" pitchFamily="18" charset="0"/>
              </a:rPr>
              <a:t>Adding sauce...</a:t>
            </a:r>
            <a:endParaRPr lang="en-US" altLang="en-US" sz="1400">
              <a:gradFill>
                <a:gsLst>
                  <a:gs pos="0">
                    <a:srgbClr val="7B32B2"/>
                  </a:gs>
                  <a:gs pos="100000">
                    <a:srgbClr val="401A5D"/>
                  </a:gs>
                </a:gsLst>
                <a:lin scaled="0"/>
              </a:gradFill>
              <a:latin typeface="Times New Roman" panose="02020603050405020304" pitchFamily="18" charset="0"/>
              <a:cs typeface="Times New Roman" panose="02020603050405020304" pitchFamily="18" charset="0"/>
            </a:endParaRPr>
          </a:p>
          <a:p>
            <a:r>
              <a:rPr lang="en-US" altLang="en-US" sz="1400">
                <a:gradFill>
                  <a:gsLst>
                    <a:gs pos="0">
                      <a:srgbClr val="7B32B2"/>
                    </a:gs>
                    <a:gs pos="100000">
                      <a:srgbClr val="401A5D"/>
                    </a:gs>
                  </a:gsLst>
                  <a:lin scaled="0"/>
                </a:gradFill>
                <a:latin typeface="Times New Roman" panose="02020603050405020304" pitchFamily="18" charset="0"/>
                <a:cs typeface="Times New Roman" panose="02020603050405020304" pitchFamily="18" charset="0"/>
              </a:rPr>
              <a:t>Adding toppings...</a:t>
            </a:r>
            <a:endParaRPr lang="en-US" altLang="en-US" sz="1400">
              <a:gradFill>
                <a:gsLst>
                  <a:gs pos="0">
                    <a:srgbClr val="7B32B2"/>
                  </a:gs>
                  <a:gs pos="100000">
                    <a:srgbClr val="401A5D"/>
                  </a:gs>
                </a:gsLst>
                <a:lin scaled="0"/>
              </a:gradFill>
              <a:latin typeface="Times New Roman" panose="02020603050405020304" pitchFamily="18" charset="0"/>
              <a:cs typeface="Times New Roman" panose="02020603050405020304" pitchFamily="18" charset="0"/>
            </a:endParaRPr>
          </a:p>
          <a:p>
            <a:r>
              <a:rPr lang="en-US" altLang="en-US" sz="1400">
                <a:gradFill>
                  <a:gsLst>
                    <a:gs pos="0">
                      <a:srgbClr val="7B32B2"/>
                    </a:gs>
                    <a:gs pos="100000">
                      <a:srgbClr val="401A5D"/>
                    </a:gs>
                  </a:gsLst>
                  <a:lin scaled="0"/>
                </a:gradFill>
                <a:latin typeface="Times New Roman" panose="02020603050405020304" pitchFamily="18" charset="0"/>
                <a:cs typeface="Times New Roman" panose="02020603050405020304" pitchFamily="18" charset="0"/>
              </a:rPr>
              <a:t> Grated Regiano Clam</a:t>
            </a:r>
            <a:endParaRPr lang="en-US" altLang="en-US" sz="1400">
              <a:gradFill>
                <a:gsLst>
                  <a:gs pos="0">
                    <a:srgbClr val="7B32B2"/>
                  </a:gs>
                  <a:gs pos="100000">
                    <a:srgbClr val="401A5D"/>
                  </a:gs>
                </a:gsLst>
                <a:lin scaled="0"/>
              </a:gradFill>
              <a:latin typeface="Times New Roman" panose="02020603050405020304" pitchFamily="18" charset="0"/>
              <a:cs typeface="Times New Roman" panose="02020603050405020304" pitchFamily="18" charset="0"/>
            </a:endParaRPr>
          </a:p>
          <a:p>
            <a:r>
              <a:rPr lang="en-US" altLang="en-US" sz="1400">
                <a:gradFill>
                  <a:gsLst>
                    <a:gs pos="0">
                      <a:srgbClr val="7B32B2"/>
                    </a:gs>
                    <a:gs pos="100000">
                      <a:srgbClr val="401A5D"/>
                    </a:gs>
                  </a:gsLst>
                  <a:lin scaled="0"/>
                </a:gradFill>
                <a:latin typeface="Times New Roman" panose="02020603050405020304" pitchFamily="18" charset="0"/>
                <a:cs typeface="Times New Roman" panose="02020603050405020304" pitchFamily="18" charset="0"/>
              </a:rPr>
              <a:t> Fresh Clams</a:t>
            </a:r>
            <a:endParaRPr lang="en-US" altLang="en-US" sz="1400">
              <a:gradFill>
                <a:gsLst>
                  <a:gs pos="0">
                    <a:srgbClr val="7B32B2"/>
                  </a:gs>
                  <a:gs pos="100000">
                    <a:srgbClr val="401A5D"/>
                  </a:gs>
                </a:gsLst>
                <a:lin scaled="0"/>
              </a:gradFill>
              <a:latin typeface="Times New Roman" panose="02020603050405020304" pitchFamily="18" charset="0"/>
              <a:cs typeface="Times New Roman" panose="02020603050405020304" pitchFamily="18" charset="0"/>
            </a:endParaRPr>
          </a:p>
          <a:p>
            <a:r>
              <a:rPr lang="en-US" altLang="en-US" sz="1400">
                <a:gradFill>
                  <a:gsLst>
                    <a:gs pos="0">
                      <a:srgbClr val="7B32B2"/>
                    </a:gs>
                    <a:gs pos="100000">
                      <a:srgbClr val="401A5D"/>
                    </a:gs>
                  </a:gsLst>
                  <a:lin scaled="0"/>
                </a:gradFill>
                <a:latin typeface="Times New Roman" panose="02020603050405020304" pitchFamily="18" charset="0"/>
                <a:cs typeface="Times New Roman" panose="02020603050405020304" pitchFamily="18" charset="0"/>
              </a:rPr>
              <a:t>Bake for 25 minutes at 350</a:t>
            </a:r>
            <a:endParaRPr lang="en-US" altLang="en-US" sz="1400">
              <a:gradFill>
                <a:gsLst>
                  <a:gs pos="0">
                    <a:srgbClr val="7B32B2"/>
                  </a:gs>
                  <a:gs pos="100000">
                    <a:srgbClr val="401A5D"/>
                  </a:gs>
                </a:gsLst>
                <a:lin scaled="0"/>
              </a:gradFill>
              <a:latin typeface="Times New Roman" panose="02020603050405020304" pitchFamily="18" charset="0"/>
              <a:cs typeface="Times New Roman" panose="02020603050405020304" pitchFamily="18" charset="0"/>
            </a:endParaRPr>
          </a:p>
          <a:p>
            <a:r>
              <a:rPr lang="en-US" altLang="en-US" sz="1400">
                <a:gradFill>
                  <a:gsLst>
                    <a:gs pos="0">
                      <a:srgbClr val="7B32B2"/>
                    </a:gs>
                    <a:gs pos="100000">
                      <a:srgbClr val="401A5D"/>
                    </a:gs>
                  </a:gsLst>
                  <a:lin scaled="0"/>
                </a:gradFill>
                <a:latin typeface="Times New Roman" panose="02020603050405020304" pitchFamily="18" charset="0"/>
                <a:cs typeface="Times New Roman" panose="02020603050405020304" pitchFamily="18" charset="0"/>
              </a:rPr>
              <a:t>Cutting the pizza into diagonal slices</a:t>
            </a:r>
            <a:endParaRPr lang="en-US" altLang="en-US" sz="1400">
              <a:gradFill>
                <a:gsLst>
                  <a:gs pos="0">
                    <a:srgbClr val="7B32B2"/>
                  </a:gs>
                  <a:gs pos="100000">
                    <a:srgbClr val="401A5D"/>
                  </a:gs>
                </a:gsLst>
                <a:lin scaled="0"/>
              </a:gradFill>
              <a:latin typeface="Times New Roman" panose="02020603050405020304" pitchFamily="18" charset="0"/>
              <a:cs typeface="Times New Roman" panose="02020603050405020304" pitchFamily="18" charset="0"/>
            </a:endParaRPr>
          </a:p>
          <a:p>
            <a:r>
              <a:rPr lang="en-US" altLang="en-US" sz="1400">
                <a:gradFill>
                  <a:gsLst>
                    <a:gs pos="0">
                      <a:srgbClr val="7B32B2"/>
                    </a:gs>
                    <a:gs pos="100000">
                      <a:srgbClr val="401A5D"/>
                    </a:gs>
                  </a:gsLst>
                  <a:lin scaled="0"/>
                </a:gradFill>
                <a:latin typeface="Times New Roman" panose="02020603050405020304" pitchFamily="18" charset="0"/>
                <a:cs typeface="Times New Roman" panose="02020603050405020304" pitchFamily="18" charset="0"/>
              </a:rPr>
              <a:t>Place pizza in official PizzaStore box</a:t>
            </a:r>
            <a:endParaRPr lang="en-US" altLang="en-US" sz="1400">
              <a:gradFill>
                <a:gsLst>
                  <a:gs pos="0">
                    <a:srgbClr val="7B32B2"/>
                  </a:gs>
                  <a:gs pos="100000">
                    <a:srgbClr val="401A5D"/>
                  </a:gs>
                </a:gsLst>
                <a:lin scaled="0"/>
              </a:gradFill>
              <a:latin typeface="Times New Roman" panose="02020603050405020304" pitchFamily="18" charset="0"/>
              <a:cs typeface="Times New Roman" panose="02020603050405020304" pitchFamily="18" charset="0"/>
            </a:endParaRPr>
          </a:p>
        </p:txBody>
      </p:sp>
      <p:cxnSp>
        <p:nvCxnSpPr>
          <p:cNvPr id="7" name="Straight Connector 6"/>
          <p:cNvCxnSpPr/>
          <p:nvPr/>
        </p:nvCxnSpPr>
        <p:spPr>
          <a:xfrm>
            <a:off x="7078980" y="2167255"/>
            <a:ext cx="23495" cy="3507740"/>
          </a:xfrm>
          <a:prstGeom prst="line">
            <a:avLst/>
          </a:prstGeom>
          <a:ln w="38100">
            <a:solidFill>
              <a:schemeClr val="accent1"/>
            </a:solidFill>
          </a:ln>
        </p:spPr>
        <p:style>
          <a:lnRef idx="2">
            <a:schemeClr val="accent1"/>
          </a:lnRef>
          <a:fillRef idx="0">
            <a:srgbClr val="FFFFFF"/>
          </a:fillRef>
          <a:effectRef idx="0">
            <a:srgbClr val="FFFFFF"/>
          </a:effectRef>
          <a:fontRef idx="minor">
            <a:schemeClr val="tx1"/>
          </a:fontRef>
        </p:style>
      </p:cxnSp>
      <p:sp>
        <p:nvSpPr>
          <p:cNvPr id="8" name="Text Box 7"/>
          <p:cNvSpPr txBox="1"/>
          <p:nvPr/>
        </p:nvSpPr>
        <p:spPr>
          <a:xfrm>
            <a:off x="3665220" y="2379345"/>
            <a:ext cx="1365885" cy="389890"/>
          </a:xfrm>
          <a:prstGeom prst="rect">
            <a:avLst/>
          </a:prstGeom>
          <a:noFill/>
        </p:spPr>
        <p:txBody>
          <a:bodyPr wrap="square" rtlCol="0">
            <a:noAutofit/>
          </a:bodyPr>
          <a:p>
            <a:r>
              <a:rPr lang="en-US" b="1">
                <a:solidFill>
                  <a:srgbClr val="C00000"/>
                </a:solidFill>
                <a:latin typeface="Times New Roman" panose="02020603050405020304" pitchFamily="18" charset="0"/>
                <a:cs typeface="Times New Roman" panose="02020603050405020304" pitchFamily="18" charset="0"/>
              </a:rPr>
              <a:t>main.cpp</a:t>
            </a:r>
            <a:endParaRPr lang="en-US" b="1">
              <a:solidFill>
                <a:srgbClr val="C00000"/>
              </a:solidFill>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14166</Words>
  <Application>WPS Presentation</Application>
  <PresentationFormat>Widescreen</PresentationFormat>
  <Paragraphs>676</Paragraphs>
  <Slides>18</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18</vt:i4>
      </vt:variant>
    </vt:vector>
  </HeadingPairs>
  <TitlesOfParts>
    <vt:vector size="31" baseType="lpstr">
      <vt:lpstr>Arial</vt:lpstr>
      <vt:lpstr>SimSun</vt:lpstr>
      <vt:lpstr>Wingdings</vt:lpstr>
      <vt:lpstr>Times New Roman</vt:lpstr>
      <vt:lpstr>Consolas</vt:lpstr>
      <vt:lpstr>Calibri Light</vt:lpstr>
      <vt:lpstr>Calibri</vt:lpstr>
      <vt:lpstr>Microsoft YaHei</vt:lpstr>
      <vt:lpstr>Arial Unicode MS</vt:lpstr>
      <vt:lpstr>Wingdings</vt:lpstr>
      <vt:lpstr>Sitka Small Semibold</vt:lpstr>
      <vt:lpstr>Consolas</vt:lpstr>
      <vt:lpstr>Office Theme</vt:lpstr>
      <vt:lpstr>CSE327  Software Engineering</vt:lpstr>
      <vt:lpstr>Factory Design Pattern</vt:lpstr>
      <vt:lpstr>Factory Design Pattern</vt:lpstr>
      <vt:lpstr>Factory Design Pattern</vt:lpstr>
      <vt:lpstr>Factory Design Pattern Steps to Follow</vt:lpstr>
      <vt:lpstr>Example - Code</vt:lpstr>
      <vt:lpstr>Example - Code</vt:lpstr>
      <vt:lpstr>Example - Code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CSE327  Software Engineering</dc:title>
  <dc:creator>A K M Iqtidar Newaz</dc:creator>
  <cp:lastModifiedBy>iqtid</cp:lastModifiedBy>
  <cp:revision>69</cp:revision>
  <dcterms:created xsi:type="dcterms:W3CDTF">2024-09-23T05:24:00Z</dcterms:created>
  <dcterms:modified xsi:type="dcterms:W3CDTF">2025-02-22T04:30:31Z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D10487E847C24EFCBFA7C293692F1AC2_12</vt:lpwstr>
  </property>
  <property fmtid="{D5CDD505-2E9C-101B-9397-08002B2CF9AE}" pid="3" name="KSOProductBuildVer">
    <vt:lpwstr>1033-12.2.0.19805</vt:lpwstr>
  </property>
</Properties>
</file>