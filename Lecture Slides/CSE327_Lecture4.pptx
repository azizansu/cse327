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37" autoAdjust="0"/>
  </p:normalViewPr>
  <p:slideViewPr>
    <p:cSldViewPr snapToGrid="0">
      <p:cViewPr varScale="1">
        <p:scale>
          <a:sx n="97" d="100"/>
          <a:sy n="97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9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7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890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067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1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7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7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5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70F9EB-EB5B-4316-A69E-8C1D356857D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EF252E-BE98-4187-9840-0C69B1B18D9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293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hashtag/r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A6941-4218-BEFC-620B-B4296BF481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43F56EB-0BE7-3436-B614-DD2B65B4D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- 4</a:t>
            </a:r>
          </a:p>
        </p:txBody>
      </p:sp>
    </p:spTree>
    <p:extLst>
      <p:ext uri="{BB962C8B-B14F-4D97-AF65-F5344CB8AC3E}">
        <p14:creationId xmlns:p14="http://schemas.microsoft.com/office/powerpoint/2010/main" val="105797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4A371F-C906-02FC-B8D5-BD791DED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-2857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75084F5-0ACD-E3D0-EF97-454C63D000BA}"/>
              </a:ext>
            </a:extLst>
          </p:cNvPr>
          <p:cNvSpPr/>
          <p:nvPr/>
        </p:nvSpPr>
        <p:spPr>
          <a:xfrm>
            <a:off x="5309115" y="1829564"/>
            <a:ext cx="1085231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E48F0FF-51DA-CCB7-E2D0-0555B1A43B00}"/>
              </a:ext>
            </a:extLst>
          </p:cNvPr>
          <p:cNvSpPr/>
          <p:nvPr/>
        </p:nvSpPr>
        <p:spPr>
          <a:xfrm>
            <a:off x="5309117" y="2608125"/>
            <a:ext cx="1085229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0C0C967-8B25-E41C-4CC5-13635F855604}"/>
              </a:ext>
            </a:extLst>
          </p:cNvPr>
          <p:cNvSpPr/>
          <p:nvPr/>
        </p:nvSpPr>
        <p:spPr>
          <a:xfrm>
            <a:off x="3746706" y="3409948"/>
            <a:ext cx="1038226" cy="825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 Requirements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suggestion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E68452E9-BD81-8547-2666-C41DD474C36C}"/>
              </a:ext>
            </a:extLst>
          </p:cNvPr>
          <p:cNvSpPr/>
          <p:nvPr/>
        </p:nvSpPr>
        <p:spPr>
          <a:xfrm>
            <a:off x="6918531" y="3409948"/>
            <a:ext cx="1038226" cy="825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81003214-FDE1-3504-657F-D82AD9EB6AE6}"/>
              </a:ext>
            </a:extLst>
          </p:cNvPr>
          <p:cNvSpPr/>
          <p:nvPr/>
        </p:nvSpPr>
        <p:spPr>
          <a:xfrm>
            <a:off x="5338002" y="3693498"/>
            <a:ext cx="1085225" cy="73240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Evaluation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D746EDB-2232-B8F2-E188-50BD2D025F03}"/>
              </a:ext>
            </a:extLst>
          </p:cNvPr>
          <p:cNvSpPr/>
          <p:nvPr/>
        </p:nvSpPr>
        <p:spPr>
          <a:xfrm>
            <a:off x="5602844" y="4730169"/>
            <a:ext cx="1009650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708438F-D3BE-48BF-EE93-8CFCB17D6626}"/>
              </a:ext>
            </a:extLst>
          </p:cNvPr>
          <p:cNvSpPr/>
          <p:nvPr/>
        </p:nvSpPr>
        <p:spPr>
          <a:xfrm>
            <a:off x="6898243" y="5046875"/>
            <a:ext cx="1171577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AF4C68DD-5A47-9702-EF1D-B03088D6D6AE}"/>
              </a:ext>
            </a:extLst>
          </p:cNvPr>
          <p:cNvSpPr/>
          <p:nvPr/>
        </p:nvSpPr>
        <p:spPr>
          <a:xfrm>
            <a:off x="8355569" y="5342148"/>
            <a:ext cx="1009650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0E938EA-61B1-0157-9373-CB460F487A2C}"/>
              </a:ext>
            </a:extLst>
          </p:cNvPr>
          <p:cNvSpPr/>
          <p:nvPr/>
        </p:nvSpPr>
        <p:spPr>
          <a:xfrm>
            <a:off x="9650968" y="5658854"/>
            <a:ext cx="1009650" cy="6334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B611D096-C599-10B3-971A-78724771686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851731" y="2462976"/>
            <a:ext cx="1" cy="14514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B5C954F4-0856-675D-66F6-7001380F039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6423227" y="3657240"/>
            <a:ext cx="465184" cy="40246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F94817EA-6E77-2BFE-240F-6F3F3E6F5EF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4346" y="2924831"/>
            <a:ext cx="513729" cy="73240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4D62F358-94CC-49BB-F2A0-92A4632C0027}"/>
              </a:ext>
            </a:extLst>
          </p:cNvPr>
          <p:cNvCxnSpPr>
            <a:cxnSpLocks/>
          </p:cNvCxnSpPr>
          <p:nvPr/>
        </p:nvCxnSpPr>
        <p:spPr>
          <a:xfrm flipH="1" flipV="1">
            <a:off x="4779548" y="3471719"/>
            <a:ext cx="561973" cy="50105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546A20B4-F152-C205-6D24-AF05CD68ADDA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790004" y="2924831"/>
            <a:ext cx="519113" cy="58608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C8D37FD3-E2E3-BDC4-C8D0-F864C397D09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880615" y="4425907"/>
            <a:ext cx="0" cy="31829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C64CC884-DB72-001E-9A1B-D04BFE4A3E6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612494" y="5046875"/>
            <a:ext cx="285749" cy="31670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34B2708A-A71C-3947-2016-9A22162E9BD9}"/>
              </a:ext>
            </a:extLst>
          </p:cNvPr>
          <p:cNvCxnSpPr>
            <a:cxnSpLocks/>
          </p:cNvCxnSpPr>
          <p:nvPr/>
        </p:nvCxnSpPr>
        <p:spPr>
          <a:xfrm>
            <a:off x="8069820" y="5393742"/>
            <a:ext cx="285749" cy="31670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59F6DEAB-8BF1-B894-E9A1-DB1D43EA611C}"/>
              </a:ext>
            </a:extLst>
          </p:cNvPr>
          <p:cNvCxnSpPr>
            <a:cxnSpLocks/>
          </p:cNvCxnSpPr>
          <p:nvPr/>
        </p:nvCxnSpPr>
        <p:spPr>
          <a:xfrm>
            <a:off x="9384271" y="5710448"/>
            <a:ext cx="285749" cy="31670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683C209D-9248-E61C-8F53-0845BFDADB42}"/>
              </a:ext>
            </a:extLst>
          </p:cNvPr>
          <p:cNvCxnSpPr>
            <a:cxnSpLocks/>
          </p:cNvCxnSpPr>
          <p:nvPr/>
        </p:nvCxnSpPr>
        <p:spPr>
          <a:xfrm>
            <a:off x="3395816" y="1829564"/>
            <a:ext cx="0" cy="290958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33E00356-9D13-EF14-E560-61511877C24E}"/>
              </a:ext>
            </a:extLst>
          </p:cNvPr>
          <p:cNvCxnSpPr>
            <a:cxnSpLocks/>
          </p:cNvCxnSpPr>
          <p:nvPr/>
        </p:nvCxnSpPr>
        <p:spPr>
          <a:xfrm flipH="1">
            <a:off x="3395816" y="4965339"/>
            <a:ext cx="3687" cy="132692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C690341C-5C5A-DA49-17E9-40E334F2B553}"/>
              </a:ext>
            </a:extLst>
          </p:cNvPr>
          <p:cNvCxnSpPr>
            <a:cxnSpLocks/>
          </p:cNvCxnSpPr>
          <p:nvPr/>
        </p:nvCxnSpPr>
        <p:spPr>
          <a:xfrm>
            <a:off x="3204841" y="4855418"/>
            <a:ext cx="3426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06A957A1-2C23-7FB6-C5BD-CD25B42AB314}"/>
              </a:ext>
            </a:extLst>
          </p:cNvPr>
          <p:cNvSpPr txBox="1"/>
          <p:nvPr/>
        </p:nvSpPr>
        <p:spPr>
          <a:xfrm>
            <a:off x="1724949" y="2384702"/>
            <a:ext cx="147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53A6CD20-6166-E0E0-A782-C7DAC729EEAD}"/>
              </a:ext>
            </a:extLst>
          </p:cNvPr>
          <p:cNvSpPr txBox="1"/>
          <p:nvPr/>
        </p:nvSpPr>
        <p:spPr>
          <a:xfrm>
            <a:off x="1724949" y="5363581"/>
            <a:ext cx="147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153864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C87973-137B-D5D0-19EC-5519D95A2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Model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CAC6BB-7AF5-71F5-74D1-D409103AD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prototype model?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prototype model is a toy/demo implementation of the actual product or system.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prototype model usually exhibits limited functional capabilities, low reliability, and inefficient performance as compared to the actual software.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prototype model is usually built using several shortcuts. The shortcuts might involve using inaccurate, inefficient or dummy functions.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prototype usually turns out to be a very crude version of the actual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0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D225F1-D81A-CCB8-8420-4D30F198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Model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09A3AF-F0DB-E855-53B8-596BC9AB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prototype model, prototyping starts with initial requirements gathering phase.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Quick design is carried out and a prototype is built. The developed prototype is submitted to the customer for his assessment.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customer feedback, the requirements are refined, and the prototype is suitably modified.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cycle of obtaining customer feedback and modifying the prototype continues until the customer approves the prototype.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Once the customer approves the prototype, the actual system is developed using the iterative waterfall approach.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14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4E5540-D18C-78E2-1890-0D3566CE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6CD7D5-8BFC-7FF0-C905-FAB2BFC2E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Prototype Model?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illustrate the input data formats, messages, reports, and interactive dialogues to the customer.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gain a better understanding of the customer’s needs: how the screen might look like, how the user interface would behave, and how the system would produce the output?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examine the technical issues associated with product development.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not possible to get the perfect product in the first attempt.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engineers and researchers advocate that if you want to develop a good product you must plan to throw away the first version.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37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877A91-22E2-45C3-F1E0-71E13C98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BA9B97-6E4A-3C61-A803-FC4D4DDCF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Demo working model: Customer get demo working model of actual product which help them to give a better understanding and attain a high level of satisfaction.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 requirement: Based on the customer feedback, the requirements are redefined, and the prototype is suitably modified till final approval.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Missing functionality: can be easily established.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Easy error detection: It saves time and cost in developing the prototype and enhance the quality of the final product.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Flexibility: in the development phase.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40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393A1A-7C21-573F-DA25-761EC409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8FE946-4970-5204-F5F2-25D69C68C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Time-consuming: As the prototype is being modified time to time according to customer requirement which usually increases the time of completion of the product.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Complexity: Change in the requirement usually expand the scope of the product beyond its original plan and thus increase the complexity.</a:t>
            </a:r>
            <a:endParaRPr lang="en-US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Poor Documentation: Continuous changing of requirement can lead to poor documentation.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Unpredictability of no of iteration: It is difficult to determine the no of iteration required before the prototype is finally accepted by the customer.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Confusion: Customer can confuse between the actual product and prototype.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51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DC83E7-D8BE-7F01-DFD5-DBEDB3B3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CFE374-5054-B520-C372-46822EED1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Requirement Engineering?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Requirements engineering (</a:t>
            </a:r>
            <a:r>
              <a:rPr lang="en-US" sz="2600" u="sng" dirty="0">
                <a:solidFill>
                  <a:srgbClr val="065FD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</a:t>
            </a:r>
            <a:r>
              <a:rPr lang="en-US" sz="26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refers to the process of defining, documenting, and maintaining requirements in the engineering design process.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Requirement engineering provides the appropriate mechanism to understand:	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customer desires [types of software, interface]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 need [What we need]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Assessing the feasibility [Economic feasibility, technical, operational]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6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Negotiation reasonable solution [Prioritize the modules]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953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57DB56-B4CC-7BC7-23F0-AA1CCE7F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F888EA-FC73-3D24-FABD-1135CB821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Specifying the solution clearly [What we have and not]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Validating the specification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3654104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F76C6D3-15A2-1375-DD28-90C3747F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76AF3DB-6E79-5F19-D15C-7BB46658A1A7}"/>
              </a:ext>
            </a:extLst>
          </p:cNvPr>
          <p:cNvSpPr txBox="1"/>
          <p:nvPr/>
        </p:nvSpPr>
        <p:spPr>
          <a:xfrm>
            <a:off x="4303129" y="1823380"/>
            <a:ext cx="2356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Requirement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E28DA3-218E-F409-9E1B-B7EB6F1DFA07}"/>
              </a:ext>
            </a:extLst>
          </p:cNvPr>
          <p:cNvSpPr txBox="1"/>
          <p:nvPr/>
        </p:nvSpPr>
        <p:spPr>
          <a:xfrm>
            <a:off x="1767815" y="3148943"/>
            <a:ext cx="199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C3EC95B-7699-8ABB-8F97-31378BE5363D}"/>
              </a:ext>
            </a:extLst>
          </p:cNvPr>
          <p:cNvSpPr txBox="1"/>
          <p:nvPr/>
        </p:nvSpPr>
        <p:spPr>
          <a:xfrm>
            <a:off x="6952254" y="3148943"/>
            <a:ext cx="223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A44DBE2-9FDC-E308-5A4B-FF84DC0C28E8}"/>
              </a:ext>
            </a:extLst>
          </p:cNvPr>
          <p:cNvSpPr txBox="1"/>
          <p:nvPr/>
        </p:nvSpPr>
        <p:spPr>
          <a:xfrm>
            <a:off x="1064808" y="3560330"/>
            <a:ext cx="41152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are statements, in a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plus diagrams, of what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services the system is expected to provide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the constraints under which it must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CFCDA0B-9D68-AB02-912E-56F77BCD8960}"/>
              </a:ext>
            </a:extLst>
          </p:cNvPr>
          <p:cNvSpPr txBox="1"/>
          <p:nvPr/>
        </p:nvSpPr>
        <p:spPr>
          <a:xfrm>
            <a:off x="6767299" y="3518275"/>
            <a:ext cx="450636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set out the system’s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functions, services and operational constraints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detail. The system requirements document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(sometimes called a </a:t>
            </a:r>
            <a:r>
              <a:rPr lang="en-US" b="1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specification</a:t>
            </a: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should be precise.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should define exactly what is to be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may be part of the contract between the </a:t>
            </a:r>
          </a:p>
          <a:p>
            <a:r>
              <a:rPr lang="en-US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buyer and the software developers.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ADF8DF3-40B6-7C0F-684E-C243E38245FA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2763280" y="2192712"/>
            <a:ext cx="2768167" cy="9562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A2F57485-7719-F681-1818-8B0DBAC2DC6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481272" y="2192712"/>
            <a:ext cx="2590359" cy="95623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856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3F1D65-4886-EE62-4F24-7096653A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06" y="43386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DE3A9F1-89D4-4586-B9CF-9B6151CEB280}"/>
              </a:ext>
            </a:extLst>
          </p:cNvPr>
          <p:cNvSpPr txBox="1"/>
          <p:nvPr/>
        </p:nvSpPr>
        <p:spPr>
          <a:xfrm>
            <a:off x="3840004" y="1819589"/>
            <a:ext cx="3541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System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06310C5-7376-96BB-845D-FD9CF27B461B}"/>
              </a:ext>
            </a:extLst>
          </p:cNvPr>
          <p:cNvSpPr txBox="1"/>
          <p:nvPr/>
        </p:nvSpPr>
        <p:spPr>
          <a:xfrm>
            <a:off x="628501" y="3149728"/>
            <a:ext cx="259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152E40A-1F04-90F7-C7C7-9F424E4386F6}"/>
              </a:ext>
            </a:extLst>
          </p:cNvPr>
          <p:cNvSpPr txBox="1"/>
          <p:nvPr/>
        </p:nvSpPr>
        <p:spPr>
          <a:xfrm>
            <a:off x="8344611" y="3149728"/>
            <a:ext cx="2315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Domain Requirement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B99CC54-C521-6E97-7C0F-8EDBD4DDF7B3}"/>
              </a:ext>
            </a:extLst>
          </p:cNvPr>
          <p:cNvSpPr txBox="1"/>
          <p:nvPr/>
        </p:nvSpPr>
        <p:spPr>
          <a:xfrm>
            <a:off x="603406" y="3724752"/>
            <a:ext cx="287751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statements of </a:t>
            </a:r>
          </a:p>
          <a:p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services the system should provide, how the system should react to inputs and how the system should behave in particular situations.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the functional </a:t>
            </a:r>
          </a:p>
          <a:p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may also explicitly state what the system should not do.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C8C68E2-3C9A-144F-C731-7934F2B55DCA}"/>
              </a:ext>
            </a:extLst>
          </p:cNvPr>
          <p:cNvSpPr txBox="1"/>
          <p:nvPr/>
        </p:nvSpPr>
        <p:spPr>
          <a:xfrm>
            <a:off x="7805683" y="3724752"/>
            <a:ext cx="383310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Comes from the application domain</a:t>
            </a:r>
          </a:p>
          <a:p>
            <a:r>
              <a:rPr lang="en-US" sz="15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system and that reflect the characteristics</a:t>
            </a:r>
          </a:p>
          <a:p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constraints of that domain.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let's say we want to buy mouse, </a:t>
            </a:r>
          </a:p>
          <a:p>
            <a:r>
              <a:rPr lang="en-US" sz="15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salesman showing us keyboard.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need to know how keyboard look like.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>
              <a:solidFill>
                <a:srgbClr val="13131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34C4472A-B689-9373-2234-49210A00D02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1927415" y="2219699"/>
            <a:ext cx="3683459" cy="93002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5CBC7926-7F14-51E5-0CE7-9E7CB0E4F21E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610874" y="2219699"/>
            <a:ext cx="3891587" cy="93002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41FB230-319D-AC16-E99A-ACE58940326B}"/>
              </a:ext>
            </a:extLst>
          </p:cNvPr>
          <p:cNvSpPr txBox="1"/>
          <p:nvPr/>
        </p:nvSpPr>
        <p:spPr>
          <a:xfrm>
            <a:off x="4134509" y="3149728"/>
            <a:ext cx="2944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Nonfunctional Requirement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12859E1-FDDB-D336-9B2A-B093F4316E64}"/>
              </a:ext>
            </a:extLst>
          </p:cNvPr>
          <p:cNvSpPr txBox="1"/>
          <p:nvPr/>
        </p:nvSpPr>
        <p:spPr>
          <a:xfrm>
            <a:off x="4090312" y="3724752"/>
            <a:ext cx="310597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are constraints on the services or functions offered by the system.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include timing constraints, constraints on the development process and standards.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Nonfunctional</a:t>
            </a:r>
            <a:r>
              <a:rPr lang="en-US" sz="15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often apply to the system as a whole.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>
                <a:solidFill>
                  <a:srgbClr val="13131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do not usually just apply to individual system features or services. 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CD93B3FA-24D3-5486-E113-2AFF6774736D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5606547" y="2219699"/>
            <a:ext cx="4327" cy="93002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5437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116</TotalTime>
  <Words>843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Times New Roman</vt:lpstr>
      <vt:lpstr>Wingdings</vt:lpstr>
      <vt:lpstr>Retrospect</vt:lpstr>
      <vt:lpstr>CSE327  Software Engineering</vt:lpstr>
      <vt:lpstr>Prototype Model</vt:lpstr>
      <vt:lpstr>Prototype Model</vt:lpstr>
      <vt:lpstr>Prototype Model</vt:lpstr>
      <vt:lpstr>Prototype Model</vt:lpstr>
      <vt:lpstr>Prototype Model</vt:lpstr>
      <vt:lpstr>Prototype Model</vt:lpstr>
      <vt:lpstr>Requirement Engineering</vt:lpstr>
      <vt:lpstr>Requirement Engineering</vt:lpstr>
      <vt:lpstr>Requirement Engineering</vt:lpstr>
      <vt:lpstr>System Requirements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45</cp:revision>
  <dcterms:created xsi:type="dcterms:W3CDTF">2024-09-09T10:30:56Z</dcterms:created>
  <dcterms:modified xsi:type="dcterms:W3CDTF">2025-01-24T14:23:15Z</dcterms:modified>
</cp:coreProperties>
</file>