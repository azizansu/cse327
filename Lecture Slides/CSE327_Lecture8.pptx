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58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9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7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14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1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2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6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7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4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0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08B7E8-FFFA-4B69-B722-EE8EB26FCEFB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29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499F8A-9435-C0D9-A20B-1E2B3CDCA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5077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D17E59A-42EA-716B-9881-3C6515D63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- 9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4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00BF68-BAA9-9742-C328-0CAB26AC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6320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AA6278-0011-75F9-4666-D2CED367E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engineering, a 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general repeatable solution to a commonly occurring problem in software design. A design pattern isn't a finished design that can be transformed directly into code. It is a description or template for how to solve a problem that can be used in many different situations.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describes a problem that occurs over and over multiple times in our environment. And core of the solution to that problem can be used a million times without ever doing it the same way twice.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 of design pattern: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1940893B-6BE8-FEEB-257C-455825B3FDF4}"/>
              </a:ext>
            </a:extLst>
          </p:cNvPr>
          <p:cNvCxnSpPr>
            <a:cxnSpLocks/>
          </p:cNvCxnSpPr>
          <p:nvPr/>
        </p:nvCxnSpPr>
        <p:spPr>
          <a:xfrm>
            <a:off x="6096000" y="4226746"/>
            <a:ext cx="0" cy="948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E22C2930-873F-3142-8E2E-BCC05DB63CE7}"/>
              </a:ext>
            </a:extLst>
          </p:cNvPr>
          <p:cNvCxnSpPr>
            <a:cxnSpLocks/>
          </p:cNvCxnSpPr>
          <p:nvPr/>
        </p:nvCxnSpPr>
        <p:spPr>
          <a:xfrm>
            <a:off x="3362632" y="4565870"/>
            <a:ext cx="5319251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DB25ECA-7316-9CA1-A7AC-C9B657964038}"/>
              </a:ext>
            </a:extLst>
          </p:cNvPr>
          <p:cNvSpPr txBox="1"/>
          <p:nvPr/>
        </p:nvSpPr>
        <p:spPr>
          <a:xfrm>
            <a:off x="4294467" y="3806884"/>
            <a:ext cx="3603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Design Patterns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0EFB8AEA-E951-93A7-E17A-E21D7E97F787}"/>
              </a:ext>
            </a:extLst>
          </p:cNvPr>
          <p:cNvCxnSpPr>
            <a:cxnSpLocks/>
          </p:cNvCxnSpPr>
          <p:nvPr/>
        </p:nvCxnSpPr>
        <p:spPr>
          <a:xfrm>
            <a:off x="3362632" y="4565870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49D4A731-ED27-8915-B34E-7B4C0BBE538F}"/>
              </a:ext>
            </a:extLst>
          </p:cNvPr>
          <p:cNvCxnSpPr>
            <a:cxnSpLocks/>
          </p:cNvCxnSpPr>
          <p:nvPr/>
        </p:nvCxnSpPr>
        <p:spPr>
          <a:xfrm>
            <a:off x="8681883" y="4565870"/>
            <a:ext cx="0" cy="582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F5A9A20B-46B1-EA5A-2BCB-0B1761A6A062}"/>
              </a:ext>
            </a:extLst>
          </p:cNvPr>
          <p:cNvSpPr txBox="1"/>
          <p:nvPr/>
        </p:nvSpPr>
        <p:spPr>
          <a:xfrm>
            <a:off x="1828799" y="5244023"/>
            <a:ext cx="306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2E015384-C65E-42E8-09A2-28B2DC6A6C2D}"/>
              </a:ext>
            </a:extLst>
          </p:cNvPr>
          <p:cNvSpPr txBox="1"/>
          <p:nvPr/>
        </p:nvSpPr>
        <p:spPr>
          <a:xfrm>
            <a:off x="4562167" y="5224271"/>
            <a:ext cx="306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CAD3A76F-8390-6EFB-9558-CC9A83B34E3A}"/>
              </a:ext>
            </a:extLst>
          </p:cNvPr>
          <p:cNvSpPr txBox="1"/>
          <p:nvPr/>
        </p:nvSpPr>
        <p:spPr>
          <a:xfrm>
            <a:off x="7148050" y="5224271"/>
            <a:ext cx="3067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</a:p>
        </p:txBody>
      </p:sp>
    </p:spTree>
    <p:extLst>
      <p:ext uri="{BB962C8B-B14F-4D97-AF65-F5344CB8AC3E}">
        <p14:creationId xmlns:p14="http://schemas.microsoft.com/office/powerpoint/2010/main" val="317503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FE56948-DD41-035B-ABB5-D9825FEF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7E7579-14BE-39AF-0766-9D109B55C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632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design patterns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3AE0E8CC-BCB6-6B57-C399-75C79D20E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4054940"/>
              </p:ext>
            </p:extLst>
          </p:nvPr>
        </p:nvGraphicFramePr>
        <p:xfrm>
          <a:off x="1096963" y="1846263"/>
          <a:ext cx="10058397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2799">
                  <a:extLst>
                    <a:ext uri="{9D8B030D-6E8A-4147-A177-3AD203B41FA5}">
                      <a16:colId xmlns="" xmlns:a16="http://schemas.microsoft.com/office/drawing/2014/main" val="1181718808"/>
                    </a:ext>
                  </a:extLst>
                </a:gridCol>
                <a:gridCol w="3352799">
                  <a:extLst>
                    <a:ext uri="{9D8B030D-6E8A-4147-A177-3AD203B41FA5}">
                      <a16:colId xmlns="" xmlns:a16="http://schemas.microsoft.com/office/drawing/2014/main" val="2978480724"/>
                    </a:ext>
                  </a:extLst>
                </a:gridCol>
                <a:gridCol w="3352799">
                  <a:extLst>
                    <a:ext uri="{9D8B030D-6E8A-4147-A177-3AD203B41FA5}">
                      <a16:colId xmlns="" xmlns:a16="http://schemas.microsoft.com/office/drawing/2014/main" val="113808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Creational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782951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creating / instantiating objects and classes. Example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Factory Method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 Factory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Builder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Singleton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structuring more than one classes or objects together. Moreover, we will dive into inheritance, interface segregation principle etc. Example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Adapter (class)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Adapter (object)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Decorator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Façade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Flyweight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Proxy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identifying and setting up common communication patterns among objects. Example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Iterator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Mediator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Memento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Observer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541389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692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D486BA-1DF3-F72C-7149-0F458D08E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Pattern (Behavioral)</a:t>
            </a:r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9CBD96FE-D723-5A46-B609-D5006A611F80}"/>
              </a:ext>
            </a:extLst>
          </p:cNvPr>
          <p:cNvSpPr/>
          <p:nvPr/>
        </p:nvSpPr>
        <p:spPr>
          <a:xfrm>
            <a:off x="1946789" y="2885907"/>
            <a:ext cx="2576052" cy="278498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(Observable)</a:t>
            </a: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76DB42E3-4B79-FE24-3B2E-6FC96C8CDDF4}"/>
              </a:ext>
            </a:extLst>
          </p:cNvPr>
          <p:cNvSpPr/>
          <p:nvPr/>
        </p:nvSpPr>
        <p:spPr>
          <a:xfrm>
            <a:off x="6499124" y="3416850"/>
            <a:ext cx="383458" cy="3834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6D85BB3A-4CBF-98A5-561A-00FA6F1934EF}"/>
              </a:ext>
            </a:extLst>
          </p:cNvPr>
          <p:cNvSpPr/>
          <p:nvPr/>
        </p:nvSpPr>
        <p:spPr>
          <a:xfrm>
            <a:off x="6499124" y="4086671"/>
            <a:ext cx="383458" cy="3834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B353D95C-668A-1E4F-1B37-A0D46F1189D4}"/>
              </a:ext>
            </a:extLst>
          </p:cNvPr>
          <p:cNvSpPr/>
          <p:nvPr/>
        </p:nvSpPr>
        <p:spPr>
          <a:xfrm>
            <a:off x="6499124" y="5426313"/>
            <a:ext cx="383458" cy="3834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3652B8A0-8B37-2095-C2E0-C895BD05C9E7}"/>
              </a:ext>
            </a:extLst>
          </p:cNvPr>
          <p:cNvSpPr/>
          <p:nvPr/>
        </p:nvSpPr>
        <p:spPr>
          <a:xfrm>
            <a:off x="6499124" y="2747029"/>
            <a:ext cx="383458" cy="3834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BFCF11AE-59D7-AFF0-7799-0F4A440F1258}"/>
              </a:ext>
            </a:extLst>
          </p:cNvPr>
          <p:cNvSpPr/>
          <p:nvPr/>
        </p:nvSpPr>
        <p:spPr>
          <a:xfrm>
            <a:off x="6499124" y="4756492"/>
            <a:ext cx="383458" cy="38345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B81126E7-0C99-C7A2-A24E-CBA83702B407}"/>
              </a:ext>
            </a:extLst>
          </p:cNvPr>
          <p:cNvCxnSpPr>
            <a:cxnSpLocks/>
            <a:stCxn id="4" idx="6"/>
            <a:endCxn id="14" idx="2"/>
          </p:cNvCxnSpPr>
          <p:nvPr/>
        </p:nvCxnSpPr>
        <p:spPr>
          <a:xfrm flipV="1">
            <a:off x="4522841" y="2938758"/>
            <a:ext cx="1976283" cy="1339643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3AC65936-C34D-4A57-5997-1CFF76AD8F29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4522841" y="3608579"/>
            <a:ext cx="1976283" cy="669822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6774081A-8EC9-6DC9-70FF-B6DA4879A6B0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>
          <a:xfrm flipV="1">
            <a:off x="4522841" y="4278400"/>
            <a:ext cx="1976283" cy="1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FF2705A2-8573-DE29-8CDC-CDB68C76D13A}"/>
              </a:ext>
            </a:extLst>
          </p:cNvPr>
          <p:cNvCxnSpPr>
            <a:cxnSpLocks/>
            <a:stCxn id="4" idx="6"/>
            <a:endCxn id="15" idx="2"/>
          </p:cNvCxnSpPr>
          <p:nvPr/>
        </p:nvCxnSpPr>
        <p:spPr>
          <a:xfrm>
            <a:off x="4522841" y="4278401"/>
            <a:ext cx="1976283" cy="66982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="" xmlns:a16="http://schemas.microsoft.com/office/drawing/2014/main" id="{A05E5740-D7BC-7349-4924-F6E76EB22890}"/>
              </a:ext>
            </a:extLst>
          </p:cNvPr>
          <p:cNvCxnSpPr>
            <a:cxnSpLocks/>
            <a:stCxn id="4" idx="6"/>
            <a:endCxn id="13" idx="2"/>
          </p:cNvCxnSpPr>
          <p:nvPr/>
        </p:nvCxnSpPr>
        <p:spPr>
          <a:xfrm>
            <a:off x="4522841" y="4278401"/>
            <a:ext cx="1976283" cy="1339641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ight Brace 39">
            <a:extLst>
              <a:ext uri="{FF2B5EF4-FFF2-40B4-BE49-F238E27FC236}">
                <a16:creationId xmlns="" xmlns:a16="http://schemas.microsoft.com/office/drawing/2014/main" id="{5EFCD69E-8F64-32B8-63E7-7FE2E9B16558}"/>
              </a:ext>
            </a:extLst>
          </p:cNvPr>
          <p:cNvSpPr/>
          <p:nvPr/>
        </p:nvSpPr>
        <p:spPr>
          <a:xfrm>
            <a:off x="7435056" y="2747029"/>
            <a:ext cx="479913" cy="2992692"/>
          </a:xfrm>
          <a:prstGeom prst="rightBrace">
            <a:avLst>
              <a:gd name="adj1" fmla="val 236080"/>
              <a:gd name="adj2" fmla="val 54815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85E579E3-A869-9DB6-77EA-3CD77554C42C}"/>
              </a:ext>
            </a:extLst>
          </p:cNvPr>
          <p:cNvSpPr txBox="1"/>
          <p:nvPr/>
        </p:nvSpPr>
        <p:spPr>
          <a:xfrm>
            <a:off x="8239434" y="4182424"/>
            <a:ext cx="1828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Observers</a:t>
            </a:r>
            <a:endParaRPr lang="en-US" sz="2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BE4BF9CC-79D9-50EF-F3FB-153D2342817B}"/>
              </a:ext>
            </a:extLst>
          </p:cNvPr>
          <p:cNvSpPr txBox="1"/>
          <p:nvPr/>
        </p:nvSpPr>
        <p:spPr>
          <a:xfrm>
            <a:off x="1097280" y="1765134"/>
            <a:ext cx="995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observer pattern defines one to many dependencies between objects so that when one object changes state all of its dependencies are notified and updated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22397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 (Basic)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1839" y="1971342"/>
            <a:ext cx="5442543" cy="2950846"/>
          </a:xfrm>
          <a:prstGeom prst="rect">
            <a:avLst/>
          </a:prstGeom>
        </p:spPr>
      </p:pic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1097280" y="2163990"/>
            <a:ext cx="5870903" cy="3170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84048" indent="-18288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566928" indent="-18288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749808" indent="-18288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932688" indent="-18288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100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1300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1500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1700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608" lvl="1" indent="0">
              <a:lnSpc>
                <a:spcPct val="100000"/>
              </a:lnSpc>
              <a:buClrTx/>
              <a:buFontTx/>
              <a:buChar char="•"/>
            </a:pPr>
            <a:r>
              <a:rPr lang="en-US" altLang="en-US" dirty="0" smtClean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Manages its collection of observers</a:t>
            </a:r>
          </a:p>
          <a:p>
            <a:pPr marL="292608" lvl="1" indent="0">
              <a:lnSpc>
                <a:spcPct val="100000"/>
              </a:lnSpc>
              <a:buClrTx/>
              <a:buFontTx/>
              <a:buChar char="•"/>
            </a:pPr>
            <a:r>
              <a:rPr lang="en-US" altLang="en-US" dirty="0" smtClean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the observers to register and unregister themselves.</a:t>
            </a:r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 smtClean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608" lvl="1" indent="0">
              <a:lnSpc>
                <a:spcPct val="100000"/>
              </a:lnSpc>
              <a:buClrTx/>
              <a:buFontTx/>
              <a:buChar char="•"/>
            </a:pPr>
            <a:r>
              <a:rPr lang="en-US" altLang="en-US" dirty="0" smtClean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Defines an interface to notify the observers</a:t>
            </a:r>
            <a:br>
              <a:rPr lang="en-US" altLang="en-US" dirty="0" smtClean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dirty="0" smtClean="0">
              <a:solidFill>
                <a:srgbClr val="6666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b="1" dirty="0" smtClean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ConcreteObserver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2608" lvl="1" indent="0">
              <a:lnSpc>
                <a:spcPct val="100000"/>
              </a:lnSpc>
              <a:buClrTx/>
              <a:buFontTx/>
              <a:buChar char="•"/>
            </a:pPr>
            <a:r>
              <a:rPr lang="en-US" altLang="en-US" dirty="0" smtClean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Implements the interface</a:t>
            </a:r>
          </a:p>
          <a:p>
            <a:pPr marL="292608" lvl="1" indent="0">
              <a:lnSpc>
                <a:spcPct val="100000"/>
              </a:lnSpc>
              <a:buClrTx/>
              <a:buFontTx/>
              <a:buChar char="•"/>
            </a:pPr>
            <a:r>
              <a:rPr lang="en-US" altLang="en-US" dirty="0" smtClean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notified by the Subject</a:t>
            </a:r>
          </a:p>
          <a:p>
            <a:pPr marL="0" indent="0">
              <a:lnSpc>
                <a:spcPct val="100000"/>
              </a:lnSpc>
              <a:buClrTx/>
              <a:buSzTx/>
              <a:buFontTx/>
              <a:buNone/>
            </a:pP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2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(Example 1)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7280" y="1839251"/>
            <a:ext cx="472461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Observer.cpp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&lt;list&gt;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Interface / Abstract class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Observer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~Observer() = </a:t>
            </a:r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notify() </a:t>
            </a:r>
            <a:r>
              <a:rPr lang="en-US" sz="1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smtClean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80602" y="1724861"/>
            <a:ext cx="5267997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Actual Subject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Subject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registerObserver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(Observer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observer)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observers_.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(observer);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unregisterObserver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(Observer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observer)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observers_.remove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(observer);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notifyObservers()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&amp;observer : observers_)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observer-&gt;notify();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list&lt;Observer *&gt; observers_;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5821899" y="1929935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97357" y="1894950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73784" y="1894950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56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(Example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934712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ConcreteObserverA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Observer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ConcreteObserverA(Subject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subject) : subject_(subject)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subject_.registerObserver(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notify()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"--ConcreteObserverA is fully notified\n"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Subject &amp;subject_;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22728" y="1934712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ConcreteObserverB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Observer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ConcreteObserverB(Subject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subject) : subject_(subject)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subject_.registerObserver(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notify()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"--ConcreteObserverB is fully notified\n"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Subject &amp;subject_;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243790" y="1861781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78291" y="5019458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92279" y="5019458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45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(Example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987381"/>
            <a:ext cx="6096000" cy="32316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We have not used any memory allocation in this driver function. This is how </a:t>
            </a:r>
            <a:r>
              <a:rPr lang="en-US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virtuality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is </a:t>
            </a:r>
            <a:r>
              <a:rPr lang="en-US" sz="12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typically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used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if you aren’t allowed to allocate memory, such as in deeply embedded systems.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Subject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ConcreteObserverA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(subject);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ConcreteObserverB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(subject);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subject.notifyObservers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"\t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subject.unregisterObserver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observerB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subject.unregisterObserver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"Current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subcribed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observers are:\n"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subject.notifyObservers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193280" y="2910711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6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ConcreteObserverA is fully notified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--ConcreteObserverB is fully notified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subject.unregisterObserver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observerB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subcribed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observers are: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--ConcreteObserverA is fully notified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061639" y="1918576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42793" y="1768313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7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 (Example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73991" y="3131090"/>
            <a:ext cx="49324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16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ConcreteObserverA is fully notified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--ConcreteObserverB is fully notified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subject.unregisterObserver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observerB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subcribed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observers are:</a:t>
            </a:r>
          </a:p>
          <a:p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--ConcreteObserverA is fully notified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77991" y="1900099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If we want to allocate memory, our driver file should be like the following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Subject *subject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Subject;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ConcreteObserverA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ConcreteObserverA(*subject);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ConcreteObserverB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ConcreteObserverB(*subject);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subject-&gt;notifyObservers();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"\t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subject.unregisterObserver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observerB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subject-&gt;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unregisterObserver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"Current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subcribed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observers are:\n"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subject-&gt;notifyObservers();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subject;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'\n'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6919651" y="1837222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1961" y="5240177"/>
            <a:ext cx="150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64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2 (Weather Station)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2270" y="1885204"/>
            <a:ext cx="10058400" cy="402336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say, we 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weather station example to explain the Observer pattern where when the temperature, humidity and the pressure of the weather station changes, all of its clients will get notified immediately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Think about the weather station example. It can have a set of clients (i.e. web apps, mobile apps).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should know whenever there is a change in the state of the weather station, otherwise the clients won’t be able to show real time accurate results.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pattern is the solution for these kinds of situations. In this scenario the weather station can be taken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(Subject) and each client can be taken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(Observer)</a:t>
            </a:r>
          </a:p>
        </p:txBody>
      </p:sp>
    </p:spTree>
    <p:extLst>
      <p:ext uri="{BB962C8B-B14F-4D97-AF65-F5344CB8AC3E}">
        <p14:creationId xmlns:p14="http://schemas.microsoft.com/office/powerpoint/2010/main" val="352394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2 (Weather Station)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934" y="1795908"/>
            <a:ext cx="5418851" cy="402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37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0024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2 (Weather Station)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281" y="1871438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ifndef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OBSERVER_H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#define OBSERVER_H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Interface for the Observer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Observer.h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Observer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update(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temp,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humidity,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pressure)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#endif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 OBSERVER_H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98843" y="1769236"/>
            <a:ext cx="6096000" cy="429348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ifndef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 SUBJECT_H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#define SUBJECT_H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Observer.h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Interface for the Subject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Subject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Register an Observer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registerObserver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(Observer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observer)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Unregister an Observer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unregisterObserver(Observer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observer)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    // Notify all the registered observers when a change happens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 notifyObservers() = </a:t>
            </a:r>
            <a:r>
              <a:rPr lang="en-US" sz="1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</a:rPr>
              <a:t>#endif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</a:rPr>
              <a:t> // SUBJECT_H</a:t>
            </a:r>
            <a:endParaRPr lang="en-US" sz="13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6196338" y="1919672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74281" y="1970587"/>
            <a:ext cx="127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93694" y="1970587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5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2 (Weather Station)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40340" y="1809723"/>
            <a:ext cx="6096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ifndef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CLIENT_H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#define CLIENT_H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Observer.h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 concrete client that implements the Observer </a:t>
            </a:r>
            <a:r>
              <a:rPr lang="en-US" sz="12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interface</a:t>
            </a:r>
          </a:p>
          <a:p>
            <a:r>
              <a:rPr lang="en-US" sz="1200" dirty="0" err="1" smtClean="0">
                <a:solidFill>
                  <a:srgbClr val="008000"/>
                </a:solidFill>
                <a:latin typeface="Consolas" panose="020B0609020204030204" pitchFamily="49" charset="0"/>
              </a:rPr>
              <a:t>Client.h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Client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Observer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Client(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update(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temp,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humidity,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pressure)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id_;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#endif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CLIENT_H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04369" y="1809723"/>
            <a:ext cx="634854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Client.h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Client ::Client(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id) : id_(id) {}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Client ::update(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temp,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humidity,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pressure)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  // print the changed values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"---Client ("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id_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") Data---\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tTemperature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&lt;&lt; temp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thumidity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humidity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tPressure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pressure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055485" y="1809723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40969" y="1930831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68812" y="1930831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05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07662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2 (Weather Station)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4250" y="1886911"/>
            <a:ext cx="426062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</a:t>
            </a:r>
            <a:r>
              <a:rPr lang="en-US" sz="800" dirty="0" err="1">
                <a:solidFill>
                  <a:srgbClr val="0000FF"/>
                </a:solidFill>
                <a:latin typeface="Consolas" panose="020B0609020204030204" pitchFamily="49" charset="0"/>
              </a:rPr>
              <a:t>ifndef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 WEATHERSTATION_H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#define WEATHERSTATION_H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&lt;vector&gt;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&lt;algorithm&gt;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Subject.h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Observer.h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A concrete implementation of the Subject interface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 err="1">
                <a:solidFill>
                  <a:srgbClr val="008000"/>
                </a:solidFill>
                <a:latin typeface="Consolas" panose="020B0609020204030204" pitchFamily="49" charset="0"/>
              </a:rPr>
              <a:t>WeatherData.h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Subject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registerObserver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(Observer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observer)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unregisterObserver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(Observer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observer)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notifyObservers()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    // Set the new state of the weather station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temp,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humidity,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pressure);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vector&lt;Observer *&gt; observers_;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temp = </a:t>
            </a:r>
            <a:r>
              <a:rPr lang="en-US" sz="800" dirty="0">
                <a:solidFill>
                  <a:srgbClr val="098658"/>
                </a:solidFill>
                <a:latin typeface="Consolas" panose="020B0609020204030204" pitchFamily="49" charset="0"/>
              </a:rPr>
              <a:t>0.0f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humidity = </a:t>
            </a:r>
            <a:r>
              <a:rPr lang="en-US" sz="800" dirty="0">
                <a:solidFill>
                  <a:srgbClr val="098658"/>
                </a:solidFill>
                <a:latin typeface="Consolas" panose="020B0609020204030204" pitchFamily="49" charset="0"/>
              </a:rPr>
              <a:t>0.0f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pressure = </a:t>
            </a:r>
            <a:r>
              <a:rPr lang="en-US" sz="800" dirty="0">
                <a:solidFill>
                  <a:srgbClr val="098658"/>
                </a:solidFill>
                <a:latin typeface="Consolas" panose="020B0609020204030204" pitchFamily="49" charset="0"/>
              </a:rPr>
              <a:t>0.0f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#endif</a:t>
            </a:r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 // WEATHERSTATION_H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43868" y="1755956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800" dirty="0" err="1">
                <a:solidFill>
                  <a:srgbClr val="A31515"/>
                </a:solidFill>
                <a:latin typeface="Consolas" panose="020B0609020204030204" pitchFamily="49" charset="0"/>
              </a:rPr>
              <a:t>WeatherData.h</a:t>
            </a:r>
            <a:r>
              <a:rPr lang="en-US" sz="8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::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setState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temp,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humidity,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pressure)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-&gt;temp = temp;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-&gt;humidity = humidity;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-&gt;pressure = pressure;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notifyObservers();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::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registerObserver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(Observer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observer)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observers_.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push_back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(observer);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::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unregisterObserver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(Observer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observer)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    // Find the observer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iterator = find(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observers_.begin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(),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observers_.end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(), observer);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(iterator !=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observers_.end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observers_.erase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(iterator);</a:t>
            </a:r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 // remove the observer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::notifyObservers()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 &amp;observer : observers_)</a:t>
            </a:r>
            <a:r>
              <a:rPr lang="en-US" sz="800" dirty="0">
                <a:solidFill>
                  <a:srgbClr val="008000"/>
                </a:solidFill>
                <a:latin typeface="Consolas" panose="020B0609020204030204" pitchFamily="49" charset="0"/>
              </a:rPr>
              <a:t> // Notify all the observers</a:t>
            </a: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observer-&gt;update(temp, humidity, pressure);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5090851" y="1884499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40969" y="1930831"/>
            <a:ext cx="169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WeatherData.h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64127" y="2588706"/>
            <a:ext cx="1922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WeatherData.cpp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20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– 2 (Weather Station)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4163" y="1947869"/>
            <a:ext cx="6096000" cy="43858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WeatherData.h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Client.h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    // Concrete Subject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    // Concrete Observers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Client one(</a:t>
            </a:r>
            <a:r>
              <a:rPr lang="en-US" sz="9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two(</a:t>
            </a:r>
            <a:r>
              <a:rPr lang="en-US" sz="9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), three(</a:t>
            </a:r>
            <a:r>
              <a:rPr lang="en-US" sz="9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temp, humidity, pressure;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weatherStation.registerObserver(&amp;one);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weatherStation.registerObserver(&amp;two);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weatherStation.registerObserver(&amp;three);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"Enter Temperature, Humidity, Pressure (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seperated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 by spaces) &lt;&lt; 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&gt;&gt; temp &gt;&gt; humidity &gt;&gt; pressure;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weatherStation.setState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(temp, humidity, pressure);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weatherStation.unregisterObserver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(&amp;two);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"Enter Temperature, Humidity, Pressure (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seperated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 by spaces) &lt;&lt; 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&gt;&gt; temp &gt;&gt; humidity &gt;&gt; pressure;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weatherStation.setState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(temp, humidity, pressure);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028024" y="2906146"/>
            <a:ext cx="766824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2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2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Humidity, Pressure </a:t>
            </a:r>
            <a:r>
              <a:rPr lang="en-US" sz="1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(separated 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spaces) &lt;&lt; 45 12 3.6     </a:t>
            </a:r>
          </a:p>
          <a:p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---Client (1) Data---   Temperature: 45 humidity: 12    Pressure: 3.6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---Client (2) Data---   Temperature: 45 humidity: 12    Pressure: 3.6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---Client (3) Data---   Temperature: 45 humidity: 12    Pressure: 3.6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Temperature, Humidity, Pressure </a:t>
            </a:r>
            <a:r>
              <a:rPr lang="en-US" sz="12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(separated </a:t>
            </a:r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spaces) &lt;&lt; 25.8 14.5 30.6</a:t>
            </a:r>
          </a:p>
          <a:p>
            <a:endParaRPr lang="en-US" sz="12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---Client (1) Data---   Temperature: 25.8       humidity: 14.5  Pressure: 30.6</a:t>
            </a:r>
          </a:p>
          <a:p>
            <a:r>
              <a:rPr lang="en-US" sz="1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---Client (3) Data---   Temperature: 25.8       humidity: 14.5  Pressure: 30.6</a:t>
            </a: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6052758" y="1947869"/>
            <a:ext cx="5679" cy="41573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80522" y="1947869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0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1674</TotalTime>
  <Words>723</Words>
  <Application>Microsoft Office PowerPoint</Application>
  <PresentationFormat>Widescreen</PresentationFormat>
  <Paragraphs>334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Times New Roman</vt:lpstr>
      <vt:lpstr>Wingdings</vt:lpstr>
      <vt:lpstr>Retrospect</vt:lpstr>
      <vt:lpstr>CSE327  Software Engineering</vt:lpstr>
      <vt:lpstr>Design Pattern</vt:lpstr>
      <vt:lpstr>Purpose of design patterns</vt:lpstr>
      <vt:lpstr>Observer Pattern (Behavioral)</vt:lpstr>
      <vt:lpstr>Example 1 (Basic)</vt:lpstr>
      <vt:lpstr>Pseudocode (Example 1)</vt:lpstr>
      <vt:lpstr>Pseudocode (Example 1)</vt:lpstr>
      <vt:lpstr>Pseudocode (Example 1)</vt:lpstr>
      <vt:lpstr>Pseudocode (Example 1)</vt:lpstr>
      <vt:lpstr>Example – 2 (Weather Station)</vt:lpstr>
      <vt:lpstr>Example – 2 (Weather Station)</vt:lpstr>
      <vt:lpstr>Example – 2 (Weather Station)</vt:lpstr>
      <vt:lpstr>Example – 2 (Weather Station)</vt:lpstr>
      <vt:lpstr>Example – 2 (Weather Station)</vt:lpstr>
      <vt:lpstr>Example – 2 (Weather Station)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A K M Iqtidar Newaz</cp:lastModifiedBy>
  <cp:revision>57</cp:revision>
  <dcterms:created xsi:type="dcterms:W3CDTF">2024-09-23T05:24:39Z</dcterms:created>
  <dcterms:modified xsi:type="dcterms:W3CDTF">2025-02-06T04:01:31Z</dcterms:modified>
</cp:coreProperties>
</file>