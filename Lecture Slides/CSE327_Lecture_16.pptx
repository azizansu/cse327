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D1FF96-82A6-4E80-845A-8DA06A49B9A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058040" cy="160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ubTitle"/>
          </p:nvPr>
        </p:nvSpPr>
        <p:spPr>
          <a:xfrm>
            <a:off x="1069920" y="2121480"/>
            <a:ext cx="10058040" cy="40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7E5D05-B67B-4E0A-8454-EA12501F488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058040" cy="160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1069920" y="2121480"/>
            <a:ext cx="10058040" cy="40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90A572-FADC-4137-98ED-3771B6BE7F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058040" cy="160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069920" y="2121480"/>
            <a:ext cx="4908240" cy="40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24040" y="2121480"/>
            <a:ext cx="4908240" cy="40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4B1DF5-6A7A-4BCB-934C-FC77C6DE73B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058040" cy="160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114E8D-CA1D-4CA2-A5AE-77DFAD28CDC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subTitle"/>
          </p:nvPr>
        </p:nvSpPr>
        <p:spPr>
          <a:xfrm>
            <a:off x="1069920" y="484560"/>
            <a:ext cx="10058040" cy="745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D3E639-CF0E-4660-A0AD-0A74A054089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058040" cy="160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1069920" y="2121480"/>
            <a:ext cx="4908240" cy="193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224040" y="2121480"/>
            <a:ext cx="4908240" cy="40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1069920" y="4237200"/>
            <a:ext cx="4908240" cy="193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AA64C3-7E3D-4A6B-9BBB-4EC98219024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058040" cy="160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1069920" y="2121480"/>
            <a:ext cx="4908240" cy="40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224040" y="2121480"/>
            <a:ext cx="4908240" cy="193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6224040" y="4237200"/>
            <a:ext cx="4908240" cy="193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C9D147-46C2-4F97-91C6-8ECA20C3177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058040" cy="160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1069920" y="2121480"/>
            <a:ext cx="4908240" cy="193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6224040" y="2121480"/>
            <a:ext cx="4908240" cy="193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1069920" y="4237200"/>
            <a:ext cx="10058040" cy="193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08CCA6-A2D5-4771-9236-A394A920036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058040" cy="160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1069920" y="2121480"/>
            <a:ext cx="10058040" cy="193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1069920" y="4237200"/>
            <a:ext cx="10058040" cy="193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727D98-B0A5-4772-9076-E997101C2B6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058040" cy="160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1069920" y="2121480"/>
            <a:ext cx="4908240" cy="193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/>
          </p:nvPr>
        </p:nvSpPr>
        <p:spPr>
          <a:xfrm>
            <a:off x="6224040" y="2121480"/>
            <a:ext cx="4908240" cy="193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/>
          </p:nvPr>
        </p:nvSpPr>
        <p:spPr>
          <a:xfrm>
            <a:off x="1069920" y="4237200"/>
            <a:ext cx="4908240" cy="193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/>
          </p:nvPr>
        </p:nvSpPr>
        <p:spPr>
          <a:xfrm>
            <a:off x="6224040" y="4237200"/>
            <a:ext cx="4908240" cy="193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BAF647-48C6-41E5-8F4E-9E0992EA751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058040" cy="160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1069920" y="2121480"/>
            <a:ext cx="3238560" cy="193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/>
          </p:nvPr>
        </p:nvSpPr>
        <p:spPr>
          <a:xfrm>
            <a:off x="4470840" y="2121480"/>
            <a:ext cx="3238560" cy="193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/>
          </p:nvPr>
        </p:nvSpPr>
        <p:spPr>
          <a:xfrm>
            <a:off x="7871760" y="2121480"/>
            <a:ext cx="3238560" cy="193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/>
          </p:nvPr>
        </p:nvSpPr>
        <p:spPr>
          <a:xfrm>
            <a:off x="1069920" y="4237200"/>
            <a:ext cx="3238560" cy="193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/>
          </p:nvPr>
        </p:nvSpPr>
        <p:spPr>
          <a:xfrm>
            <a:off x="4470840" y="4237200"/>
            <a:ext cx="3238560" cy="193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49" name="PlaceHolder 7"/>
          <p:cNvSpPr>
            <a:spLocks noGrp="1"/>
          </p:cNvSpPr>
          <p:nvPr>
            <p:ph/>
          </p:nvPr>
        </p:nvSpPr>
        <p:spPr>
          <a:xfrm>
            <a:off x="7871760" y="4237200"/>
            <a:ext cx="3238560" cy="193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FC9F33-B148-47B8-8BAB-D156AF8A7D6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EA5533-995C-4351-8F21-8630A984016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058040" cy="160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1069920" y="2121480"/>
            <a:ext cx="10058040" cy="40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A42A8C-7DFE-410C-BC74-70C10CE4E54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058040" cy="160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1069920" y="2121480"/>
            <a:ext cx="10058040" cy="40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0845823-9E3A-4A11-8F93-7AAB480206C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058040" cy="160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1069920" y="2121480"/>
            <a:ext cx="4908240" cy="40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6224040" y="2121480"/>
            <a:ext cx="4908240" cy="40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85157FD-8272-4B5B-876E-43038BC50C7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058040" cy="160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8345A6-2C05-4F4C-B61B-1D8C832AE5D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1069920" y="484560"/>
            <a:ext cx="10058040" cy="745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D2AD73-EE65-4364-AB67-82EA14CFF02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058040" cy="160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1069920" y="2121480"/>
            <a:ext cx="4908240" cy="193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224040" y="2121480"/>
            <a:ext cx="4908240" cy="40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1069920" y="4237200"/>
            <a:ext cx="4908240" cy="193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E60955-50E7-4018-8C47-7C8BE8CBE50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058040" cy="160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1069920" y="2121480"/>
            <a:ext cx="4908240" cy="40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6224040" y="2121480"/>
            <a:ext cx="4908240" cy="193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6224040" y="4237200"/>
            <a:ext cx="4908240" cy="193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80229F-8C2D-4DB7-B518-97866AB1A33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058040" cy="160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1069920" y="2121480"/>
            <a:ext cx="4908240" cy="193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6224040" y="2121480"/>
            <a:ext cx="4908240" cy="193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1069920" y="4237200"/>
            <a:ext cx="10058040" cy="193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638AC3-65DA-4088-8346-7884486CC05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058040" cy="160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1069920" y="2121480"/>
            <a:ext cx="10058040" cy="193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1069920" y="4237200"/>
            <a:ext cx="10058040" cy="193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D489C9-086C-4514-905C-09ACA8A8D0A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058040" cy="160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1069920" y="2121480"/>
            <a:ext cx="4908240" cy="193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6224040" y="2121480"/>
            <a:ext cx="4908240" cy="193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1069920" y="4237200"/>
            <a:ext cx="4908240" cy="193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6224040" y="4237200"/>
            <a:ext cx="4908240" cy="193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073B81-6E37-4314-BB6C-32F8DF64B48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058040" cy="160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1069920" y="2121480"/>
            <a:ext cx="3238560" cy="193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4470840" y="2121480"/>
            <a:ext cx="3238560" cy="193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7871760" y="2121480"/>
            <a:ext cx="3238560" cy="193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1069920" y="4237200"/>
            <a:ext cx="3238560" cy="193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4470840" y="4237200"/>
            <a:ext cx="3238560" cy="193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7871760" y="4237200"/>
            <a:ext cx="3238560" cy="193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09BD92-CFD7-4E81-A2EB-33AEEBEE714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slideLayout" Target="../slideLayouts/slideLayout1.xml"/><Relationship Id="rId8" Type="http://schemas.openxmlformats.org/officeDocument/2006/relationships/slideLayout" Target="../slideLayouts/slideLayout2.xml"/><Relationship Id="rId9" Type="http://schemas.openxmlformats.org/officeDocument/2006/relationships/slideLayout" Target="../slideLayouts/slideLayout3.xml"/><Relationship Id="rId10" Type="http://schemas.openxmlformats.org/officeDocument/2006/relationships/slideLayout" Target="../slideLayouts/slideLayout4.xml"/><Relationship Id="rId11" Type="http://schemas.openxmlformats.org/officeDocument/2006/relationships/slideLayout" Target="../slideLayouts/slideLayout5.xml"/><Relationship Id="rId12" Type="http://schemas.openxmlformats.org/officeDocument/2006/relationships/slideLayout" Target="../slideLayouts/slideLayout6.xml"/><Relationship Id="rId13" Type="http://schemas.openxmlformats.org/officeDocument/2006/relationships/slideLayout" Target="../slideLayouts/slideLayout7.xml"/><Relationship Id="rId14" Type="http://schemas.openxmlformats.org/officeDocument/2006/relationships/slideLayout" Target="../slideLayouts/slideLayout8.xml"/><Relationship Id="rId15" Type="http://schemas.openxmlformats.org/officeDocument/2006/relationships/slideLayout" Target="../slideLayouts/slideLayout9.xml"/><Relationship Id="rId16" Type="http://schemas.openxmlformats.org/officeDocument/2006/relationships/slideLayout" Target="../slideLayouts/slideLayout10.xml"/><Relationship Id="rId17" Type="http://schemas.openxmlformats.org/officeDocument/2006/relationships/slideLayout" Target="../slideLayouts/slideLayout11.xml"/><Relationship Id="rId18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6"/>
          <p:cNvGrpSpPr/>
          <p:nvPr/>
        </p:nvGrpSpPr>
        <p:grpSpPr>
          <a:xfrm>
            <a:off x="11401560" y="6229800"/>
            <a:ext cx="456840" cy="456840"/>
            <a:chOff x="11401560" y="6229800"/>
            <a:chExt cx="456840" cy="456840"/>
          </a:xfrm>
        </p:grpSpPr>
        <p:sp>
          <p:nvSpPr>
            <p:cNvPr id="1" name="Oval 7"/>
            <p:cNvSpPr/>
            <p:nvPr/>
          </p:nvSpPr>
          <p:spPr>
            <a:xfrm>
              <a:off x="11401560" y="6229800"/>
              <a:ext cx="456840" cy="456840"/>
            </a:xfrm>
            <a:prstGeom prst="ellipse">
              <a:avLst/>
            </a:prstGeom>
            <a:blipFill rotWithShape="0">
              <a:blip r:embed="rId2"/>
              <a:srcRect/>
              <a:tile/>
            </a:blip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" name="Oval 8"/>
            <p:cNvSpPr/>
            <p:nvPr/>
          </p:nvSpPr>
          <p:spPr>
            <a:xfrm>
              <a:off x="11431080" y="6258960"/>
              <a:ext cx="398520" cy="39852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" name="Rectangle 6"/>
          <p:cNvSpPr/>
          <p:nvPr/>
        </p:nvSpPr>
        <p:spPr>
          <a:xfrm>
            <a:off x="920880" y="1347120"/>
            <a:ext cx="10222560" cy="80280"/>
          </a:xfrm>
          <a:prstGeom prst="rect">
            <a:avLst/>
          </a:prstGeom>
          <a:blipFill rotWithShape="0">
            <a:blip r:embed="rId3">
              <a:alphaModFix amt="85000"/>
            </a:blip>
            <a:srcRect/>
            <a:tile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" name="Rectangle 7"/>
          <p:cNvSpPr/>
          <p:nvPr/>
        </p:nvSpPr>
        <p:spPr>
          <a:xfrm>
            <a:off x="920880" y="4299840"/>
            <a:ext cx="10222560" cy="80280"/>
          </a:xfrm>
          <a:prstGeom prst="rect">
            <a:avLst/>
          </a:prstGeom>
          <a:blipFill rotWithShape="0">
            <a:blip r:embed="rId4">
              <a:alphaModFix amt="85000"/>
            </a:blip>
            <a:srcRect/>
            <a:tile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" name="Rectangle 8"/>
          <p:cNvSpPr/>
          <p:nvPr/>
        </p:nvSpPr>
        <p:spPr>
          <a:xfrm>
            <a:off x="920880" y="1484640"/>
            <a:ext cx="10222560" cy="2742840"/>
          </a:xfrm>
          <a:prstGeom prst="rect">
            <a:avLst/>
          </a:prstGeom>
          <a:blipFill rotWithShape="0">
            <a:blip r:embed="rId5">
              <a:alphaModFix amt="85000"/>
            </a:blip>
            <a:srcRect/>
            <a:tile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6" name="Group 9"/>
          <p:cNvGrpSpPr/>
          <p:nvPr/>
        </p:nvGrpSpPr>
        <p:grpSpPr>
          <a:xfrm>
            <a:off x="9649080" y="4069080"/>
            <a:ext cx="1080720" cy="1080720"/>
            <a:chOff x="9649080" y="4069080"/>
            <a:chExt cx="1080720" cy="1080720"/>
          </a:xfrm>
        </p:grpSpPr>
        <p:sp>
          <p:nvSpPr>
            <p:cNvPr id="7" name="Oval 10"/>
            <p:cNvSpPr/>
            <p:nvPr/>
          </p:nvSpPr>
          <p:spPr>
            <a:xfrm>
              <a:off x="9649080" y="4069080"/>
              <a:ext cx="1080720" cy="1080720"/>
            </a:xfrm>
            <a:prstGeom prst="ellipse">
              <a:avLst/>
            </a:prstGeom>
            <a:blipFill rotWithShape="0">
              <a:blip r:embed="rId6"/>
              <a:srcRect/>
              <a:tile/>
            </a:blip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" name="Oval 11"/>
            <p:cNvSpPr/>
            <p:nvPr/>
          </p:nvSpPr>
          <p:spPr>
            <a:xfrm>
              <a:off x="9757440" y="4177080"/>
              <a:ext cx="864360" cy="864360"/>
            </a:xfrm>
            <a:prstGeom prst="ellipse">
              <a:avLst/>
            </a:prstGeom>
            <a:noFill/>
            <a:ln w="254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051560" y="1432080"/>
            <a:ext cx="9966600" cy="3035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9600" spc="-1" strike="noStrike" cap="all">
                <a:latin typeface="Rockwell Condensed"/>
              </a:rPr>
              <a:t>Click to edit Master title style</a:t>
            </a:r>
            <a:endParaRPr b="0" lang="en-US" sz="9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dt" idx="1"/>
          </p:nvPr>
        </p:nvSpPr>
        <p:spPr>
          <a:xfrm>
            <a:off x="7964280" y="6272640"/>
            <a:ext cx="3273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100" spc="-1" strike="noStrike">
                <a:solidFill>
                  <a:srgbClr val="696464"/>
                </a:solidFill>
                <a:latin typeface="Rockwell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696464"/>
                </a:solidFill>
                <a:latin typeface="Rockwell"/>
              </a:rPr>
              <a:t>&lt;date/time&gt;</a:t>
            </a:r>
            <a:endParaRPr b="0" lang="en-US" sz="1100" spc="-1" strike="noStrike"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ftr" idx="2"/>
          </p:nvPr>
        </p:nvSpPr>
        <p:spPr>
          <a:xfrm>
            <a:off x="1088280" y="6272640"/>
            <a:ext cx="6327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sldNum" idx="3"/>
          </p:nvPr>
        </p:nvSpPr>
        <p:spPr>
          <a:xfrm>
            <a:off x="9592560" y="4289400"/>
            <a:ext cx="1193400" cy="6397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b="1" lang="en-US" sz="2800" spc="-1" strike="noStrike">
                <a:solidFill>
                  <a:srgbClr val="ffffff"/>
                </a:solidFill>
                <a:latin typeface="Rockwell Condensed"/>
              </a:defRPr>
            </a:lvl1pPr>
          </a:lstStyle>
          <a:p>
            <a:pPr algn="ctr">
              <a:lnSpc>
                <a:spcPct val="100000"/>
              </a:lnSpc>
              <a:buNone/>
            </a:pPr>
            <a:fld id="{5F9786C2-573A-453E-B817-19B4C14037C0}" type="slidenum">
              <a:rPr b="1" lang="en-US" sz="2800" spc="-1" strike="noStrike">
                <a:solidFill>
                  <a:srgbClr val="ffffff"/>
                </a:solidFill>
                <a:latin typeface="Rockwell Condensed"/>
              </a:rPr>
              <a:t>&lt;number&gt;</a:t>
            </a:fld>
            <a:endParaRPr b="0" lang="en-US" sz="2800" spc="-1" strike="noStrike"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Rockwel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Rockwell"/>
              </a:rPr>
              <a:t>Second Outline Level</a:t>
            </a:r>
            <a:endParaRPr b="0" lang="en-US" sz="1600" spc="-1" strike="noStrike">
              <a:solidFill>
                <a:srgbClr val="000000"/>
              </a:solidFill>
              <a:latin typeface="Rockwel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Rockwell"/>
              </a:rPr>
              <a:t>Third Outline Level</a:t>
            </a:r>
            <a:endParaRPr b="0" lang="en-US" sz="1600" spc="-1" strike="noStrike">
              <a:solidFill>
                <a:srgbClr val="000000"/>
              </a:solidFill>
              <a:latin typeface="Rockwel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Rockwell"/>
              </a:rPr>
              <a:t>Fourth Outline Level</a:t>
            </a:r>
            <a:endParaRPr b="0" lang="en-US" sz="1600" spc="-1" strike="noStrike">
              <a:solidFill>
                <a:srgbClr val="000000"/>
              </a:solidFill>
              <a:latin typeface="Rockwel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Rockwel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Rockwel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Rockwel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7"/>
    <p:sldLayoutId id="2147483650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  <p:sldLayoutId id="2147483660" r:id="rId18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6"/>
          <p:cNvGrpSpPr/>
          <p:nvPr/>
        </p:nvGrpSpPr>
        <p:grpSpPr>
          <a:xfrm>
            <a:off x="11401560" y="6229800"/>
            <a:ext cx="456840" cy="456840"/>
            <a:chOff x="11401560" y="6229800"/>
            <a:chExt cx="456840" cy="456840"/>
          </a:xfrm>
        </p:grpSpPr>
        <p:sp>
          <p:nvSpPr>
            <p:cNvPr id="51" name="Oval 7"/>
            <p:cNvSpPr/>
            <p:nvPr/>
          </p:nvSpPr>
          <p:spPr>
            <a:xfrm>
              <a:off x="11401560" y="6229800"/>
              <a:ext cx="456840" cy="456840"/>
            </a:xfrm>
            <a:prstGeom prst="ellipse">
              <a:avLst/>
            </a:prstGeom>
            <a:blipFill rotWithShape="0">
              <a:blip r:embed="rId2"/>
              <a:srcRect/>
              <a:tile/>
            </a:blip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" name="Oval 8"/>
            <p:cNvSpPr/>
            <p:nvPr/>
          </p:nvSpPr>
          <p:spPr>
            <a:xfrm>
              <a:off x="11431080" y="6258960"/>
              <a:ext cx="398520" cy="39852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058040" cy="16088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5400" spc="-1" strike="noStrike" cap="all">
                <a:latin typeface="Rockwell Condensed"/>
              </a:rPr>
              <a:t>Click to edit Master title style</a:t>
            </a:r>
            <a:endParaRPr b="0" lang="en-US" sz="54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069920" y="2121480"/>
            <a:ext cx="10058040" cy="4050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182880" indent="-18288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000" spc="-1" strike="noStrike">
                <a:solidFill>
                  <a:srgbClr val="000000"/>
                </a:solidFill>
                <a:latin typeface="Rockwell"/>
              </a:rPr>
              <a:t>Click to edit Master text styles</a:t>
            </a:r>
            <a:endParaRPr b="0" lang="en-US" sz="2000" spc="-1" strike="noStrike">
              <a:solidFill>
                <a:srgbClr val="000000"/>
              </a:solidFill>
              <a:latin typeface="Rockwell"/>
            </a:endParaRPr>
          </a:p>
          <a:p>
            <a:pPr lvl="1" marL="457200" indent="-18288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800" spc="-1" strike="noStrike">
                <a:solidFill>
                  <a:srgbClr val="000000"/>
                </a:solidFill>
                <a:latin typeface="Rockwell"/>
              </a:rPr>
              <a:t>Second level</a:t>
            </a:r>
            <a:endParaRPr b="0" lang="en-US" sz="1800" spc="-1" strike="noStrike">
              <a:solidFill>
                <a:srgbClr val="000000"/>
              </a:solidFill>
              <a:latin typeface="Rockwell"/>
            </a:endParaRPr>
          </a:p>
          <a:p>
            <a:pPr lvl="2" marL="731520" indent="-18288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600" spc="-1" strike="noStrike">
                <a:solidFill>
                  <a:srgbClr val="000000"/>
                </a:solidFill>
                <a:latin typeface="Rockwell"/>
              </a:rPr>
              <a:t>Third level</a:t>
            </a:r>
            <a:endParaRPr b="0" lang="en-US" sz="1600" spc="-1" strike="noStrike">
              <a:solidFill>
                <a:srgbClr val="000000"/>
              </a:solidFill>
              <a:latin typeface="Rockwell"/>
            </a:endParaRPr>
          </a:p>
          <a:p>
            <a:pPr lvl="3" marL="1005840" indent="-18288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600" spc="-1" strike="noStrike">
                <a:solidFill>
                  <a:srgbClr val="000000"/>
                </a:solidFill>
                <a:latin typeface="Rockwell"/>
              </a:rPr>
              <a:t>Fourth level</a:t>
            </a:r>
            <a:endParaRPr b="0" lang="en-US" sz="1600" spc="-1" strike="noStrike">
              <a:solidFill>
                <a:srgbClr val="000000"/>
              </a:solidFill>
              <a:latin typeface="Rockwell"/>
            </a:endParaRPr>
          </a:p>
          <a:p>
            <a:pPr lvl="4" marL="1280160" indent="-18288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600" spc="-1" strike="noStrike">
                <a:solidFill>
                  <a:srgbClr val="000000"/>
                </a:solidFill>
                <a:latin typeface="Rockwell"/>
              </a:rPr>
              <a:t>Fifth level</a:t>
            </a:r>
            <a:endParaRPr b="0" lang="en-US" sz="1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dt" idx="4"/>
          </p:nvPr>
        </p:nvSpPr>
        <p:spPr>
          <a:xfrm>
            <a:off x="7964280" y="6272640"/>
            <a:ext cx="3273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100" spc="-1" strike="noStrike">
                <a:solidFill>
                  <a:srgbClr val="696464"/>
                </a:solidFill>
                <a:latin typeface="Rockwell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696464"/>
                </a:solidFill>
                <a:latin typeface="Rockwell"/>
              </a:rPr>
              <a:t>&lt;date/time&gt;</a:t>
            </a:r>
            <a:endParaRPr b="0" lang="en-US" sz="1100" spc="-1" strike="noStrike"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ftr" idx="5"/>
          </p:nvPr>
        </p:nvSpPr>
        <p:spPr>
          <a:xfrm>
            <a:off x="1088280" y="6272640"/>
            <a:ext cx="6327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sldNum" idx="6"/>
          </p:nvPr>
        </p:nvSpPr>
        <p:spPr>
          <a:xfrm>
            <a:off x="11311200" y="6272640"/>
            <a:ext cx="6397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b="1" lang="en-US" sz="1400" spc="-1" strike="noStrike">
                <a:solidFill>
                  <a:srgbClr val="ffffff"/>
                </a:solidFill>
                <a:latin typeface="Rockwell Condensed"/>
              </a:defRPr>
            </a:lvl1pPr>
          </a:lstStyle>
          <a:p>
            <a:pPr algn="ctr">
              <a:lnSpc>
                <a:spcPct val="100000"/>
              </a:lnSpc>
              <a:buNone/>
            </a:pPr>
            <a:fld id="{662C2C91-D3D5-4123-A0C4-9E95CA992E57}" type="slidenum">
              <a:rPr b="1" lang="en-US" sz="1400" spc="-1" strike="noStrike">
                <a:solidFill>
                  <a:srgbClr val="ffffff"/>
                </a:solidFill>
                <a:latin typeface="Rockwell Condensed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066680" y="2350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0" lang="en-US" sz="9600" spc="-1" strike="noStrike" cap="all">
                <a:latin typeface="Times New Roman"/>
              </a:rPr>
              <a:t>CSE327 </a:t>
            </a:r>
            <a:br>
              <a:rPr sz="9600"/>
            </a:br>
            <a:r>
              <a:rPr b="0" lang="en-US" sz="9600" spc="-1" strike="noStrike" cap="all">
                <a:latin typeface="Times New Roman"/>
              </a:rPr>
              <a:t>Software Engineering</a:t>
            </a:r>
            <a:endParaRPr b="0" lang="en-US" sz="9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069920" y="4389120"/>
            <a:ext cx="7890840" cy="1069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</a:rPr>
              <a:t>AKM Iqtidar Newaz [IqN]</a:t>
            </a:r>
            <a:endParaRPr b="0" lang="en-US" sz="22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</a:rPr>
              <a:t>Lecture - 16</a:t>
            </a:r>
            <a:endParaRPr b="0" lang="en-US" sz="22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058040" cy="16088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5400" spc="-1" strike="noStrike" cap="all">
                <a:latin typeface="Times New Roman"/>
              </a:rPr>
              <a:t>Facade Design Pattern</a:t>
            </a:r>
            <a:endParaRPr b="0" lang="en-US" sz="54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97" name="TextBox 8"/>
          <p:cNvSpPr/>
          <p:nvPr/>
        </p:nvSpPr>
        <p:spPr>
          <a:xfrm>
            <a:off x="1097280" y="1878480"/>
            <a:ext cx="100580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Facade is a structural design pattern that provides a simplified interface to a library, a framework, or any other complex set of classes.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98" name="TextBox 2"/>
          <p:cNvSpPr/>
          <p:nvPr/>
        </p:nvSpPr>
        <p:spPr>
          <a:xfrm>
            <a:off x="1097280" y="2586240"/>
            <a:ext cx="100580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When we have to hide the system complexity from the client we use facade design pattern.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99" name="TextBox 6"/>
          <p:cNvSpPr/>
          <p:nvPr/>
        </p:nvSpPr>
        <p:spPr>
          <a:xfrm>
            <a:off x="1602720" y="4146480"/>
            <a:ext cx="87588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Car</a:t>
            </a:r>
            <a:br>
              <a:rPr sz="2000"/>
            </a:b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Owner</a:t>
            </a:r>
            <a:endParaRPr b="0" lang="en-US" sz="2000" spc="-1" strike="noStrike">
              <a:latin typeface="Arial"/>
            </a:endParaRPr>
          </a:p>
        </p:txBody>
      </p:sp>
      <p:graphicFrame>
        <p:nvGraphicFramePr>
          <p:cNvPr id="100" name="Table 7"/>
          <p:cNvGraphicFramePr/>
          <p:nvPr/>
        </p:nvGraphicFramePr>
        <p:xfrm>
          <a:off x="4589640" y="3883680"/>
          <a:ext cx="1760400" cy="885960"/>
        </p:xfrm>
        <a:graphic>
          <a:graphicData uri="http://schemas.openxmlformats.org/drawingml/2006/table">
            <a:tbl>
              <a:tblPr/>
              <a:tblGrid>
                <a:gridCol w="1760760"/>
              </a:tblGrid>
              <a:tr h="43848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20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&lt;&lt;interface&gt;&gt;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4817"/>
                    </a:solidFill>
                  </a:tcPr>
                </a:tc>
              </a:tr>
              <a:tr h="914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accelerate ();</a:t>
                      </a:r>
                      <a:endParaRPr b="0" lang="en-US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brake ();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1" name="Oval 9"/>
          <p:cNvSpPr/>
          <p:nvPr/>
        </p:nvSpPr>
        <p:spPr>
          <a:xfrm>
            <a:off x="2926080" y="4344840"/>
            <a:ext cx="225720" cy="225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34817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</p:sp>
      <p:sp>
        <p:nvSpPr>
          <p:cNvPr id="102" name="Straight Connector 14"/>
          <p:cNvSpPr/>
          <p:nvPr/>
        </p:nvSpPr>
        <p:spPr>
          <a:xfrm flipH="1">
            <a:off x="3033360" y="4570560"/>
            <a:ext cx="5400" cy="356040"/>
          </a:xfrm>
          <a:prstGeom prst="line">
            <a:avLst/>
          </a:prstGeom>
          <a:ln w="19050">
            <a:solidFill>
              <a:srgbClr val="d34817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3" name="Straight Connector 17"/>
          <p:cNvSpPr/>
          <p:nvPr/>
        </p:nvSpPr>
        <p:spPr>
          <a:xfrm flipH="1">
            <a:off x="2913120" y="4570560"/>
            <a:ext cx="118080" cy="151560"/>
          </a:xfrm>
          <a:prstGeom prst="line">
            <a:avLst/>
          </a:prstGeom>
          <a:ln w="19050">
            <a:solidFill>
              <a:srgbClr val="d34817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4" name="Straight Connector 20"/>
          <p:cNvSpPr/>
          <p:nvPr/>
        </p:nvSpPr>
        <p:spPr>
          <a:xfrm flipH="1" flipV="1">
            <a:off x="3032280" y="4570560"/>
            <a:ext cx="118080" cy="151560"/>
          </a:xfrm>
          <a:prstGeom prst="line">
            <a:avLst/>
          </a:prstGeom>
          <a:ln w="19050">
            <a:solidFill>
              <a:srgbClr val="d34817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5" name="Straight Connector 23"/>
          <p:cNvSpPr/>
          <p:nvPr/>
        </p:nvSpPr>
        <p:spPr>
          <a:xfrm flipH="1" flipV="1">
            <a:off x="3041280" y="4805640"/>
            <a:ext cx="118080" cy="151560"/>
          </a:xfrm>
          <a:prstGeom prst="line">
            <a:avLst/>
          </a:prstGeom>
          <a:ln w="19050">
            <a:solidFill>
              <a:srgbClr val="d34817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6" name="Straight Connector 26"/>
          <p:cNvSpPr/>
          <p:nvPr/>
        </p:nvSpPr>
        <p:spPr>
          <a:xfrm flipH="1">
            <a:off x="2912400" y="4801320"/>
            <a:ext cx="118440" cy="151560"/>
          </a:xfrm>
          <a:prstGeom prst="line">
            <a:avLst/>
          </a:prstGeom>
          <a:ln w="19050">
            <a:solidFill>
              <a:srgbClr val="d34817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7" name="TextBox 28"/>
          <p:cNvSpPr/>
          <p:nvPr/>
        </p:nvSpPr>
        <p:spPr>
          <a:xfrm>
            <a:off x="2651760" y="3938400"/>
            <a:ext cx="8013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Client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8" name="Straight Arrow Connector 29"/>
          <p:cNvSpPr/>
          <p:nvPr/>
        </p:nvSpPr>
        <p:spPr>
          <a:xfrm flipV="1">
            <a:off x="6521400" y="4465440"/>
            <a:ext cx="360" cy="300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d34817"/>
            </a:solidFill>
            <a:round/>
            <a:tailEnd len="med" type="triangle" w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9" name="Straight Arrow Connector 31"/>
          <p:cNvSpPr/>
          <p:nvPr/>
        </p:nvSpPr>
        <p:spPr>
          <a:xfrm>
            <a:off x="6522840" y="4858920"/>
            <a:ext cx="360" cy="300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d34817"/>
            </a:solidFill>
            <a:round/>
            <a:tailEnd len="med" type="triangle" w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0" name="TextBox 32"/>
          <p:cNvSpPr/>
          <p:nvPr/>
        </p:nvSpPr>
        <p:spPr>
          <a:xfrm>
            <a:off x="6525000" y="4581720"/>
            <a:ext cx="702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speed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1" name="Rectangle 34"/>
          <p:cNvSpPr/>
          <p:nvPr/>
        </p:nvSpPr>
        <p:spPr>
          <a:xfrm>
            <a:off x="7413120" y="3366720"/>
            <a:ext cx="1555200" cy="1004760"/>
          </a:xfrm>
          <a:prstGeom prst="rect">
            <a:avLst/>
          </a:prstGeom>
          <a:noFill/>
          <a:ln w="19050"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2" name="Oval 36"/>
          <p:cNvSpPr/>
          <p:nvPr/>
        </p:nvSpPr>
        <p:spPr>
          <a:xfrm>
            <a:off x="7718400" y="3610080"/>
            <a:ext cx="157680" cy="157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</p:sp>
      <p:sp>
        <p:nvSpPr>
          <p:cNvPr id="113" name="Oval 37"/>
          <p:cNvSpPr/>
          <p:nvPr/>
        </p:nvSpPr>
        <p:spPr>
          <a:xfrm>
            <a:off x="8161920" y="3610080"/>
            <a:ext cx="157680" cy="157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</p:sp>
      <p:sp>
        <p:nvSpPr>
          <p:cNvPr id="114" name="Oval 38"/>
          <p:cNvSpPr/>
          <p:nvPr/>
        </p:nvSpPr>
        <p:spPr>
          <a:xfrm>
            <a:off x="7718400" y="3960360"/>
            <a:ext cx="157680" cy="157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</p:sp>
      <p:sp>
        <p:nvSpPr>
          <p:cNvPr id="115" name="Oval 39"/>
          <p:cNvSpPr/>
          <p:nvPr/>
        </p:nvSpPr>
        <p:spPr>
          <a:xfrm>
            <a:off x="8161920" y="3961440"/>
            <a:ext cx="157680" cy="157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</p:sp>
      <p:sp>
        <p:nvSpPr>
          <p:cNvPr id="116" name="Oval 40"/>
          <p:cNvSpPr/>
          <p:nvPr/>
        </p:nvSpPr>
        <p:spPr>
          <a:xfrm>
            <a:off x="8589240" y="3961440"/>
            <a:ext cx="157680" cy="157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</p:sp>
      <p:sp>
        <p:nvSpPr>
          <p:cNvPr id="117" name="Straight Arrow Connector 41"/>
          <p:cNvSpPr/>
          <p:nvPr/>
        </p:nvSpPr>
        <p:spPr>
          <a:xfrm>
            <a:off x="7876440" y="3688920"/>
            <a:ext cx="2851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8" name="Straight Arrow Connector 44"/>
          <p:cNvSpPr/>
          <p:nvPr/>
        </p:nvSpPr>
        <p:spPr>
          <a:xfrm>
            <a:off x="7876440" y="4039560"/>
            <a:ext cx="285120" cy="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9" name="Straight Arrow Connector 47"/>
          <p:cNvSpPr/>
          <p:nvPr/>
        </p:nvSpPr>
        <p:spPr>
          <a:xfrm>
            <a:off x="8319600" y="4040640"/>
            <a:ext cx="2689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0" name="Straight Arrow Connector 50"/>
          <p:cNvSpPr/>
          <p:nvPr/>
        </p:nvSpPr>
        <p:spPr>
          <a:xfrm>
            <a:off x="8240760" y="3767760"/>
            <a:ext cx="360" cy="193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1" name="Straight Arrow Connector 54"/>
          <p:cNvSpPr/>
          <p:nvPr/>
        </p:nvSpPr>
        <p:spPr>
          <a:xfrm>
            <a:off x="7797600" y="3767760"/>
            <a:ext cx="360" cy="192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2" name="Straight Arrow Connector 57"/>
          <p:cNvSpPr/>
          <p:nvPr/>
        </p:nvSpPr>
        <p:spPr>
          <a:xfrm>
            <a:off x="8319600" y="3688920"/>
            <a:ext cx="347760" cy="272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3" name="Straight Arrow Connector 60"/>
          <p:cNvSpPr/>
          <p:nvPr/>
        </p:nvSpPr>
        <p:spPr>
          <a:xfrm>
            <a:off x="2462760" y="4691160"/>
            <a:ext cx="2901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d34817"/>
            </a:solidFill>
            <a:round/>
            <a:tailEnd len="med" type="triangle" w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4" name="Straight Arrow Connector 63"/>
          <p:cNvSpPr/>
          <p:nvPr/>
        </p:nvSpPr>
        <p:spPr>
          <a:xfrm>
            <a:off x="3440520" y="4691160"/>
            <a:ext cx="11412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d34817"/>
            </a:solidFill>
            <a:round/>
            <a:tailEnd len="med" type="triangle" w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5" name="TextBox 65"/>
          <p:cNvSpPr/>
          <p:nvPr/>
        </p:nvSpPr>
        <p:spPr>
          <a:xfrm>
            <a:off x="3665160" y="4338720"/>
            <a:ext cx="650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press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6" name="TextBox 66"/>
          <p:cNvSpPr/>
          <p:nvPr/>
        </p:nvSpPr>
        <p:spPr>
          <a:xfrm>
            <a:off x="8976240" y="3357360"/>
            <a:ext cx="21121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System with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complex architecture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of accelerate method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7" name="Straight Arrow Connector 67"/>
          <p:cNvSpPr/>
          <p:nvPr/>
        </p:nvSpPr>
        <p:spPr>
          <a:xfrm flipV="1">
            <a:off x="5928480" y="3868560"/>
            <a:ext cx="1484280" cy="742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d34817"/>
            </a:solidFill>
            <a:round/>
            <a:tailEnd len="med" type="triangle" w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8" name="TextBox 73"/>
          <p:cNvSpPr/>
          <p:nvPr/>
        </p:nvSpPr>
        <p:spPr>
          <a:xfrm>
            <a:off x="4595400" y="5201640"/>
            <a:ext cx="1615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This is a facade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layer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058040" cy="16088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5400" spc="-1" strike="noStrike" cap="all">
                <a:latin typeface="Times New Roman"/>
              </a:rPr>
              <a:t>Example: SmartHome</a:t>
            </a:r>
            <a:endParaRPr b="0" lang="en-US" sz="54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30" name="Rectangle 4"/>
          <p:cNvSpPr/>
          <p:nvPr/>
        </p:nvSpPr>
        <p:spPr>
          <a:xfrm>
            <a:off x="504360" y="2057760"/>
            <a:ext cx="6095520" cy="33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ff"/>
                </a:solidFill>
                <a:latin typeface="Consolas"/>
              </a:rPr>
              <a:t>#include </a:t>
            </a:r>
            <a:r>
              <a:rPr b="0" lang="en-US" sz="1200" spc="-1" strike="noStrike">
                <a:solidFill>
                  <a:srgbClr val="a31515"/>
                </a:solidFill>
                <a:latin typeface="Consolas"/>
              </a:rPr>
              <a:t>&lt;string&gt;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ff"/>
                </a:solidFill>
                <a:latin typeface="Consolas"/>
              </a:rPr>
              <a:t>#include </a:t>
            </a:r>
            <a:r>
              <a:rPr b="0" lang="en-US" sz="1200" spc="-1" strike="noStrike">
                <a:solidFill>
                  <a:srgbClr val="a31515"/>
                </a:solidFill>
                <a:latin typeface="Consolas"/>
              </a:rPr>
              <a:t>&lt;iostream&gt;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br>
              <a:rPr sz="1200"/>
            </a:br>
            <a:r>
              <a:rPr b="0" lang="en-US" sz="1200" spc="-1" strike="noStrike">
                <a:solidFill>
                  <a:srgbClr val="0000ff"/>
                </a:solidFill>
                <a:latin typeface="Consolas"/>
              </a:rPr>
              <a:t>using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 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</a:rPr>
              <a:t>namespace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 std;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br>
              <a:rPr sz="1200"/>
            </a:br>
            <a:r>
              <a:rPr b="0" lang="en-US" sz="1200" spc="-1" strike="noStrike">
                <a:solidFill>
                  <a:srgbClr val="0000ff"/>
                </a:solidFill>
                <a:latin typeface="Consolas"/>
              </a:rPr>
              <a:t>class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 Alaram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{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ff"/>
                </a:solidFill>
                <a:latin typeface="Consolas"/>
              </a:rPr>
              <a:t>public: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    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</a:rPr>
              <a:t>void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 alarmOn()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   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{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       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cout &lt;&lt; </a:t>
            </a:r>
            <a:r>
              <a:rPr b="0" lang="en-US" sz="1200" spc="-1" strike="noStrike">
                <a:solidFill>
                  <a:srgbClr val="a31515"/>
                </a:solidFill>
                <a:latin typeface="Consolas"/>
              </a:rPr>
              <a:t>"Alarm is on and house is secured"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 &lt;&lt; endl;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   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}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    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</a:rPr>
              <a:t>void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 alarmOff()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   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{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       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cout &lt;&lt; </a:t>
            </a:r>
            <a:r>
              <a:rPr b="0" lang="en-US" sz="1200" spc="-1" strike="noStrike">
                <a:solidFill>
                  <a:srgbClr val="a31515"/>
                </a:solidFill>
                <a:latin typeface="Consolas"/>
              </a:rPr>
              <a:t>"Alarm is off and you can go into the house"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 &lt;&lt; endl;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   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}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};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31" name="Rectangle 5"/>
          <p:cNvSpPr/>
          <p:nvPr/>
        </p:nvSpPr>
        <p:spPr>
          <a:xfrm>
            <a:off x="7413840" y="1737360"/>
            <a:ext cx="4067640" cy="46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ff"/>
                </a:solidFill>
                <a:latin typeface="Consolas"/>
              </a:rPr>
              <a:t>class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 AirConditioner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{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ff"/>
                </a:solidFill>
                <a:latin typeface="Consolas"/>
              </a:rPr>
              <a:t>public: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    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</a:rPr>
              <a:t>void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 acOn()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   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{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       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cout &lt;&lt; </a:t>
            </a:r>
            <a:r>
              <a:rPr b="0" lang="en-US" sz="1200" spc="-1" strike="noStrike">
                <a:solidFill>
                  <a:srgbClr val="a31515"/>
                </a:solidFill>
                <a:latin typeface="Consolas"/>
              </a:rPr>
              <a:t>"Ac is on"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 &lt;&lt; endl;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   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}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    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</a:rPr>
              <a:t>void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 acOff()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   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{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       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cout &lt;&lt; </a:t>
            </a:r>
            <a:r>
              <a:rPr b="0" lang="en-US" sz="1200" spc="-1" strike="noStrike">
                <a:solidFill>
                  <a:srgbClr val="a31515"/>
                </a:solidFill>
                <a:latin typeface="Consolas"/>
              </a:rPr>
              <a:t>"Ac is off"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 &lt;&lt; endl;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   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}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};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br>
              <a:rPr sz="1200"/>
            </a:br>
            <a:r>
              <a:rPr b="0" lang="en-US" sz="1200" spc="-1" strike="noStrike">
                <a:solidFill>
                  <a:srgbClr val="0000ff"/>
                </a:solidFill>
                <a:latin typeface="Consolas"/>
              </a:rPr>
              <a:t>class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 TV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{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ff"/>
                </a:solidFill>
                <a:latin typeface="Consolas"/>
              </a:rPr>
              <a:t>public: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    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</a:rPr>
              <a:t>void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 tvOn()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   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{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       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cout &lt;&lt; </a:t>
            </a:r>
            <a:r>
              <a:rPr b="0" lang="en-US" sz="1200" spc="-1" strike="noStrike">
                <a:solidFill>
                  <a:srgbClr val="a31515"/>
                </a:solidFill>
                <a:latin typeface="Consolas"/>
              </a:rPr>
              <a:t>"Tv is on"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 &lt;&lt; endl;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   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}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    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</a:rPr>
              <a:t>void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 tvOff()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   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{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       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cout &lt;&lt; </a:t>
            </a:r>
            <a:r>
              <a:rPr b="0" lang="en-US" sz="1200" spc="-1" strike="noStrike">
                <a:solidFill>
                  <a:srgbClr val="a31515"/>
                </a:solidFill>
                <a:latin typeface="Consolas"/>
              </a:rPr>
              <a:t>"Tv is off"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 &lt;&lt; endl;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   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}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};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32" name="Straight Connector 7"/>
          <p:cNvSpPr/>
          <p:nvPr/>
        </p:nvSpPr>
        <p:spPr>
          <a:xfrm>
            <a:off x="6902640" y="2165400"/>
            <a:ext cx="34200" cy="3726360"/>
          </a:xfrm>
          <a:prstGeom prst="line">
            <a:avLst/>
          </a:prstGeom>
          <a:ln w="28575">
            <a:solidFill>
              <a:srgbClr val="d34817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3" name="TextBox 8"/>
          <p:cNvSpPr/>
          <p:nvPr/>
        </p:nvSpPr>
        <p:spPr>
          <a:xfrm>
            <a:off x="9624600" y="2094120"/>
            <a:ext cx="2068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69240b"/>
                </a:solidFill>
                <a:latin typeface="Times New Roman"/>
              </a:rPr>
              <a:t>main.cpp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4" name="TextBox 9"/>
          <p:cNvSpPr/>
          <p:nvPr/>
        </p:nvSpPr>
        <p:spPr>
          <a:xfrm>
            <a:off x="3552120" y="2516400"/>
            <a:ext cx="2068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69240b"/>
                </a:solidFill>
                <a:latin typeface="Times New Roman"/>
              </a:rPr>
              <a:t>main.cpp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058040" cy="16088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5400" spc="-1" strike="noStrike" cap="all">
                <a:latin typeface="Times New Roman"/>
              </a:rPr>
              <a:t>Example: SmartHome</a:t>
            </a:r>
            <a:endParaRPr b="0" lang="en-US" sz="54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36" name="Rectangle 3"/>
          <p:cNvSpPr/>
          <p:nvPr/>
        </p:nvSpPr>
        <p:spPr>
          <a:xfrm>
            <a:off x="519840" y="1737360"/>
            <a:ext cx="2738880" cy="447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ff"/>
                </a:solidFill>
                <a:latin typeface="Consolas"/>
              </a:rPr>
              <a:t>class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 HouseFacade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{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ff"/>
                </a:solidFill>
                <a:latin typeface="Consolas"/>
              </a:rPr>
              <a:t>private: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   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Alaram alarm;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   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AirConditioner ac;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   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TV tv;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br>
              <a:rPr sz="1200"/>
            </a:br>
            <a:r>
              <a:rPr b="0" lang="en-US" sz="1200" spc="-1" strike="noStrike">
                <a:solidFill>
                  <a:srgbClr val="0000ff"/>
                </a:solidFill>
                <a:latin typeface="Consolas"/>
              </a:rPr>
              <a:t>public: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   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HouseFacade() {}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    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</a:rPr>
              <a:t>void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 goToWork()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   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{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       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ac.acOff();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       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tv.tvOff();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       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alarm.alarmOn();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   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}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    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</a:rPr>
              <a:t>void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 comeHome()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   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{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       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alarm.alarmOff();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       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ac.acOn();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       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tv.tvOn();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   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}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};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37" name="Rectangle 4"/>
          <p:cNvSpPr/>
          <p:nvPr/>
        </p:nvSpPr>
        <p:spPr>
          <a:xfrm>
            <a:off x="3045600" y="1737360"/>
            <a:ext cx="9145800" cy="22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br>
              <a:rPr sz="1200"/>
            </a:br>
            <a:r>
              <a:rPr b="0" lang="en-US" sz="120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 main()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{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   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HouseFacade hf;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br>
              <a:rPr sz="1200"/>
            </a:br>
            <a:r>
              <a:rPr b="0" lang="en-US" sz="1200" spc="-1" strike="noStrike">
                <a:solidFill>
                  <a:srgbClr val="008000"/>
                </a:solidFill>
                <a:latin typeface="Consolas"/>
              </a:rPr>
              <a:t>    </a:t>
            </a:r>
            <a:r>
              <a:rPr b="0" lang="en-US" sz="1200" spc="-1" strike="noStrike">
                <a:solidFill>
                  <a:srgbClr val="008000"/>
                </a:solidFill>
                <a:latin typeface="Consolas"/>
              </a:rPr>
              <a:t>// Rather than calling 100 different on and off functions thanks to facade we only have 2 functions...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   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cout &lt;&lt; </a:t>
            </a:r>
            <a:r>
              <a:rPr b="0" lang="en-US" sz="1200" spc="-1" strike="noStrike">
                <a:solidFill>
                  <a:srgbClr val="a31515"/>
                </a:solidFill>
                <a:latin typeface="Consolas"/>
              </a:rPr>
              <a:t>"Going to work:"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 &lt;&lt; endl;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   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hf.goToWork();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   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cout &lt;&lt; </a:t>
            </a:r>
            <a:r>
              <a:rPr b="0" lang="en-US" sz="1200" spc="-1" strike="noStrike">
                <a:solidFill>
                  <a:srgbClr val="a31515"/>
                </a:solidFill>
                <a:latin typeface="Consolas"/>
              </a:rPr>
              <a:t>"\nJust got home:"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 &lt;&lt; endl;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   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hf.comeHome();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</a:rPr>
              <a:t>}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38" name="Rectangle 5"/>
          <p:cNvSpPr/>
          <p:nvPr/>
        </p:nvSpPr>
        <p:spPr>
          <a:xfrm>
            <a:off x="5451480" y="4131000"/>
            <a:ext cx="4537800" cy="222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c00000"/>
                </a:solidFill>
                <a:latin typeface="Times New Roman"/>
              </a:rPr>
              <a:t>Output: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030a0"/>
                </a:solidFill>
                <a:latin typeface="Times New Roman"/>
              </a:rPr>
              <a:t>Going to work: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030a0"/>
                </a:solidFill>
                <a:latin typeface="Times New Roman"/>
              </a:rPr>
              <a:t>Ac is off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030a0"/>
                </a:solidFill>
                <a:latin typeface="Times New Roman"/>
              </a:rPr>
              <a:t>Tv is off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030a0"/>
                </a:solidFill>
                <a:latin typeface="Times New Roman"/>
              </a:rPr>
              <a:t>Alarm is on and house is secured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030a0"/>
                </a:solidFill>
                <a:latin typeface="Times New Roman"/>
              </a:rPr>
              <a:t>Just got home: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030a0"/>
                </a:solidFill>
                <a:latin typeface="Times New Roman"/>
              </a:rPr>
              <a:t>Alarm is off and you can go into the house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030a0"/>
                </a:solidFill>
                <a:latin typeface="Times New Roman"/>
              </a:rPr>
              <a:t>Ac is on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030a0"/>
                </a:solidFill>
                <a:latin typeface="Times New Roman"/>
              </a:rPr>
              <a:t>Tv is on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39" name="Straight Connector 6"/>
          <p:cNvSpPr/>
          <p:nvPr/>
        </p:nvSpPr>
        <p:spPr>
          <a:xfrm>
            <a:off x="2956320" y="2267640"/>
            <a:ext cx="34200" cy="3726360"/>
          </a:xfrm>
          <a:prstGeom prst="line">
            <a:avLst/>
          </a:prstGeom>
          <a:ln w="28575">
            <a:solidFill>
              <a:srgbClr val="d34817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0" name="Straight Connector 7"/>
          <p:cNvSpPr/>
          <p:nvPr/>
        </p:nvSpPr>
        <p:spPr>
          <a:xfrm>
            <a:off x="3313800" y="3999240"/>
            <a:ext cx="4304880" cy="360"/>
          </a:xfrm>
          <a:prstGeom prst="line">
            <a:avLst/>
          </a:prstGeom>
          <a:ln w="28575">
            <a:solidFill>
              <a:srgbClr val="d34817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1" name="TextBox 11"/>
          <p:cNvSpPr/>
          <p:nvPr/>
        </p:nvSpPr>
        <p:spPr>
          <a:xfrm>
            <a:off x="854640" y="6077160"/>
            <a:ext cx="1634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69240b"/>
                </a:solidFill>
                <a:latin typeface="Times New Roman"/>
              </a:rPr>
              <a:t>main.cpp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2" name="TextBox 12"/>
          <p:cNvSpPr/>
          <p:nvPr/>
        </p:nvSpPr>
        <p:spPr>
          <a:xfrm>
            <a:off x="9255240" y="2022480"/>
            <a:ext cx="2068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69240b"/>
                </a:solidFill>
                <a:latin typeface="Times New Roman"/>
              </a:rPr>
              <a:t>main.cpp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1076</TotalTime>
  <Application>LibreOffice/7.3.7.2$Linux_X86_64 LibreOffice_project/30$Build-2</Application>
  <AppVersion>15.0000</AppVersion>
  <Words>1085</Words>
  <Paragraphs>357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2024-09-23T05:24:39Z</dcterms:created>
  <dc:creator>A K M Iqtidar Newaz</dc:creator>
  <dc:description/>
  <dc:language>en-US</dc:language>
  <cp:lastModifiedBy/>
  <dcterms:modified xsi:type="dcterms:W3CDTF">2025-11-26T17:11:45Z</dcterms:modified>
  <cp:revision>55</cp:revision>
  <dc:subject/>
  <dc:title>CSE327  Software Engineering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13</vt:i4>
  </property>
</Properties>
</file>