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72" r:id="rId4"/>
    <p:sldId id="294" r:id="rId5"/>
    <p:sldId id="295" r:id="rId6"/>
    <p:sldId id="296" r:id="rId7"/>
    <p:sldId id="297" r:id="rId8"/>
    <p:sldId id="298" r:id="rId9"/>
    <p:sldId id="299" r:id="rId10"/>
    <p:sldId id="30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3" autoAdjust="0"/>
    <p:restoredTop sz="87025" autoAdjust="0"/>
  </p:normalViewPr>
  <p:slideViewPr>
    <p:cSldViewPr snapToGrid="0">
      <p:cViewPr varScale="1">
        <p:scale>
          <a:sx n="71" d="100"/>
          <a:sy n="71" d="100"/>
        </p:scale>
        <p:origin x="110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0CA33-806B-4F54-A6B9-BD827E2168F1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194F8-6598-4824-B2DB-DE7496B3104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6F4E36D-F334-4E2F-A349-236A1C51F0BF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235077"/>
            <a:ext cx="10058400" cy="356616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CSE327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AKM iqtidar Newaz 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IqN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- 13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Arrow Connector 26"/>
          <p:cNvCxnSpPr/>
          <p:nvPr/>
        </p:nvCxnSpPr>
        <p:spPr>
          <a:xfrm flipV="1">
            <a:off x="5589726" y="4986744"/>
            <a:ext cx="445314" cy="368971"/>
          </a:xfrm>
          <a:prstGeom prst="straightConnector1">
            <a:avLst/>
          </a:prstGeom>
          <a:ln w="1905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5589726" y="4986744"/>
            <a:ext cx="423799" cy="361518"/>
          </a:xfrm>
          <a:prstGeom prst="straightConnector1">
            <a:avLst/>
          </a:prstGeom>
          <a:ln w="1905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Proxy Design Pattern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1878494"/>
            <a:ext cx="10058399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Proxy is a </a:t>
            </a:r>
            <a:r>
              <a:rPr 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 design pattern </a:t>
            </a:r>
            <a:r>
              <a: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lets you provide a substitute or place holder for another object. A proxy controls access to the original object, allowing you to perform something either before or after the request gets through to the original object.</a:t>
            </a:r>
            <a:endParaRPr lang="en-US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60830" y="3963844"/>
            <a:ext cx="6687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991062" y="3829110"/>
            <a:ext cx="1646604" cy="16250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049570" y="3421547"/>
            <a:ext cx="1529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Proxy Server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217614" y="3963844"/>
            <a:ext cx="15135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Internet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/>
          <p:cNvCxnSpPr>
            <a:stCxn id="3" idx="3"/>
            <a:endCxn id="10" idx="1"/>
          </p:cNvCxnSpPr>
          <p:nvPr/>
        </p:nvCxnSpPr>
        <p:spPr>
          <a:xfrm>
            <a:off x="2129604" y="4163899"/>
            <a:ext cx="7088010" cy="0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0452" y="4189500"/>
            <a:ext cx="16060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Whitelisted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Addresses ...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98511" y="3677270"/>
            <a:ext cx="22172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Trying to access with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Blocked IP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IP: 92.1.2.22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91098" y="3677270"/>
            <a:ext cx="19864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granted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whitelist IP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IP: 22.52.2.201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49570" y="4978930"/>
            <a:ext cx="152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IP: 92.1.2.22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Key Components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>
              <a:buFont typeface="Wingdings" panose="05000000000000000000" charset="0"/>
              <a:buChar char="o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Subject Interface: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charset="0"/>
              <a:buChar char="v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Defines the common interface for the proxy and real object.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Wingdings" panose="05000000000000000000" charset="0"/>
              <a:buChar char="o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Real Subject: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charset="0"/>
              <a:buChar char="v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actual subject that performs the real operation.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Wingdings" panose="05000000000000000000" charset="0"/>
              <a:buChar char="o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Proxy: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charset="0"/>
              <a:buChar char="v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Acts as an intermediary.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charset="0"/>
              <a:buChar char="v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Adds functionality (e.g., access control) before delegating the request to the real subject.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Wingdings" panose="05000000000000000000" charset="0"/>
              <a:buChar char="o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Client: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charset="0"/>
              <a:buChar char="v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The client interacts with the proxy, which in turn interacts with the real object.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charset="0"/>
              <a:buChar char="§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1 (Internet Connection)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40155" y="1954530"/>
            <a:ext cx="9915525" cy="347662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200"/>
              </a:lnSpc>
            </a:pPr>
            <a:r>
              <a:rPr sz="16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sz="16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&lt;iostream&gt;</a:t>
            </a:r>
            <a:endParaRPr sz="1600" b="0">
              <a:solidFill>
                <a:srgbClr val="A3151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sz="16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&lt;vector&gt;</a:t>
            </a:r>
            <a:endParaRPr sz="1600" b="0">
              <a:solidFill>
                <a:srgbClr val="A3151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sz="16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&lt;algorithm&gt;</a:t>
            </a:r>
            <a:endParaRPr sz="1600" b="0">
              <a:solidFill>
                <a:srgbClr val="A3151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usingnamespace</a:t>
            </a: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std;</a:t>
            </a:r>
            <a:endParaRPr sz="16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6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8000"/>
                </a:solidFill>
                <a:latin typeface="Consolas" panose="020B0609020204030204"/>
                <a:ea typeface="Consolas" panose="020B0609020204030204"/>
              </a:rPr>
              <a:t>// Abstract class or Interface</a:t>
            </a:r>
            <a:endParaRPr sz="1600" b="0">
              <a:solidFill>
                <a:srgbClr val="008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class</a:t>
            </a: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Internet</a:t>
            </a:r>
            <a:endParaRPr sz="16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6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public:</a:t>
            </a:r>
            <a:endParaRPr sz="1600" b="0">
              <a:solidFill>
                <a:srgbClr val="0000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6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virtualvoid</a:t>
            </a: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connectTo(</a:t>
            </a:r>
            <a:r>
              <a:rPr sz="16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const</a:t>
            </a: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string </a:t>
            </a:r>
            <a:r>
              <a:rPr sz="16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serverHost) </a:t>
            </a:r>
            <a:r>
              <a:rPr sz="16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const</a:t>
            </a: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= </a:t>
            </a:r>
            <a:r>
              <a:rPr sz="1600" b="0">
                <a:solidFill>
                  <a:srgbClr val="098658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sz="16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6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virtual</a:t>
            </a: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~Internet() = </a:t>
            </a:r>
            <a:r>
              <a:rPr sz="16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default</a:t>
            </a: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sz="16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};</a:t>
            </a:r>
            <a:endParaRPr sz="16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6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8000"/>
                </a:solidFill>
                <a:latin typeface="Consolas" panose="020B0609020204030204"/>
                <a:ea typeface="Consolas" panose="020B0609020204030204"/>
              </a:rPr>
              <a:t>// Real Internet Class</a:t>
            </a:r>
            <a:endParaRPr sz="1600" b="0">
              <a:solidFill>
                <a:srgbClr val="008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class</a:t>
            </a: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RealInternet : </a:t>
            </a:r>
            <a:r>
              <a:rPr sz="16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public</a:t>
            </a: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Internet</a:t>
            </a:r>
            <a:endParaRPr sz="16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6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public:</a:t>
            </a:r>
            <a:endParaRPr sz="1600" b="0">
              <a:solidFill>
                <a:srgbClr val="0000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6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void</a:t>
            </a: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connectTo(</a:t>
            </a:r>
            <a:r>
              <a:rPr sz="16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const</a:t>
            </a: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string </a:t>
            </a:r>
            <a:r>
              <a:rPr sz="16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serverHost) </a:t>
            </a:r>
            <a:r>
              <a:rPr sz="16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constoverride</a:t>
            </a:r>
            <a:endParaRPr sz="1600" b="0">
              <a:solidFill>
                <a:srgbClr val="0000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{</a:t>
            </a:r>
            <a:endParaRPr sz="16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cout &lt;&lt;</a:t>
            </a:r>
            <a:r>
              <a:rPr sz="16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"Connecting to "</a:t>
            </a: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&lt;&lt; serverHost &lt;&lt; endl;</a:t>
            </a:r>
            <a:endParaRPr sz="16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}</a:t>
            </a:r>
            <a:endParaRPr sz="16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};</a:t>
            </a:r>
            <a:endParaRPr sz="16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63535" y="2397760"/>
            <a:ext cx="1214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Main.cpp</a:t>
            </a:r>
            <a:endParaRPr lang="en-US" b="1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1 (Internet Connection)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984250" y="1904365"/>
            <a:ext cx="10778490" cy="397192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ts val="1200"/>
              </a:lnSpc>
            </a:pPr>
            <a:r>
              <a:rPr sz="1400" b="0">
                <a:solidFill>
                  <a:srgbClr val="008000"/>
                </a:solidFill>
                <a:latin typeface="Consolas" panose="020B0609020204030204"/>
                <a:ea typeface="Consolas" panose="020B0609020204030204"/>
              </a:rPr>
              <a:t>// Proxy Internet Class</a:t>
            </a:r>
            <a:endParaRPr sz="1400" b="0">
              <a:solidFill>
                <a:srgbClr val="008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class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ProxyInternet :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public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Internet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private:</a:t>
            </a:r>
            <a:endParaRPr sz="1400" b="0">
              <a:solidFill>
                <a:srgbClr val="0000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400" b="0">
              <a:solidFill>
                <a:srgbClr val="0000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RealInternet *realInternet;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static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vector&lt;string&gt; bannedSites;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public:</a:t>
            </a:r>
            <a:endParaRPr sz="1400" b="0">
              <a:solidFill>
                <a:srgbClr val="0000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ProxyInternet() : realInternet(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new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RealInternet()) {}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void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connectTo(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const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string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serverHost)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constoverride</a:t>
            </a:r>
            <a:endParaRPr sz="1400" b="0">
              <a:solidFill>
                <a:srgbClr val="0000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{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string lowerServerHost = serverHost;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transform(lowerServerHost.begin(), lowerServerHost.end(), lowerServerHost.begin(), ::tolower);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if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(find(bannedSites.begin(), bannedSites.end(), lowerServerHost) != bannedSites.end())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{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   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throw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runtime_error(</a:t>
            </a:r>
            <a:r>
              <a:rPr sz="14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"Access Denied to "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+ serverHost);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}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}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84250" y="5707380"/>
            <a:ext cx="10449560" cy="39878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200"/>
              </a:lnSpc>
            </a:pPr>
            <a:r>
              <a:rPr sz="1400" b="0">
                <a:solidFill>
                  <a:srgbClr val="008000"/>
                </a:solidFill>
                <a:latin typeface="Consolas" panose="020B0609020204030204"/>
                <a:ea typeface="Consolas" panose="020B0609020204030204"/>
              </a:rPr>
              <a:t>// Initializing static banned sites</a:t>
            </a:r>
            <a:endParaRPr sz="1400" b="0">
              <a:solidFill>
                <a:srgbClr val="008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vector&lt;string&gt; ProxyInternet::bannedSites = {</a:t>
            </a:r>
            <a:r>
              <a:rPr sz="14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"abc.com"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4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"xyz.com"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4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"banned.com"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63535" y="2397760"/>
            <a:ext cx="1214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Main.cpp</a:t>
            </a:r>
            <a:endParaRPr lang="en-US" b="1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1 (Internet Connection)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92760" y="1858010"/>
            <a:ext cx="5936615" cy="347662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200"/>
              </a:lnSpc>
            </a:pPr>
            <a:r>
              <a:rPr sz="1200" b="0">
                <a:solidFill>
                  <a:srgbClr val="008000"/>
                </a:solidFill>
                <a:latin typeface="Consolas" panose="020B0609020204030204"/>
                <a:ea typeface="Consolas" panose="020B0609020204030204"/>
              </a:rPr>
              <a:t>// Main Function</a:t>
            </a:r>
            <a:endParaRPr sz="1200" b="0">
              <a:solidFill>
                <a:srgbClr val="008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template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&lt;</a:t>
            </a: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typename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T&gt;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void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attemptConnection(T </a:t>
            </a: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internet, </a:t>
            </a: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const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string </a:t>
            </a: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site)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try</a:t>
            </a:r>
            <a:endParaRPr sz="1200" b="0">
              <a:solidFill>
                <a:srgbClr val="0000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{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internet.connectTo(site);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cout &lt;&lt;</a:t>
            </a:r>
            <a:r>
              <a:rPr sz="12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"Successfully connected to "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&lt;&lt; site &lt;&lt;</a:t>
            </a:r>
            <a:r>
              <a:rPr sz="12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"!"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&lt;&lt; endl;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}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catch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(</a:t>
            </a: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const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exception &amp;e)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{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cout &lt;&lt; e.what() &lt;&lt; endl;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}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main()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ProxyInternet internet;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attemptConnection(internet, </a:t>
            </a:r>
            <a:r>
              <a:rPr sz="12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"example.com"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attemptConnection(internet, </a:t>
            </a:r>
            <a:r>
              <a:rPr sz="12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"abc.com"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);</a:t>
            </a:r>
            <a:r>
              <a:rPr sz="1200" b="0">
                <a:solidFill>
                  <a:srgbClr val="008000"/>
                </a:solidFill>
                <a:latin typeface="Consolas" panose="020B0609020204030204"/>
                <a:ea typeface="Consolas" panose="020B0609020204030204"/>
              </a:rPr>
              <a:t> // This site is banned.</a:t>
            </a:r>
            <a:endParaRPr sz="1200" b="0">
              <a:solidFill>
                <a:srgbClr val="008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attemptConnection(internet, </a:t>
            </a:r>
            <a:r>
              <a:rPr sz="12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"stackoverflow.com"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491730" y="3228340"/>
            <a:ext cx="375031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altLang="en-US" sz="1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connected to example.com!</a:t>
            </a:r>
            <a:endParaRPr lang="en-US" altLang="en-US" sz="140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Access Denied to abc.com</a:t>
            </a:r>
            <a:endParaRPr lang="en-US" altLang="en-US" sz="140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connected to stackoverflow.com!</a:t>
            </a:r>
            <a:endParaRPr lang="en-US" altLang="en-US" sz="140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781425" y="3700780"/>
            <a:ext cx="1214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Main.cpp</a:t>
            </a:r>
            <a:endParaRPr lang="en-US" b="1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2 (Image Downloader)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2553970" y="1737360"/>
            <a:ext cx="7402195" cy="48615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sz="14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&lt;iostream&gt;</a:t>
            </a:r>
            <a:endParaRPr sz="1400" b="0">
              <a:solidFill>
                <a:srgbClr val="A3151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usingnamespace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std;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8000"/>
                </a:solidFill>
                <a:latin typeface="Consolas" panose="020B0609020204030204"/>
                <a:ea typeface="Consolas" panose="020B0609020204030204"/>
              </a:rPr>
              <a:t>// Abstract class or Interface</a:t>
            </a:r>
            <a:endParaRPr sz="1400" b="0">
              <a:solidFill>
                <a:srgbClr val="008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class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Image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public:</a:t>
            </a:r>
            <a:endParaRPr sz="1400" b="0">
              <a:solidFill>
                <a:srgbClr val="0000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virtualvoid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display()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const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= </a:t>
            </a:r>
            <a:r>
              <a:rPr sz="1400" b="0">
                <a:solidFill>
                  <a:srgbClr val="098658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virtual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~Image() =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default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8000"/>
                </a:solidFill>
                <a:latin typeface="Consolas" panose="020B0609020204030204"/>
                <a:ea typeface="Consolas" panose="020B0609020204030204"/>
              </a:rPr>
              <a:t>// Actual Subject</a:t>
            </a:r>
            <a:endParaRPr sz="1400" b="0">
              <a:solidFill>
                <a:srgbClr val="008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class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RealImage :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public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Image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private:</a:t>
            </a:r>
            <a:endParaRPr sz="1400" b="0">
              <a:solidFill>
                <a:srgbClr val="0000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string fileName;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void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load()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const</a:t>
            </a:r>
            <a:endParaRPr sz="1400" b="0">
              <a:solidFill>
                <a:srgbClr val="0000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{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cout &lt;&lt;</a:t>
            </a:r>
            <a:r>
              <a:rPr sz="14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"Loading image: "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&lt;&lt; fileName &lt;&lt; endl;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}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public:</a:t>
            </a:r>
            <a:endParaRPr sz="1400" b="0">
              <a:solidFill>
                <a:srgbClr val="0000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RealImage(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const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string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filename) : fileName(filename)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{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load();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}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void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display()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constoverride</a:t>
            </a:r>
            <a:endParaRPr sz="1400" b="0">
              <a:solidFill>
                <a:srgbClr val="0000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{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cout &lt;&lt;</a:t>
            </a:r>
            <a:r>
              <a:rPr sz="14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"Displaying image: "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&lt;&lt; fileName &lt;&lt; endl;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}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893685" y="2854960"/>
            <a:ext cx="1214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Main.cpp</a:t>
            </a:r>
            <a:endParaRPr lang="en-US" b="1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2 (Image Downloader)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487805" y="1994535"/>
            <a:ext cx="9169400" cy="393827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200"/>
              </a:lnSpc>
            </a:pPr>
            <a:r>
              <a:rPr sz="1400" b="0">
                <a:solidFill>
                  <a:srgbClr val="008000"/>
                </a:solidFill>
                <a:latin typeface="Consolas" panose="020B0609020204030204"/>
                <a:ea typeface="Consolas" panose="020B0609020204030204"/>
              </a:rPr>
              <a:t>// Proxy Subject</a:t>
            </a:r>
            <a:endParaRPr sz="1400" b="0">
              <a:solidFill>
                <a:srgbClr val="008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class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ProxyImage :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public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Image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public:</a:t>
            </a:r>
            <a:endParaRPr sz="1400" b="0">
              <a:solidFill>
                <a:srgbClr val="0000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string fileName;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mutable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RealImage *realImage;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public:</a:t>
            </a:r>
            <a:endParaRPr sz="1400" b="0">
              <a:solidFill>
                <a:srgbClr val="0000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ProxyImage(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const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string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filename) : fileName(filename), realImage(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nullptr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) {}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~ProxyImage()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{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delete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realImage;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}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void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display()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constoverride</a:t>
            </a:r>
            <a:endParaRPr sz="1400" b="0">
              <a:solidFill>
                <a:srgbClr val="0000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{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if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(realImage ==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nullptr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)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{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8000"/>
                </a:solidFill>
                <a:latin typeface="Consolas" panose="020B0609020204030204"/>
                <a:ea typeface="Consolas" panose="020B0609020204030204"/>
              </a:rPr>
              <a:t>            // Lazy initialization</a:t>
            </a:r>
            <a:endParaRPr sz="1400" b="0">
              <a:solidFill>
                <a:srgbClr val="008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    realImage =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new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RealImage(fileName);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}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realImage-&gt;display();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}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754620" y="2350770"/>
            <a:ext cx="1214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Main.cpp</a:t>
            </a:r>
            <a:endParaRPr lang="en-US" b="1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2 (Image Downloader)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416050" y="2640330"/>
            <a:ext cx="4559300" cy="86042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200"/>
              </a:lnSpc>
            </a:pPr>
            <a:r>
              <a:rPr sz="16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main()</a:t>
            </a:r>
            <a:endParaRPr sz="16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6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ProxyImage proxy(</a:t>
            </a:r>
            <a:r>
              <a:rPr sz="16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"dogs.png"</a:t>
            </a: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);</a:t>
            </a:r>
            <a:endParaRPr sz="16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proxy.display();</a:t>
            </a:r>
            <a:endParaRPr sz="16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6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6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218045" y="2783840"/>
            <a:ext cx="489204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altLang="en-US" sz="16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Loading image: dogs.png</a:t>
            </a:r>
            <a:endParaRPr lang="en-US" altLang="en-US" sz="160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Displaying image: dogs.png</a:t>
            </a:r>
            <a:endParaRPr lang="en-US" altLang="en-US" sz="160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343025" y="2162175"/>
            <a:ext cx="1214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Main.cpp</a:t>
            </a:r>
            <a:endParaRPr lang="en-US" b="1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3918</Words>
  <Application>WPS Presentation</Application>
  <PresentationFormat>Widescreen</PresentationFormat>
  <Paragraphs>212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Times New Roman</vt:lpstr>
      <vt:lpstr>Wingdings</vt:lpstr>
      <vt:lpstr>Consolas</vt:lpstr>
      <vt:lpstr>Calibri Light</vt:lpstr>
      <vt:lpstr>Microsoft YaHei</vt:lpstr>
      <vt:lpstr>Arial Unicode MS</vt:lpstr>
      <vt:lpstr>Retrospect</vt:lpstr>
      <vt:lpstr>CSE327  Software Engineering</vt:lpstr>
      <vt:lpstr>Proxy Design Pattern</vt:lpstr>
      <vt:lpstr>Key Components</vt:lpstr>
      <vt:lpstr>Example 1 (Internet Connection)</vt:lpstr>
      <vt:lpstr>Example 1 (Internet Connection)</vt:lpstr>
      <vt:lpstr>Example 1 (Internet Connection)</vt:lpstr>
      <vt:lpstr>Example 2 (Image Downloader)</vt:lpstr>
      <vt:lpstr>Example 2 (Image Downloader)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K M Iqtidar Newaz</dc:creator>
  <cp:lastModifiedBy>iqtid</cp:lastModifiedBy>
  <cp:revision>54</cp:revision>
  <dcterms:created xsi:type="dcterms:W3CDTF">2024-09-23T05:24:00Z</dcterms:created>
  <dcterms:modified xsi:type="dcterms:W3CDTF">2025-03-01T08:32:14Z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05B57055EAC94F13994539DC0B12503E_12</vt:lpwstr>
  </property>
  <property fmtid="{D5CDD505-2E9C-101B-9397-08002B2CF9AE}" pid="3" name="KSOProductBuildVer">
    <vt:lpwstr>1033-12.2.0.19805</vt:lpwstr>
  </property>
</Properties>
</file>