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94660"/>
  </p:normalViewPr>
  <p:slideViewPr>
    <p:cSldViewPr snapToGrid="0">
      <p:cViewPr varScale="1">
        <p:scale>
          <a:sx n="101" d="100"/>
          <a:sy n="101" d="100"/>
        </p:scale>
        <p:origin x="87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849D39-ECCE-494F-B6E0-EF26DA1A5E25}" type="datetimeFigureOut">
              <a:rPr lang="en-US" smtClean="0"/>
              <a:t>9/8/2024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964071-122F-4754-AB07-44FFB207A9E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7360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849D39-ECCE-494F-B6E0-EF26DA1A5E25}" type="datetimeFigureOut">
              <a:rPr lang="en-US" smtClean="0"/>
              <a:t>9/8/2024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964071-122F-4754-AB07-44FFB207A9EF}" type="slidenum">
              <a:rPr lang="en-US" smtClean="0"/>
              <a:t>‹#›</a:t>
            </a:fld>
            <a:endParaRPr lang="en-US"/>
          </a:p>
        </p:txBody>
      </p:sp>
    </p:spTree>
    <p:extLst>
      <p:ext uri="{BB962C8B-B14F-4D97-AF65-F5344CB8AC3E}">
        <p14:creationId xmlns:p14="http://schemas.microsoft.com/office/powerpoint/2010/main" val="1652779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849D39-ECCE-494F-B6E0-EF26DA1A5E25}" type="datetimeFigureOut">
              <a:rPr lang="en-US" smtClean="0"/>
              <a:t>9/8/2024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964071-122F-4754-AB07-44FFB207A9E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7595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849D39-ECCE-494F-B6E0-EF26DA1A5E25}" type="datetimeFigureOut">
              <a:rPr lang="en-US" smtClean="0"/>
              <a:t>9/8/2024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964071-122F-4754-AB07-44FFB207A9EF}" type="slidenum">
              <a:rPr lang="en-US" smtClean="0"/>
              <a:t>‹#›</a:t>
            </a:fld>
            <a:endParaRPr lang="en-US"/>
          </a:p>
        </p:txBody>
      </p:sp>
    </p:spTree>
    <p:extLst>
      <p:ext uri="{BB962C8B-B14F-4D97-AF65-F5344CB8AC3E}">
        <p14:creationId xmlns:p14="http://schemas.microsoft.com/office/powerpoint/2010/main" val="2525988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849D39-ECCE-494F-B6E0-EF26DA1A5E25}" type="datetimeFigureOut">
              <a:rPr lang="en-US" smtClean="0"/>
              <a:t>9/8/2024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964071-122F-4754-AB07-44FFB207A9EF}" type="slidenum">
              <a:rPr lang="en-US" smtClean="0"/>
              <a:t>‹#›</a:t>
            </a:fld>
            <a:endParaRPr lang="en-US"/>
          </a:p>
        </p:txBody>
      </p:sp>
    </p:spTree>
    <p:extLst>
      <p:ext uri="{BB962C8B-B14F-4D97-AF65-F5344CB8AC3E}">
        <p14:creationId xmlns:p14="http://schemas.microsoft.com/office/powerpoint/2010/main" val="1307930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849D39-ECCE-494F-B6E0-EF26DA1A5E25}" type="datetimeFigureOut">
              <a:rPr lang="en-US" smtClean="0"/>
              <a:t>9/8/2024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E964071-122F-4754-AB07-44FFB207A9EF}" type="slidenum">
              <a:rPr lang="en-US" smtClean="0"/>
              <a:t>‹#›</a:t>
            </a:fld>
            <a:endParaRPr lang="en-US"/>
          </a:p>
        </p:txBody>
      </p:sp>
    </p:spTree>
    <p:extLst>
      <p:ext uri="{BB962C8B-B14F-4D97-AF65-F5344CB8AC3E}">
        <p14:creationId xmlns:p14="http://schemas.microsoft.com/office/powerpoint/2010/main" val="30692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1849D39-ECCE-494F-B6E0-EF26DA1A5E25}" type="datetimeFigureOut">
              <a:rPr lang="en-US" smtClean="0"/>
              <a:t>9/8/2024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7E964071-122F-4754-AB07-44FFB207A9EF}" type="slidenum">
              <a:rPr lang="en-US" smtClean="0"/>
              <a:t>‹#›</a:t>
            </a:fld>
            <a:endParaRPr lang="en-US"/>
          </a:p>
        </p:txBody>
      </p:sp>
    </p:spTree>
    <p:extLst>
      <p:ext uri="{BB962C8B-B14F-4D97-AF65-F5344CB8AC3E}">
        <p14:creationId xmlns:p14="http://schemas.microsoft.com/office/powerpoint/2010/main" val="2955741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1849D39-ECCE-494F-B6E0-EF26DA1A5E25}" type="datetimeFigureOut">
              <a:rPr lang="en-US" smtClean="0"/>
              <a:t>9/8/2024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E964071-122F-4754-AB07-44FFB207A9EF}" type="slidenum">
              <a:rPr lang="en-US" smtClean="0"/>
              <a:t>‹#›</a:t>
            </a:fld>
            <a:endParaRPr lang="en-US"/>
          </a:p>
        </p:txBody>
      </p:sp>
    </p:spTree>
    <p:extLst>
      <p:ext uri="{BB962C8B-B14F-4D97-AF65-F5344CB8AC3E}">
        <p14:creationId xmlns:p14="http://schemas.microsoft.com/office/powerpoint/2010/main" val="3319265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849D39-ECCE-494F-B6E0-EF26DA1A5E25}" type="datetimeFigureOut">
              <a:rPr lang="en-US" smtClean="0"/>
              <a:t>9/8/2024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964071-122F-4754-AB07-44FFB207A9EF}" type="slidenum">
              <a:rPr lang="en-US" smtClean="0"/>
              <a:t>‹#›</a:t>
            </a:fld>
            <a:endParaRPr lang="en-US"/>
          </a:p>
        </p:txBody>
      </p:sp>
    </p:spTree>
    <p:extLst>
      <p:ext uri="{BB962C8B-B14F-4D97-AF65-F5344CB8AC3E}">
        <p14:creationId xmlns:p14="http://schemas.microsoft.com/office/powerpoint/2010/main" val="1098295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849D39-ECCE-494F-B6E0-EF26DA1A5E25}" type="datetimeFigureOut">
              <a:rPr lang="en-US" smtClean="0"/>
              <a:t>9/8/2024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964071-122F-4754-AB07-44FFB207A9EF}" type="slidenum">
              <a:rPr lang="en-US" smtClean="0"/>
              <a:t>‹#›</a:t>
            </a:fld>
            <a:endParaRPr lang="en-US"/>
          </a:p>
        </p:txBody>
      </p:sp>
    </p:spTree>
    <p:extLst>
      <p:ext uri="{BB962C8B-B14F-4D97-AF65-F5344CB8AC3E}">
        <p14:creationId xmlns:p14="http://schemas.microsoft.com/office/powerpoint/2010/main" val="794528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849D39-ECCE-494F-B6E0-EF26DA1A5E25}" type="datetimeFigureOut">
              <a:rPr lang="en-US" smtClean="0"/>
              <a:t>9/8/2024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964071-122F-4754-AB07-44FFB207A9EF}" type="slidenum">
              <a:rPr lang="en-US" smtClean="0"/>
              <a:t>‹#›</a:t>
            </a:fld>
            <a:endParaRPr lang="en-US"/>
          </a:p>
        </p:txBody>
      </p:sp>
    </p:spTree>
    <p:extLst>
      <p:ext uri="{BB962C8B-B14F-4D97-AF65-F5344CB8AC3E}">
        <p14:creationId xmlns:p14="http://schemas.microsoft.com/office/powerpoint/2010/main" val="2393376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1849D39-ECCE-494F-B6E0-EF26DA1A5E25}" type="datetimeFigureOut">
              <a:rPr lang="en-US" smtClean="0"/>
              <a:t>9/8/2024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E964071-122F-4754-AB07-44FFB207A9E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0592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BA7ED-7A82-6583-B190-D92B7551EBF7}"/>
              </a:ext>
            </a:extLst>
          </p:cNvPr>
          <p:cNvSpPr>
            <a:spLocks noGrp="1"/>
          </p:cNvSpPr>
          <p:nvPr>
            <p:ph type="ctrTitle"/>
          </p:nvPr>
        </p:nvSpPr>
        <p:spPr>
          <a:xfrm>
            <a:off x="1066800" y="619300"/>
            <a:ext cx="10058400" cy="3566160"/>
          </a:xfrm>
        </p:spPr>
        <p:txBody>
          <a:bodyPr/>
          <a:lstStyle/>
          <a:p>
            <a:pPr algn="ctr"/>
            <a:r>
              <a:rPr lang="en-US" dirty="0">
                <a:latin typeface="Times New Roman" panose="02020603050405020304" pitchFamily="18" charset="0"/>
                <a:cs typeface="Times New Roman" panose="02020603050405020304" pitchFamily="18" charset="0"/>
              </a:rPr>
              <a:t>CSE327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Software Engineering</a:t>
            </a:r>
          </a:p>
        </p:txBody>
      </p:sp>
      <p:sp>
        <p:nvSpPr>
          <p:cNvPr id="3" name="Subtitle 2">
            <a:extLst>
              <a:ext uri="{FF2B5EF4-FFF2-40B4-BE49-F238E27FC236}">
                <a16:creationId xmlns:a16="http://schemas.microsoft.com/office/drawing/2014/main" id="{59C226C9-2F1E-479F-08AE-9E141B44F501}"/>
              </a:ext>
            </a:extLst>
          </p:cNvPr>
          <p:cNvSpPr>
            <a:spLocks noGrp="1"/>
          </p:cNvSpPr>
          <p:nvPr>
            <p:ph type="subTitle" idx="1"/>
          </p:nvPr>
        </p:nvSpPr>
        <p:spPr/>
        <p:txBody>
          <a:bodyPr/>
          <a:lstStyle/>
          <a:p>
            <a:pPr algn="ctr"/>
            <a:r>
              <a:rPr lang="en-US" dirty="0">
                <a:latin typeface="Times New Roman" panose="02020603050405020304" pitchFamily="18" charset="0"/>
                <a:cs typeface="Times New Roman" panose="02020603050405020304" pitchFamily="18" charset="0"/>
              </a:rPr>
              <a:t>AKM iqtidar Newaz [</a:t>
            </a:r>
            <a:r>
              <a:rPr lang="en-US" dirty="0" err="1">
                <a:latin typeface="Times New Roman" panose="02020603050405020304" pitchFamily="18" charset="0"/>
                <a:cs typeface="Times New Roman" panose="02020603050405020304" pitchFamily="18" charset="0"/>
              </a:rPr>
              <a:t>IqN</a:t>
            </a:r>
            <a:r>
              <a:rPr lang="en-US" dirty="0">
                <a:latin typeface="Times New Roman" panose="02020603050405020304" pitchFamily="18" charset="0"/>
                <a:cs typeface="Times New Roman" panose="02020603050405020304" pitchFamily="18" charset="0"/>
              </a:rPr>
              <a:t>]</a:t>
            </a:r>
          </a:p>
          <a:p>
            <a:pPr algn="ctr"/>
            <a:r>
              <a:rPr lang="en-US" dirty="0">
                <a:latin typeface="Times New Roman" panose="02020603050405020304" pitchFamily="18" charset="0"/>
                <a:cs typeface="Times New Roman" panose="02020603050405020304" pitchFamily="18" charset="0"/>
              </a:rPr>
              <a:t>Lecture -3</a:t>
            </a:r>
          </a:p>
        </p:txBody>
      </p:sp>
    </p:spTree>
    <p:extLst>
      <p:ext uri="{BB962C8B-B14F-4D97-AF65-F5344CB8AC3E}">
        <p14:creationId xmlns:p14="http://schemas.microsoft.com/office/powerpoint/2010/main" val="2079851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D990B-DE72-03B4-FBB2-A61B5F9B3F6F}"/>
              </a:ext>
            </a:extLst>
          </p:cNvPr>
          <p:cNvSpPr>
            <a:spLocks noGrp="1"/>
          </p:cNvSpPr>
          <p:nvPr>
            <p:ph type="title"/>
          </p:nvPr>
        </p:nvSpPr>
        <p:spPr>
          <a:xfrm>
            <a:off x="1073454" y="-20166"/>
            <a:ext cx="10058400" cy="1450757"/>
          </a:xfrm>
        </p:spPr>
        <p:txBody>
          <a:bodyPr>
            <a:normAutofit/>
          </a:bodyPr>
          <a:lstStyle/>
          <a:p>
            <a:r>
              <a:rPr lang="en-US" sz="4000" b="1" dirty="0">
                <a:latin typeface="Times New Roman" panose="02020603050405020304" pitchFamily="18" charset="0"/>
                <a:cs typeface="Times New Roman" panose="02020603050405020304" pitchFamily="18" charset="0"/>
              </a:rPr>
              <a:t>Evolutionary Model / Incremental Model</a:t>
            </a:r>
          </a:p>
        </p:txBody>
      </p:sp>
      <p:sp>
        <p:nvSpPr>
          <p:cNvPr id="3" name="Content Placeholder 2">
            <a:extLst>
              <a:ext uri="{FF2B5EF4-FFF2-40B4-BE49-F238E27FC236}">
                <a16:creationId xmlns:a16="http://schemas.microsoft.com/office/drawing/2014/main" id="{22F740D8-C703-D90B-B677-E9F8DBF2938A}"/>
              </a:ext>
            </a:extLst>
          </p:cNvPr>
          <p:cNvSpPr>
            <a:spLocks noGrp="1"/>
          </p:cNvSpPr>
          <p:nvPr>
            <p:ph idx="1"/>
          </p:nvPr>
        </p:nvSpPr>
        <p:spPr>
          <a:xfrm>
            <a:off x="838200" y="1825625"/>
            <a:ext cx="5162774" cy="4351338"/>
          </a:xfrm>
        </p:spPr>
        <p:txBody>
          <a:bodyPr>
            <a:normAutofit/>
          </a:bodyPr>
          <a:lstStyle/>
          <a:p>
            <a:r>
              <a:rPr lang="en-US" sz="2400" b="1" dirty="0">
                <a:latin typeface="Times New Roman" panose="02020603050405020304" pitchFamily="18" charset="0"/>
                <a:cs typeface="Times New Roman" panose="02020603050405020304" pitchFamily="18" charset="0"/>
              </a:rPr>
              <a:t>What is Evolutionary model?</a:t>
            </a:r>
          </a:p>
          <a:p>
            <a:pPr>
              <a:buFontTx/>
              <a:buChar char="-"/>
            </a:pPr>
            <a:r>
              <a:rPr lang="en-US" sz="2400" dirty="0">
                <a:solidFill>
                  <a:srgbClr val="131313"/>
                </a:solidFill>
                <a:effectLst/>
                <a:latin typeface="Times New Roman" panose="02020603050405020304" pitchFamily="18" charset="0"/>
                <a:cs typeface="Times New Roman" panose="02020603050405020304" pitchFamily="18" charset="0"/>
              </a:rPr>
              <a:t> Evolutionary model is also referred to as the successive versions model and sometimes as the </a:t>
            </a:r>
            <a:r>
              <a:rPr lang="en-US" sz="2400" dirty="0">
                <a:solidFill>
                  <a:schemeClr val="tx1"/>
                </a:solidFill>
                <a:latin typeface="Times New Roman" panose="02020603050405020304" pitchFamily="18" charset="0"/>
                <a:cs typeface="Times New Roman" panose="02020603050405020304" pitchFamily="18" charset="0"/>
              </a:rPr>
              <a:t>incremental model</a:t>
            </a:r>
            <a:r>
              <a:rPr lang="en-US" sz="2400" dirty="0">
                <a:solidFill>
                  <a:srgbClr val="131313"/>
                </a:solidFill>
                <a:effectLst/>
                <a:latin typeface="Times New Roman" panose="02020603050405020304" pitchFamily="18" charset="0"/>
                <a:cs typeface="Times New Roman" panose="02020603050405020304" pitchFamily="18" charset="0"/>
              </a:rPr>
              <a:t>. In Evolutionary model, the software requirement is first broken down into several modules (or functional units) that can be incrementally constructed and delivered.</a:t>
            </a:r>
          </a:p>
        </p:txBody>
      </p:sp>
      <p:sp>
        <p:nvSpPr>
          <p:cNvPr id="4" name="TextBox 3">
            <a:extLst>
              <a:ext uri="{FF2B5EF4-FFF2-40B4-BE49-F238E27FC236}">
                <a16:creationId xmlns:a16="http://schemas.microsoft.com/office/drawing/2014/main" id="{0A52B2CD-8E60-C6C1-6850-B8967DF9243D}"/>
              </a:ext>
            </a:extLst>
          </p:cNvPr>
          <p:cNvSpPr txBox="1"/>
          <p:nvPr/>
        </p:nvSpPr>
        <p:spPr>
          <a:xfrm>
            <a:off x="6353174" y="3986103"/>
            <a:ext cx="1343249"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Outline Description</a:t>
            </a:r>
          </a:p>
        </p:txBody>
      </p:sp>
      <p:sp>
        <p:nvSpPr>
          <p:cNvPr id="6" name="Rectangle 5">
            <a:extLst>
              <a:ext uri="{FF2B5EF4-FFF2-40B4-BE49-F238E27FC236}">
                <a16:creationId xmlns:a16="http://schemas.microsoft.com/office/drawing/2014/main" id="{CDB1F98E-87A7-7DED-8BA7-6360FE591B0F}"/>
              </a:ext>
            </a:extLst>
          </p:cNvPr>
          <p:cNvSpPr/>
          <p:nvPr/>
        </p:nvSpPr>
        <p:spPr>
          <a:xfrm>
            <a:off x="8258066" y="2229644"/>
            <a:ext cx="1571625" cy="914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Specification</a:t>
            </a:r>
          </a:p>
        </p:txBody>
      </p:sp>
      <p:sp>
        <p:nvSpPr>
          <p:cNvPr id="7" name="Rectangle 6">
            <a:extLst>
              <a:ext uri="{FF2B5EF4-FFF2-40B4-BE49-F238E27FC236}">
                <a16:creationId xmlns:a16="http://schemas.microsoft.com/office/drawing/2014/main" id="{D376E588-84D8-013A-AB50-05099B3FBA54}"/>
              </a:ext>
            </a:extLst>
          </p:cNvPr>
          <p:cNvSpPr/>
          <p:nvPr/>
        </p:nvSpPr>
        <p:spPr>
          <a:xfrm>
            <a:off x="8258065" y="3737769"/>
            <a:ext cx="1571625" cy="914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Development</a:t>
            </a:r>
          </a:p>
        </p:txBody>
      </p:sp>
      <p:sp>
        <p:nvSpPr>
          <p:cNvPr id="8" name="Rectangle 7">
            <a:extLst>
              <a:ext uri="{FF2B5EF4-FFF2-40B4-BE49-F238E27FC236}">
                <a16:creationId xmlns:a16="http://schemas.microsoft.com/office/drawing/2014/main" id="{0687176B-8098-F27A-4B25-01C905CA42E7}"/>
              </a:ext>
            </a:extLst>
          </p:cNvPr>
          <p:cNvSpPr/>
          <p:nvPr/>
        </p:nvSpPr>
        <p:spPr>
          <a:xfrm>
            <a:off x="8258065" y="5262563"/>
            <a:ext cx="1571625" cy="914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Validation</a:t>
            </a:r>
          </a:p>
        </p:txBody>
      </p:sp>
      <p:cxnSp>
        <p:nvCxnSpPr>
          <p:cNvPr id="14" name="Straight Arrow Connector 13">
            <a:extLst>
              <a:ext uri="{FF2B5EF4-FFF2-40B4-BE49-F238E27FC236}">
                <a16:creationId xmlns:a16="http://schemas.microsoft.com/office/drawing/2014/main" id="{6CC264CA-CAB1-4638-2FFC-273FA956A7B4}"/>
              </a:ext>
            </a:extLst>
          </p:cNvPr>
          <p:cNvCxnSpPr>
            <a:cxnSpLocks/>
          </p:cNvCxnSpPr>
          <p:nvPr/>
        </p:nvCxnSpPr>
        <p:spPr>
          <a:xfrm flipH="1">
            <a:off x="9867569" y="2670969"/>
            <a:ext cx="695325"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EECFE62-CC75-1FB1-6E57-D6252BF3673A}"/>
              </a:ext>
            </a:extLst>
          </p:cNvPr>
          <p:cNvCxnSpPr>
            <a:cxnSpLocks/>
          </p:cNvCxnSpPr>
          <p:nvPr/>
        </p:nvCxnSpPr>
        <p:spPr>
          <a:xfrm flipH="1">
            <a:off x="9829690" y="4194969"/>
            <a:ext cx="695325"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A3F920C-5575-F594-9331-D14858AD0F6C}"/>
              </a:ext>
            </a:extLst>
          </p:cNvPr>
          <p:cNvCxnSpPr>
            <a:cxnSpLocks/>
          </p:cNvCxnSpPr>
          <p:nvPr/>
        </p:nvCxnSpPr>
        <p:spPr>
          <a:xfrm flipH="1">
            <a:off x="9829690" y="5566569"/>
            <a:ext cx="695325"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8843C87E-833E-E9A2-1244-7A51781A93BB}"/>
              </a:ext>
            </a:extLst>
          </p:cNvPr>
          <p:cNvCxnSpPr>
            <a:cxnSpLocks/>
          </p:cNvCxnSpPr>
          <p:nvPr/>
        </p:nvCxnSpPr>
        <p:spPr>
          <a:xfrm>
            <a:off x="9896365" y="2861469"/>
            <a:ext cx="733204"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EBC561A4-4EB1-976F-E1B9-99C99B7C56E9}"/>
              </a:ext>
            </a:extLst>
          </p:cNvPr>
          <p:cNvCxnSpPr>
            <a:cxnSpLocks/>
          </p:cNvCxnSpPr>
          <p:nvPr/>
        </p:nvCxnSpPr>
        <p:spPr>
          <a:xfrm>
            <a:off x="9867569" y="4394994"/>
            <a:ext cx="695325"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B3E3DA40-EC71-4059-CF52-91157D7FC035}"/>
              </a:ext>
            </a:extLst>
          </p:cNvPr>
          <p:cNvCxnSpPr>
            <a:cxnSpLocks/>
          </p:cNvCxnSpPr>
          <p:nvPr/>
        </p:nvCxnSpPr>
        <p:spPr>
          <a:xfrm>
            <a:off x="9867569" y="5785644"/>
            <a:ext cx="695325"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FF26279A-634E-0B80-6CFE-4D95584D7E94}"/>
              </a:ext>
            </a:extLst>
          </p:cNvPr>
          <p:cNvSpPr txBox="1"/>
          <p:nvPr/>
        </p:nvSpPr>
        <p:spPr>
          <a:xfrm>
            <a:off x="10686828" y="2428041"/>
            <a:ext cx="890052"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Initial</a:t>
            </a:r>
          </a:p>
          <a:p>
            <a:r>
              <a:rPr lang="en-US" dirty="0">
                <a:latin typeface="Times New Roman" panose="02020603050405020304" pitchFamily="18" charset="0"/>
                <a:cs typeface="Times New Roman" panose="02020603050405020304" pitchFamily="18" charset="0"/>
              </a:rPr>
              <a:t>Version</a:t>
            </a:r>
          </a:p>
        </p:txBody>
      </p:sp>
      <p:sp>
        <p:nvSpPr>
          <p:cNvPr id="27" name="TextBox 26">
            <a:extLst>
              <a:ext uri="{FF2B5EF4-FFF2-40B4-BE49-F238E27FC236}">
                <a16:creationId xmlns:a16="http://schemas.microsoft.com/office/drawing/2014/main" id="{EDC875A1-9CC2-32C1-AFD8-87CF30549C94}"/>
              </a:ext>
            </a:extLst>
          </p:cNvPr>
          <p:cNvSpPr txBox="1"/>
          <p:nvPr/>
        </p:nvSpPr>
        <p:spPr>
          <a:xfrm>
            <a:off x="10629569" y="3864440"/>
            <a:ext cx="1351652"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Intermediate</a:t>
            </a:r>
          </a:p>
          <a:p>
            <a:r>
              <a:rPr lang="en-US" dirty="0">
                <a:latin typeface="Times New Roman" panose="02020603050405020304" pitchFamily="18" charset="0"/>
                <a:cs typeface="Times New Roman" panose="02020603050405020304" pitchFamily="18" charset="0"/>
              </a:rPr>
              <a:t>Version</a:t>
            </a:r>
          </a:p>
        </p:txBody>
      </p:sp>
      <p:sp>
        <p:nvSpPr>
          <p:cNvPr id="28" name="TextBox 27">
            <a:extLst>
              <a:ext uri="{FF2B5EF4-FFF2-40B4-BE49-F238E27FC236}">
                <a16:creationId xmlns:a16="http://schemas.microsoft.com/office/drawing/2014/main" id="{7CBCEA0C-A712-0CBF-F9A5-F1D2BC575B0B}"/>
              </a:ext>
            </a:extLst>
          </p:cNvPr>
          <p:cNvSpPr txBox="1"/>
          <p:nvPr/>
        </p:nvSpPr>
        <p:spPr>
          <a:xfrm>
            <a:off x="10610519" y="5396597"/>
            <a:ext cx="890052"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Final</a:t>
            </a:r>
          </a:p>
          <a:p>
            <a:r>
              <a:rPr lang="en-US" dirty="0">
                <a:latin typeface="Times New Roman" panose="02020603050405020304" pitchFamily="18" charset="0"/>
                <a:cs typeface="Times New Roman" panose="02020603050405020304" pitchFamily="18" charset="0"/>
              </a:rPr>
              <a:t>Version</a:t>
            </a:r>
          </a:p>
        </p:txBody>
      </p:sp>
      <p:sp>
        <p:nvSpPr>
          <p:cNvPr id="29" name="TextBox 28">
            <a:extLst>
              <a:ext uri="{FF2B5EF4-FFF2-40B4-BE49-F238E27FC236}">
                <a16:creationId xmlns:a16="http://schemas.microsoft.com/office/drawing/2014/main" id="{8A39129E-A587-B226-955F-67E14422EB3A}"/>
              </a:ext>
            </a:extLst>
          </p:cNvPr>
          <p:cNvSpPr txBox="1"/>
          <p:nvPr/>
        </p:nvSpPr>
        <p:spPr>
          <a:xfrm>
            <a:off x="7818865" y="1689895"/>
            <a:ext cx="2302938"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Concurrent Activities</a:t>
            </a:r>
          </a:p>
        </p:txBody>
      </p:sp>
      <p:cxnSp>
        <p:nvCxnSpPr>
          <p:cNvPr id="31" name="Straight Arrow Connector 30">
            <a:extLst>
              <a:ext uri="{FF2B5EF4-FFF2-40B4-BE49-F238E27FC236}">
                <a16:creationId xmlns:a16="http://schemas.microsoft.com/office/drawing/2014/main" id="{88102A1C-2990-6016-562C-BBE85471B95C}"/>
              </a:ext>
            </a:extLst>
          </p:cNvPr>
          <p:cNvCxnSpPr>
            <a:cxnSpLocks/>
          </p:cNvCxnSpPr>
          <p:nvPr/>
        </p:nvCxnSpPr>
        <p:spPr>
          <a:xfrm>
            <a:off x="7562740" y="4194969"/>
            <a:ext cx="695325"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CD18BA59-0379-017A-71B2-5C9A74B0DED1}"/>
              </a:ext>
            </a:extLst>
          </p:cNvPr>
          <p:cNvCxnSpPr>
            <a:cxnSpLocks/>
          </p:cNvCxnSpPr>
          <p:nvPr/>
        </p:nvCxnSpPr>
        <p:spPr>
          <a:xfrm>
            <a:off x="8953390" y="3157538"/>
            <a:ext cx="0" cy="580231"/>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28C933A2-BD8F-62EC-EA49-07BBA8BF7D1D}"/>
              </a:ext>
            </a:extLst>
          </p:cNvPr>
          <p:cNvCxnSpPr>
            <a:cxnSpLocks/>
          </p:cNvCxnSpPr>
          <p:nvPr/>
        </p:nvCxnSpPr>
        <p:spPr>
          <a:xfrm>
            <a:off x="8953390" y="4652169"/>
            <a:ext cx="0" cy="580231"/>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0BE33922-5653-9FD6-08E9-0E0C27A9A759}"/>
              </a:ext>
            </a:extLst>
          </p:cNvPr>
          <p:cNvCxnSpPr>
            <a:cxnSpLocks/>
          </p:cNvCxnSpPr>
          <p:nvPr/>
        </p:nvCxnSpPr>
        <p:spPr>
          <a:xfrm flipV="1">
            <a:off x="9220090" y="3144044"/>
            <a:ext cx="0" cy="593725"/>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DD8F0C4F-DD43-82D9-883D-0F89C04B5293}"/>
              </a:ext>
            </a:extLst>
          </p:cNvPr>
          <p:cNvCxnSpPr>
            <a:cxnSpLocks/>
          </p:cNvCxnSpPr>
          <p:nvPr/>
        </p:nvCxnSpPr>
        <p:spPr>
          <a:xfrm flipV="1">
            <a:off x="9210455" y="4638675"/>
            <a:ext cx="0" cy="593725"/>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3343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1046F-9FA2-B003-B23A-EE2F167B1E75}"/>
              </a:ext>
            </a:extLst>
          </p:cNvPr>
          <p:cNvSpPr>
            <a:spLocks noGrp="1"/>
          </p:cNvSpPr>
          <p:nvPr>
            <p:ph type="title"/>
          </p:nvPr>
        </p:nvSpPr>
        <p:spPr>
          <a:xfrm>
            <a:off x="1097280" y="0"/>
            <a:ext cx="10058400" cy="1450757"/>
          </a:xfrm>
        </p:spPr>
        <p:txBody>
          <a:bodyPr>
            <a:normAutofit/>
          </a:bodyPr>
          <a:lstStyle/>
          <a:p>
            <a:r>
              <a:rPr lang="en-US" sz="4000" b="1" dirty="0">
                <a:latin typeface="Times New Roman" panose="02020603050405020304" pitchFamily="18" charset="0"/>
                <a:cs typeface="Times New Roman" panose="02020603050405020304" pitchFamily="18" charset="0"/>
              </a:rPr>
              <a:t>Evolutionary Model / Incremental Model (Continued)</a:t>
            </a:r>
          </a:p>
        </p:txBody>
      </p:sp>
      <p:sp>
        <p:nvSpPr>
          <p:cNvPr id="3" name="Content Placeholder 2">
            <a:extLst>
              <a:ext uri="{FF2B5EF4-FFF2-40B4-BE49-F238E27FC236}">
                <a16:creationId xmlns:a16="http://schemas.microsoft.com/office/drawing/2014/main" id="{0993D179-4650-2EDD-853D-4DA673CD9A9D}"/>
              </a:ext>
            </a:extLst>
          </p:cNvPr>
          <p:cNvSpPr>
            <a:spLocks noGrp="1"/>
          </p:cNvSpPr>
          <p:nvPr>
            <p:ph idx="1"/>
          </p:nvPr>
        </p:nvSpPr>
        <p:spPr/>
        <p:txBody>
          <a:bodyPr>
            <a:noAutofit/>
          </a:bodyPr>
          <a:lstStyle/>
          <a:p>
            <a:pPr>
              <a:buFont typeface="Wingdings" panose="05000000000000000000" pitchFamily="2" charset="2"/>
              <a:buChar char="q"/>
            </a:pPr>
            <a:r>
              <a:rPr lang="en-US" sz="2100" dirty="0">
                <a:solidFill>
                  <a:srgbClr val="131313"/>
                </a:solidFill>
                <a:effectLst/>
                <a:latin typeface="Times New Roman" panose="02020603050405020304" pitchFamily="18" charset="0"/>
                <a:cs typeface="Times New Roman" panose="02020603050405020304" pitchFamily="18" charset="0"/>
              </a:rPr>
              <a:t> The developers first develops the core modules of the system. </a:t>
            </a:r>
          </a:p>
          <a:p>
            <a:pPr>
              <a:buFont typeface="Wingdings" panose="05000000000000000000" pitchFamily="2" charset="2"/>
              <a:buChar char="q"/>
            </a:pPr>
            <a:r>
              <a:rPr lang="en-US" sz="2100" dirty="0">
                <a:solidFill>
                  <a:srgbClr val="131313"/>
                </a:solidFill>
                <a:effectLst/>
                <a:latin typeface="Times New Roman" panose="02020603050405020304" pitchFamily="18" charset="0"/>
                <a:cs typeface="Times New Roman" panose="02020603050405020304" pitchFamily="18" charset="0"/>
              </a:rPr>
              <a:t> The core modules are those that do not need services from the other modules. </a:t>
            </a:r>
          </a:p>
          <a:p>
            <a:pPr>
              <a:buFont typeface="Wingdings" panose="05000000000000000000" pitchFamily="2" charset="2"/>
              <a:buChar char="q"/>
            </a:pPr>
            <a:r>
              <a:rPr lang="en-US" sz="2100" dirty="0">
                <a:solidFill>
                  <a:srgbClr val="131313"/>
                </a:solidFill>
                <a:effectLst/>
                <a:latin typeface="Times New Roman" panose="02020603050405020304" pitchFamily="18" charset="0"/>
                <a:cs typeface="Times New Roman" panose="02020603050405020304" pitchFamily="18" charset="0"/>
              </a:rPr>
              <a:t> The initial product skeleton is refined into increasing levels of capability by adding new functionalities in successive versions. </a:t>
            </a:r>
          </a:p>
          <a:p>
            <a:pPr>
              <a:buFont typeface="Wingdings" panose="05000000000000000000" pitchFamily="2" charset="2"/>
              <a:buChar char="q"/>
            </a:pPr>
            <a:r>
              <a:rPr lang="en-US" sz="2100" dirty="0">
                <a:solidFill>
                  <a:srgbClr val="131313"/>
                </a:solidFill>
                <a:effectLst/>
                <a:latin typeface="Times New Roman" panose="02020603050405020304" pitchFamily="18" charset="0"/>
                <a:cs typeface="Times New Roman" panose="02020603050405020304" pitchFamily="18" charset="0"/>
              </a:rPr>
              <a:t> Each evolutionary model may be developed using an iterative waterfall model of development. </a:t>
            </a:r>
          </a:p>
          <a:p>
            <a:pPr>
              <a:buFont typeface="Wingdings" panose="05000000000000000000" pitchFamily="2" charset="2"/>
              <a:buChar char="q"/>
            </a:pPr>
            <a:r>
              <a:rPr lang="en-US" sz="2100" dirty="0">
                <a:solidFill>
                  <a:srgbClr val="131313"/>
                </a:solidFill>
                <a:effectLst/>
                <a:latin typeface="Times New Roman" panose="02020603050405020304" pitchFamily="18" charset="0"/>
                <a:cs typeface="Times New Roman" panose="02020603050405020304" pitchFamily="18" charset="0"/>
              </a:rPr>
              <a:t> The evolutionary model is normally useful for very large products, where it is easier to find modules for incremental implementation.</a:t>
            </a:r>
          </a:p>
          <a:p>
            <a:pPr>
              <a:buFont typeface="Wingdings" panose="05000000000000000000" pitchFamily="2" charset="2"/>
              <a:buChar char="q"/>
            </a:pPr>
            <a:r>
              <a:rPr lang="en-US" sz="2100" dirty="0">
                <a:solidFill>
                  <a:srgbClr val="131313"/>
                </a:solidFill>
                <a:effectLst/>
                <a:latin typeface="Times New Roman" panose="02020603050405020304" pitchFamily="18" charset="0"/>
                <a:cs typeface="Times New Roman" panose="02020603050405020304" pitchFamily="18" charset="0"/>
              </a:rPr>
              <a:t> Evolutionary model is used when the customer prefers to receive the product in increments so that he can start using the different features as and when they are developed rather than waiting all the time for the full product to be developed and delivered.</a:t>
            </a:r>
            <a:endParaRPr lang="en-US" sz="21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669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FD4E5-4BB9-2CF1-ABE9-8BE86BD19EA5}"/>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Evolutionary Model / Incremental Model (Continued)</a:t>
            </a:r>
          </a:p>
        </p:txBody>
      </p:sp>
      <p:sp>
        <p:nvSpPr>
          <p:cNvPr id="3" name="Content Placeholder 2">
            <a:extLst>
              <a:ext uri="{FF2B5EF4-FFF2-40B4-BE49-F238E27FC236}">
                <a16:creationId xmlns:a16="http://schemas.microsoft.com/office/drawing/2014/main" id="{9E785F16-84CA-D0F6-6546-A7709E039652}"/>
              </a:ext>
            </a:extLst>
          </p:cNvPr>
          <p:cNvSpPr>
            <a:spLocks noGrp="1"/>
          </p:cNvSpPr>
          <p:nvPr>
            <p:ph idx="1"/>
          </p:nvPr>
        </p:nvSpPr>
        <p:spPr/>
        <p:txBody>
          <a:bodyPr>
            <a:noAutofit/>
          </a:bodyPr>
          <a:lstStyle/>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Advantage:</a:t>
            </a:r>
          </a:p>
          <a:p>
            <a:pPr lvl="1">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This is mainly used in large software.</a:t>
            </a:r>
          </a:p>
          <a:p>
            <a:pPr lvl="1">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Communicate with clients frequently and always gets feedback.</a:t>
            </a:r>
          </a:p>
          <a:p>
            <a:pPr lvl="1">
              <a:buFont typeface="Wingdings" panose="05000000000000000000" pitchFamily="2" charset="2"/>
              <a:buChar char="§"/>
            </a:pPr>
            <a:r>
              <a:rPr lang="en-US" sz="2200" dirty="0">
                <a:solidFill>
                  <a:srgbClr val="131313"/>
                </a:solidFill>
                <a:effectLst/>
                <a:latin typeface="Times New Roman" panose="02020603050405020304" pitchFamily="18" charset="0"/>
                <a:cs typeface="Times New Roman" panose="02020603050405020304" pitchFamily="18" charset="0"/>
              </a:rPr>
              <a:t>User gets a chance to experiment with a partially developed software much before the complete version of the system is released.</a:t>
            </a:r>
          </a:p>
          <a:p>
            <a:pPr lvl="1">
              <a:buFont typeface="Wingdings" panose="05000000000000000000" pitchFamily="2" charset="2"/>
              <a:buChar char="§"/>
            </a:pPr>
            <a:r>
              <a:rPr lang="en-US" sz="2200" dirty="0">
                <a:solidFill>
                  <a:srgbClr val="131313"/>
                </a:solidFill>
                <a:effectLst/>
                <a:latin typeface="Times New Roman" panose="02020603050405020304" pitchFamily="18" charset="0"/>
                <a:cs typeface="Times New Roman" panose="02020603050405020304" pitchFamily="18" charset="0"/>
              </a:rPr>
              <a:t>The core modules get tested thoroughly, thereby reducing the chances of errors in the core modules of the final products.</a:t>
            </a:r>
          </a:p>
          <a:p>
            <a:pPr lvl="1">
              <a:buFont typeface="Wingdings" panose="05000000000000000000" pitchFamily="2" charset="2"/>
              <a:buChar char="q"/>
            </a:pPr>
            <a:endParaRPr lang="en-US" sz="2200" dirty="0">
              <a:solidFill>
                <a:srgbClr val="131313"/>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Disadvantage:</a:t>
            </a:r>
          </a:p>
          <a:p>
            <a:pPr lvl="1">
              <a:buFont typeface="Wingdings" panose="05000000000000000000" pitchFamily="2" charset="2"/>
              <a:buChar char="§"/>
            </a:pPr>
            <a:r>
              <a:rPr lang="en-US" sz="2200" dirty="0">
                <a:solidFill>
                  <a:srgbClr val="131313"/>
                </a:solidFill>
                <a:effectLst/>
                <a:latin typeface="Times New Roman" panose="02020603050405020304" pitchFamily="18" charset="0"/>
                <a:cs typeface="Times New Roman" panose="02020603050405020304" pitchFamily="18" charset="0"/>
              </a:rPr>
              <a:t>Difficult to divide the problem into several versions that would be acceptable to the customer and which can be incrementally implemented and delivered.</a:t>
            </a:r>
            <a:endParaRPr lang="en-US"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8961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D9589-9A72-392C-968C-DAC1152EF7FD}"/>
              </a:ext>
            </a:extLst>
          </p:cNvPr>
          <p:cNvSpPr>
            <a:spLocks noGrp="1"/>
          </p:cNvSpPr>
          <p:nvPr>
            <p:ph type="title"/>
          </p:nvPr>
        </p:nvSpPr>
        <p:spPr>
          <a:xfrm>
            <a:off x="1162050" y="26041"/>
            <a:ext cx="10058400" cy="1450757"/>
          </a:xfrm>
        </p:spPr>
        <p:txBody>
          <a:bodyPr>
            <a:normAutofit/>
          </a:bodyPr>
          <a:lstStyle/>
          <a:p>
            <a:r>
              <a:rPr lang="en-US" sz="4000" b="1" dirty="0">
                <a:latin typeface="Times New Roman" panose="02020603050405020304" pitchFamily="18" charset="0"/>
                <a:cs typeface="Times New Roman" panose="02020603050405020304" pitchFamily="18" charset="0"/>
              </a:rPr>
              <a:t>Re-use Oriented Software Engineering</a:t>
            </a:r>
          </a:p>
        </p:txBody>
      </p:sp>
      <p:pic>
        <p:nvPicPr>
          <p:cNvPr id="5" name="Content Placeholder 4" descr="A diagram of a problem&#10;&#10;Description automatically generated">
            <a:extLst>
              <a:ext uri="{FF2B5EF4-FFF2-40B4-BE49-F238E27FC236}">
                <a16:creationId xmlns:a16="http://schemas.microsoft.com/office/drawing/2014/main" id="{38AA1C1C-82A7-E621-7FFB-83C8286C8B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6800" y="2057000"/>
            <a:ext cx="10515600" cy="2744000"/>
          </a:xfrm>
        </p:spPr>
      </p:pic>
      <p:sp>
        <p:nvSpPr>
          <p:cNvPr id="3" name="TextBox 2">
            <a:extLst>
              <a:ext uri="{FF2B5EF4-FFF2-40B4-BE49-F238E27FC236}">
                <a16:creationId xmlns:a16="http://schemas.microsoft.com/office/drawing/2014/main" id="{C306411C-39D3-8F61-CCF8-C2607D642B8C}"/>
              </a:ext>
            </a:extLst>
          </p:cNvPr>
          <p:cNvSpPr txBox="1"/>
          <p:nvPr/>
        </p:nvSpPr>
        <p:spPr>
          <a:xfrm>
            <a:off x="5915025" y="2514600"/>
            <a:ext cx="1434239" cy="523220"/>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Application</a:t>
            </a:r>
          </a:p>
          <a:p>
            <a:r>
              <a:rPr lang="en-US" sz="1400" dirty="0">
                <a:latin typeface="Times New Roman" panose="02020603050405020304" pitchFamily="18" charset="0"/>
                <a:cs typeface="Times New Roman" panose="02020603050405020304" pitchFamily="18" charset="0"/>
              </a:rPr>
              <a:t>System Available</a:t>
            </a:r>
          </a:p>
        </p:txBody>
      </p:sp>
      <p:sp>
        <p:nvSpPr>
          <p:cNvPr id="4" name="TextBox 3">
            <a:extLst>
              <a:ext uri="{FF2B5EF4-FFF2-40B4-BE49-F238E27FC236}">
                <a16:creationId xmlns:a16="http://schemas.microsoft.com/office/drawing/2014/main" id="{D9FC0AE9-8EB2-C8F0-FB21-D2EB13FB6052}"/>
              </a:ext>
            </a:extLst>
          </p:cNvPr>
          <p:cNvSpPr txBox="1"/>
          <p:nvPr/>
        </p:nvSpPr>
        <p:spPr>
          <a:xfrm>
            <a:off x="6191250" y="3811312"/>
            <a:ext cx="1023037" cy="523220"/>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Component</a:t>
            </a:r>
          </a:p>
          <a:p>
            <a:r>
              <a:rPr lang="en-US" sz="1400" dirty="0">
                <a:latin typeface="Times New Roman" panose="02020603050405020304" pitchFamily="18" charset="0"/>
                <a:cs typeface="Times New Roman" panose="02020603050405020304" pitchFamily="18" charset="0"/>
              </a:rPr>
              <a:t>Available</a:t>
            </a:r>
          </a:p>
        </p:txBody>
      </p:sp>
    </p:spTree>
    <p:extLst>
      <p:ext uri="{BB962C8B-B14F-4D97-AF65-F5344CB8AC3E}">
        <p14:creationId xmlns:p14="http://schemas.microsoft.com/office/powerpoint/2010/main" val="2919085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9CD64-CC15-4F4F-95DE-B213CCDC25AC}"/>
              </a:ext>
            </a:extLst>
          </p:cNvPr>
          <p:cNvSpPr>
            <a:spLocks noGrp="1"/>
          </p:cNvSpPr>
          <p:nvPr>
            <p:ph type="title"/>
          </p:nvPr>
        </p:nvSpPr>
        <p:spPr>
          <a:xfrm>
            <a:off x="1066800" y="0"/>
            <a:ext cx="10058400" cy="1450757"/>
          </a:xfrm>
        </p:spPr>
        <p:txBody>
          <a:bodyPr>
            <a:normAutofit/>
          </a:bodyPr>
          <a:lstStyle/>
          <a:p>
            <a:r>
              <a:rPr lang="en-US" sz="4000" b="1" dirty="0">
                <a:latin typeface="Times New Roman" panose="02020603050405020304" pitchFamily="18" charset="0"/>
                <a:cs typeface="Times New Roman" panose="02020603050405020304" pitchFamily="18" charset="0"/>
              </a:rPr>
              <a:t>Re-use Oriented Software Engineering</a:t>
            </a:r>
          </a:p>
        </p:txBody>
      </p:sp>
      <p:sp>
        <p:nvSpPr>
          <p:cNvPr id="3" name="Content Placeholder 2">
            <a:extLst>
              <a:ext uri="{FF2B5EF4-FFF2-40B4-BE49-F238E27FC236}">
                <a16:creationId xmlns:a16="http://schemas.microsoft.com/office/drawing/2014/main" id="{B2E808FA-6A3F-4AA2-0199-6814B32CD4C6}"/>
              </a:ext>
            </a:extLst>
          </p:cNvPr>
          <p:cNvSpPr>
            <a:spLocks noGrp="1"/>
          </p:cNvSpPr>
          <p:nvPr>
            <p:ph idx="1"/>
          </p:nvPr>
        </p:nvSpPr>
        <p:spPr>
          <a:xfrm>
            <a:off x="1066800" y="1806575"/>
            <a:ext cx="10515600" cy="4351338"/>
          </a:xfrm>
        </p:spPr>
        <p:txBody>
          <a:bodyPr>
            <a:noAutofit/>
          </a:bodyPr>
          <a:lstStyle/>
          <a:p>
            <a:pPr>
              <a:buFont typeface="Wingdings" panose="05000000000000000000" pitchFamily="2" charset="2"/>
              <a:buChar char="q"/>
            </a:pPr>
            <a:r>
              <a:rPr lang="en-US" sz="2100" dirty="0">
                <a:latin typeface="Times New Roman" panose="02020603050405020304" pitchFamily="18" charset="0"/>
                <a:cs typeface="Times New Roman" panose="02020603050405020304" pitchFamily="18" charset="0"/>
              </a:rPr>
              <a:t>Major processing stages:</a:t>
            </a:r>
          </a:p>
          <a:p>
            <a:pPr lvl="1">
              <a:buFont typeface="Wingdings" panose="05000000000000000000" pitchFamily="2" charset="2"/>
              <a:buChar char="§"/>
            </a:pPr>
            <a:r>
              <a:rPr lang="en-US" sz="2100" dirty="0">
                <a:latin typeface="Times New Roman" panose="02020603050405020304" pitchFamily="18" charset="0"/>
                <a:cs typeface="Times New Roman" panose="02020603050405020304" pitchFamily="18" charset="0"/>
              </a:rPr>
              <a:t>Requirement specification</a:t>
            </a:r>
          </a:p>
          <a:p>
            <a:pPr lvl="1">
              <a:buFont typeface="Wingdings" panose="05000000000000000000" pitchFamily="2" charset="2"/>
              <a:buChar char="§"/>
            </a:pPr>
            <a:r>
              <a:rPr lang="en-US" sz="2100" dirty="0">
                <a:latin typeface="Times New Roman" panose="02020603050405020304" pitchFamily="18" charset="0"/>
                <a:cs typeface="Times New Roman" panose="02020603050405020304" pitchFamily="18" charset="0"/>
              </a:rPr>
              <a:t>Software discovery and evaluation</a:t>
            </a:r>
          </a:p>
          <a:p>
            <a:pPr lvl="1">
              <a:buFont typeface="Wingdings" panose="05000000000000000000" pitchFamily="2" charset="2"/>
              <a:buChar char="§"/>
            </a:pPr>
            <a:r>
              <a:rPr lang="en-US" sz="2100" dirty="0">
                <a:latin typeface="Times New Roman" panose="02020603050405020304" pitchFamily="18" charset="0"/>
                <a:cs typeface="Times New Roman" panose="02020603050405020304" pitchFamily="18" charset="0"/>
              </a:rPr>
              <a:t>Requirement refinement</a:t>
            </a:r>
          </a:p>
          <a:p>
            <a:pPr lvl="1">
              <a:buFont typeface="Wingdings" panose="05000000000000000000" pitchFamily="2" charset="2"/>
              <a:buChar char="§"/>
            </a:pPr>
            <a:r>
              <a:rPr lang="en-US" sz="2100" dirty="0">
                <a:latin typeface="Times New Roman" panose="02020603050405020304" pitchFamily="18" charset="0"/>
                <a:cs typeface="Times New Roman" panose="02020603050405020304" pitchFamily="18" charset="0"/>
              </a:rPr>
              <a:t>Application system configuration</a:t>
            </a:r>
          </a:p>
          <a:p>
            <a:pPr lvl="1">
              <a:buFont typeface="Wingdings" panose="05000000000000000000" pitchFamily="2" charset="2"/>
              <a:buChar char="§"/>
            </a:pPr>
            <a:r>
              <a:rPr lang="en-US" sz="2100" dirty="0">
                <a:latin typeface="Times New Roman" panose="02020603050405020304" pitchFamily="18" charset="0"/>
                <a:cs typeface="Times New Roman" panose="02020603050405020304" pitchFamily="18" charset="0"/>
              </a:rPr>
              <a:t>Component adaptation and integration</a:t>
            </a:r>
          </a:p>
          <a:p>
            <a:pPr>
              <a:buFont typeface="Wingdings" panose="05000000000000000000" pitchFamily="2" charset="2"/>
              <a:buChar char="q"/>
            </a:pPr>
            <a:r>
              <a:rPr lang="en-US" sz="2100" dirty="0">
                <a:latin typeface="Times New Roman" panose="02020603050405020304" pitchFamily="18" charset="0"/>
                <a:cs typeface="Times New Roman" panose="02020603050405020304" pitchFamily="18" charset="0"/>
              </a:rPr>
              <a:t>Advantage: </a:t>
            </a:r>
          </a:p>
          <a:p>
            <a:pPr lvl="1">
              <a:buFont typeface="Wingdings" panose="05000000000000000000" pitchFamily="2" charset="2"/>
              <a:buChar char="§"/>
            </a:pPr>
            <a:r>
              <a:rPr lang="en-US" sz="2100" dirty="0">
                <a:solidFill>
                  <a:srgbClr val="131313"/>
                </a:solidFill>
                <a:effectLst/>
                <a:latin typeface="Times New Roman" panose="02020603050405020304" pitchFamily="18" charset="0"/>
                <a:cs typeface="Times New Roman" panose="02020603050405020304" pitchFamily="18" charset="0"/>
              </a:rPr>
              <a:t>Reduced costs and risks as less software is developed from scratch</a:t>
            </a:r>
          </a:p>
          <a:p>
            <a:pPr lvl="1">
              <a:buFont typeface="Wingdings" panose="05000000000000000000" pitchFamily="2" charset="2"/>
              <a:buChar char="§"/>
            </a:pPr>
            <a:r>
              <a:rPr lang="en-US" sz="2100" dirty="0">
                <a:solidFill>
                  <a:srgbClr val="131313"/>
                </a:solidFill>
                <a:effectLst/>
                <a:latin typeface="Times New Roman" panose="02020603050405020304" pitchFamily="18" charset="0"/>
                <a:cs typeface="Times New Roman" panose="02020603050405020304" pitchFamily="18" charset="0"/>
              </a:rPr>
              <a:t>Faster delivery and deployment of system</a:t>
            </a:r>
          </a:p>
          <a:p>
            <a:pPr>
              <a:buFont typeface="Wingdings" panose="05000000000000000000" pitchFamily="2" charset="2"/>
              <a:buChar char="q"/>
            </a:pPr>
            <a:r>
              <a:rPr lang="en-US" sz="2100" dirty="0">
                <a:solidFill>
                  <a:srgbClr val="131313"/>
                </a:solidFill>
                <a:latin typeface="Times New Roman" panose="02020603050405020304" pitchFamily="18" charset="0"/>
                <a:cs typeface="Times New Roman" panose="02020603050405020304" pitchFamily="18" charset="0"/>
              </a:rPr>
              <a:t>Disadvantage: </a:t>
            </a:r>
          </a:p>
          <a:p>
            <a:pPr lvl="1">
              <a:buFont typeface="Wingdings" panose="05000000000000000000" pitchFamily="2" charset="2"/>
              <a:buChar char="§"/>
            </a:pPr>
            <a:r>
              <a:rPr lang="en-US" sz="2100" dirty="0">
                <a:solidFill>
                  <a:srgbClr val="131313"/>
                </a:solidFill>
                <a:effectLst/>
                <a:latin typeface="Times New Roman" panose="02020603050405020304" pitchFamily="18" charset="0"/>
                <a:cs typeface="Times New Roman" panose="02020603050405020304" pitchFamily="18" charset="0"/>
              </a:rPr>
              <a:t>But requirements compromises are inevitable so system may not meet real needs of users</a:t>
            </a:r>
          </a:p>
          <a:p>
            <a:pPr lvl="1">
              <a:buFont typeface="Wingdings" panose="05000000000000000000" pitchFamily="2" charset="2"/>
              <a:buChar char="§"/>
            </a:pPr>
            <a:r>
              <a:rPr lang="en-US" sz="2100" dirty="0">
                <a:solidFill>
                  <a:srgbClr val="131313"/>
                </a:solidFill>
                <a:effectLst/>
                <a:latin typeface="Times New Roman" panose="02020603050405020304" pitchFamily="18" charset="0"/>
                <a:cs typeface="Times New Roman" panose="02020603050405020304" pitchFamily="18" charset="0"/>
              </a:rPr>
              <a:t>Loss of control over evolution of reused system elements</a:t>
            </a:r>
            <a:endParaRPr lang="en-US" sz="21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q"/>
            </a:pP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382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D267F-E181-9104-CCBD-A180910FF1B3}"/>
              </a:ext>
            </a:extLst>
          </p:cNvPr>
          <p:cNvSpPr>
            <a:spLocks noGrp="1"/>
          </p:cNvSpPr>
          <p:nvPr>
            <p:ph type="title"/>
          </p:nvPr>
        </p:nvSpPr>
        <p:spPr>
          <a:xfrm>
            <a:off x="823913" y="0"/>
            <a:ext cx="10058400" cy="1450757"/>
          </a:xfrm>
        </p:spPr>
        <p:txBody>
          <a:bodyPr>
            <a:normAutofit/>
          </a:bodyPr>
          <a:lstStyle/>
          <a:p>
            <a:r>
              <a:rPr lang="en-US" sz="4000" b="1" dirty="0">
                <a:latin typeface="Times New Roman" panose="02020603050405020304" pitchFamily="18" charset="0"/>
                <a:cs typeface="Times New Roman" panose="02020603050405020304" pitchFamily="18" charset="0"/>
              </a:rPr>
              <a:t>Component-Based Software Engineering</a:t>
            </a:r>
          </a:p>
        </p:txBody>
      </p:sp>
      <p:sp>
        <p:nvSpPr>
          <p:cNvPr id="4" name="Rectangle 3">
            <a:extLst>
              <a:ext uri="{FF2B5EF4-FFF2-40B4-BE49-F238E27FC236}">
                <a16:creationId xmlns:a16="http://schemas.microsoft.com/office/drawing/2014/main" id="{63E487FA-0B62-DB63-D717-229C5EE15DEB}"/>
              </a:ext>
            </a:extLst>
          </p:cNvPr>
          <p:cNvSpPr/>
          <p:nvPr/>
        </p:nvSpPr>
        <p:spPr>
          <a:xfrm>
            <a:off x="361951" y="2124075"/>
            <a:ext cx="1743074" cy="914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Requirement</a:t>
            </a:r>
          </a:p>
          <a:p>
            <a:pPr algn="ctr"/>
            <a:r>
              <a:rPr lang="en-US" dirty="0">
                <a:solidFill>
                  <a:schemeClr val="tx1"/>
                </a:solidFill>
                <a:latin typeface="Times New Roman" panose="02020603050405020304" pitchFamily="18" charset="0"/>
                <a:cs typeface="Times New Roman" panose="02020603050405020304" pitchFamily="18" charset="0"/>
              </a:rPr>
              <a:t>Specification</a:t>
            </a:r>
          </a:p>
        </p:txBody>
      </p:sp>
      <p:sp>
        <p:nvSpPr>
          <p:cNvPr id="5" name="Rectangle 4">
            <a:extLst>
              <a:ext uri="{FF2B5EF4-FFF2-40B4-BE49-F238E27FC236}">
                <a16:creationId xmlns:a16="http://schemas.microsoft.com/office/drawing/2014/main" id="{95E0F9B1-6E71-0ADE-DD8E-9D630A7BA61A}"/>
              </a:ext>
            </a:extLst>
          </p:cNvPr>
          <p:cNvSpPr/>
          <p:nvPr/>
        </p:nvSpPr>
        <p:spPr>
          <a:xfrm>
            <a:off x="2952751" y="2124075"/>
            <a:ext cx="1743074" cy="914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Component</a:t>
            </a:r>
          </a:p>
          <a:p>
            <a:pPr algn="ctr"/>
            <a:r>
              <a:rPr lang="en-US" dirty="0">
                <a:solidFill>
                  <a:schemeClr val="tx1"/>
                </a:solidFill>
                <a:latin typeface="Times New Roman" panose="02020603050405020304" pitchFamily="18" charset="0"/>
                <a:cs typeface="Times New Roman" panose="02020603050405020304" pitchFamily="18" charset="0"/>
              </a:rPr>
              <a:t>Analysis</a:t>
            </a:r>
          </a:p>
        </p:txBody>
      </p:sp>
      <p:sp>
        <p:nvSpPr>
          <p:cNvPr id="6" name="Rectangle 5">
            <a:extLst>
              <a:ext uri="{FF2B5EF4-FFF2-40B4-BE49-F238E27FC236}">
                <a16:creationId xmlns:a16="http://schemas.microsoft.com/office/drawing/2014/main" id="{453478FA-EBE1-5218-9C54-7BC738D658C8}"/>
              </a:ext>
            </a:extLst>
          </p:cNvPr>
          <p:cNvSpPr/>
          <p:nvPr/>
        </p:nvSpPr>
        <p:spPr>
          <a:xfrm>
            <a:off x="5495929" y="2124075"/>
            <a:ext cx="1743074" cy="914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Requirement</a:t>
            </a:r>
          </a:p>
          <a:p>
            <a:pPr algn="ctr"/>
            <a:r>
              <a:rPr lang="en-US" dirty="0">
                <a:solidFill>
                  <a:schemeClr val="tx1"/>
                </a:solidFill>
                <a:latin typeface="Times New Roman" panose="02020603050405020304" pitchFamily="18" charset="0"/>
                <a:cs typeface="Times New Roman" panose="02020603050405020304" pitchFamily="18" charset="0"/>
              </a:rPr>
              <a:t>Analysis</a:t>
            </a:r>
          </a:p>
        </p:txBody>
      </p:sp>
      <p:sp>
        <p:nvSpPr>
          <p:cNvPr id="7" name="Rectangle 6">
            <a:extLst>
              <a:ext uri="{FF2B5EF4-FFF2-40B4-BE49-F238E27FC236}">
                <a16:creationId xmlns:a16="http://schemas.microsoft.com/office/drawing/2014/main" id="{DC791439-A131-0822-B257-C2DA5F9E271C}"/>
              </a:ext>
            </a:extLst>
          </p:cNvPr>
          <p:cNvSpPr/>
          <p:nvPr/>
        </p:nvSpPr>
        <p:spPr>
          <a:xfrm>
            <a:off x="8091492" y="2124075"/>
            <a:ext cx="1743074" cy="914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System Design with Reuse</a:t>
            </a:r>
          </a:p>
        </p:txBody>
      </p:sp>
      <p:sp>
        <p:nvSpPr>
          <p:cNvPr id="8" name="Rectangle 7">
            <a:extLst>
              <a:ext uri="{FF2B5EF4-FFF2-40B4-BE49-F238E27FC236}">
                <a16:creationId xmlns:a16="http://schemas.microsoft.com/office/drawing/2014/main" id="{1E2644A7-ECF1-B6BE-D07D-F87156AF768D}"/>
              </a:ext>
            </a:extLst>
          </p:cNvPr>
          <p:cNvSpPr/>
          <p:nvPr/>
        </p:nvSpPr>
        <p:spPr>
          <a:xfrm>
            <a:off x="7419976" y="3562350"/>
            <a:ext cx="1743074" cy="914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Development &amp;</a:t>
            </a:r>
          </a:p>
          <a:p>
            <a:pPr algn="ctr"/>
            <a:r>
              <a:rPr lang="en-US" dirty="0">
                <a:solidFill>
                  <a:schemeClr val="tx1"/>
                </a:solidFill>
                <a:latin typeface="Times New Roman" panose="02020603050405020304" pitchFamily="18" charset="0"/>
                <a:cs typeface="Times New Roman" panose="02020603050405020304" pitchFamily="18" charset="0"/>
              </a:rPr>
              <a:t>Integration</a:t>
            </a:r>
          </a:p>
        </p:txBody>
      </p:sp>
      <p:sp>
        <p:nvSpPr>
          <p:cNvPr id="9" name="Rectangle 8">
            <a:extLst>
              <a:ext uri="{FF2B5EF4-FFF2-40B4-BE49-F238E27FC236}">
                <a16:creationId xmlns:a16="http://schemas.microsoft.com/office/drawing/2014/main" id="{827E037B-736D-40D4-3988-E2FEAA9504A2}"/>
              </a:ext>
            </a:extLst>
          </p:cNvPr>
          <p:cNvSpPr/>
          <p:nvPr/>
        </p:nvSpPr>
        <p:spPr>
          <a:xfrm>
            <a:off x="10010776" y="3552825"/>
            <a:ext cx="1743074" cy="914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System</a:t>
            </a:r>
          </a:p>
          <a:p>
            <a:pPr algn="ctr"/>
            <a:r>
              <a:rPr lang="en-US" dirty="0">
                <a:solidFill>
                  <a:schemeClr val="tx1"/>
                </a:solidFill>
                <a:latin typeface="Times New Roman" panose="02020603050405020304" pitchFamily="18" charset="0"/>
                <a:cs typeface="Times New Roman" panose="02020603050405020304" pitchFamily="18" charset="0"/>
              </a:rPr>
              <a:t>Validation</a:t>
            </a:r>
          </a:p>
        </p:txBody>
      </p:sp>
      <p:cxnSp>
        <p:nvCxnSpPr>
          <p:cNvPr id="11" name="Straight Arrow Connector 10">
            <a:extLst>
              <a:ext uri="{FF2B5EF4-FFF2-40B4-BE49-F238E27FC236}">
                <a16:creationId xmlns:a16="http://schemas.microsoft.com/office/drawing/2014/main" id="{D9E92C93-8F04-208E-C179-1F5992B47D9A}"/>
              </a:ext>
            </a:extLst>
          </p:cNvPr>
          <p:cNvCxnSpPr>
            <a:cxnSpLocks/>
            <a:endCxn id="5" idx="1"/>
          </p:cNvCxnSpPr>
          <p:nvPr/>
        </p:nvCxnSpPr>
        <p:spPr>
          <a:xfrm flipV="1">
            <a:off x="2105025" y="2581275"/>
            <a:ext cx="847726" cy="95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BE3A6721-88DF-1F91-1329-9AC26F4AC20A}"/>
              </a:ext>
            </a:extLst>
          </p:cNvPr>
          <p:cNvCxnSpPr>
            <a:cxnSpLocks/>
          </p:cNvCxnSpPr>
          <p:nvPr/>
        </p:nvCxnSpPr>
        <p:spPr>
          <a:xfrm flipV="1">
            <a:off x="4672014" y="2571750"/>
            <a:ext cx="847726" cy="95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B6697A99-EF62-A532-FD12-FE9B8B35A35B}"/>
              </a:ext>
            </a:extLst>
          </p:cNvPr>
          <p:cNvCxnSpPr>
            <a:cxnSpLocks/>
          </p:cNvCxnSpPr>
          <p:nvPr/>
        </p:nvCxnSpPr>
        <p:spPr>
          <a:xfrm flipV="1">
            <a:off x="7243766" y="2571750"/>
            <a:ext cx="847726" cy="95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Straight Arrow Connector 16">
            <a:extLst>
              <a:ext uri="{FF2B5EF4-FFF2-40B4-BE49-F238E27FC236}">
                <a16:creationId xmlns:a16="http://schemas.microsoft.com/office/drawing/2014/main" id="{25DA471D-8043-E786-28B7-E0A987319B0C}"/>
              </a:ext>
            </a:extLst>
          </p:cNvPr>
          <p:cNvCxnSpPr>
            <a:cxnSpLocks/>
          </p:cNvCxnSpPr>
          <p:nvPr/>
        </p:nvCxnSpPr>
        <p:spPr>
          <a:xfrm flipV="1">
            <a:off x="9163050" y="4010025"/>
            <a:ext cx="847726" cy="95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C3005E76-6ECC-CF9A-987C-4C728A42ED5D}"/>
              </a:ext>
            </a:extLst>
          </p:cNvPr>
          <p:cNvCxnSpPr>
            <a:cxnSpLocks/>
          </p:cNvCxnSpPr>
          <p:nvPr/>
        </p:nvCxnSpPr>
        <p:spPr>
          <a:xfrm>
            <a:off x="8491542" y="3038475"/>
            <a:ext cx="0" cy="52387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00501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B89B5-7FFB-D4A3-7D6B-8609F08A7D8D}"/>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Component-Based Software Engineering</a:t>
            </a:r>
          </a:p>
        </p:txBody>
      </p:sp>
      <p:sp>
        <p:nvSpPr>
          <p:cNvPr id="3" name="Content Placeholder 2">
            <a:extLst>
              <a:ext uri="{FF2B5EF4-FFF2-40B4-BE49-F238E27FC236}">
                <a16:creationId xmlns:a16="http://schemas.microsoft.com/office/drawing/2014/main" id="{0461979F-FBA2-D713-11BC-FC0BB76C4369}"/>
              </a:ext>
            </a:extLst>
          </p:cNvPr>
          <p:cNvSpPr>
            <a:spLocks noGrp="1"/>
          </p:cNvSpPr>
          <p:nvPr>
            <p:ph idx="1"/>
          </p:nvPr>
        </p:nvSpPr>
        <p:spPr/>
        <p:txBody>
          <a:bodyPr>
            <a:normAutofit/>
          </a:bodyPr>
          <a:lstStyle/>
          <a:p>
            <a:pPr>
              <a:buFont typeface="Wingdings" panose="05000000000000000000" pitchFamily="2" charset="2"/>
              <a:buChar char="q"/>
            </a:pPr>
            <a:r>
              <a:rPr lang="en-US" sz="2400" dirty="0">
                <a:solidFill>
                  <a:srgbClr val="131313"/>
                </a:solidFill>
                <a:effectLst/>
                <a:latin typeface="Times New Roman" panose="02020603050405020304" pitchFamily="18" charset="0"/>
                <a:cs typeface="Times New Roman" panose="02020603050405020304" pitchFamily="18" charset="0"/>
              </a:rPr>
              <a:t> While the initial requirements specification stage and the validation stage are comparable with other processes, the intermediate stages in a reuse-oriented process are different. These stages are:</a:t>
            </a:r>
          </a:p>
          <a:p>
            <a:endParaRPr lang="en-US" sz="2400" dirty="0">
              <a:solidFill>
                <a:srgbClr val="131313"/>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solidFill>
                  <a:srgbClr val="131313"/>
                </a:solidFill>
                <a:effectLst/>
                <a:latin typeface="Times New Roman" panose="02020603050405020304" pitchFamily="18" charset="0"/>
                <a:cs typeface="Times New Roman" panose="02020603050405020304" pitchFamily="18" charset="0"/>
              </a:rPr>
              <a:t> Component analysis Given the requirements specification; a search is made for components to implement that specification. Usually, there is no exact match, and the components that may be used only provide some of the functionality required.</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0488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9C299-8FAF-1B7E-7AD6-6C857F482650}"/>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Component-Based Software Engineering</a:t>
            </a:r>
          </a:p>
        </p:txBody>
      </p:sp>
      <p:sp>
        <p:nvSpPr>
          <p:cNvPr id="3" name="Content Placeholder 2">
            <a:extLst>
              <a:ext uri="{FF2B5EF4-FFF2-40B4-BE49-F238E27FC236}">
                <a16:creationId xmlns:a16="http://schemas.microsoft.com/office/drawing/2014/main" id="{C81DE5FF-A5BE-1E43-DCC1-2AD67F2FFA86}"/>
              </a:ext>
            </a:extLst>
          </p:cNvPr>
          <p:cNvSpPr>
            <a:spLocks noGrp="1"/>
          </p:cNvSpPr>
          <p:nvPr>
            <p:ph idx="1"/>
          </p:nvPr>
        </p:nvSpPr>
        <p:spPr/>
        <p:txBody>
          <a:bodyPr>
            <a:normAutofit/>
          </a:bodyPr>
          <a:lstStyle/>
          <a:p>
            <a:pPr>
              <a:buFont typeface="Wingdings" panose="05000000000000000000" pitchFamily="2" charset="2"/>
              <a:buChar char="q"/>
            </a:pPr>
            <a:r>
              <a:rPr lang="en-US" sz="2400" dirty="0">
                <a:solidFill>
                  <a:srgbClr val="131313"/>
                </a:solidFill>
                <a:effectLst/>
                <a:latin typeface="Times New Roman" panose="02020603050405020304" pitchFamily="18" charset="0"/>
                <a:cs typeface="Times New Roman" panose="02020603050405020304" pitchFamily="18" charset="0"/>
              </a:rPr>
              <a:t> Requirements modification During this stage, the requirements are analyzed using information about the components that have been discovered. They are then modified to reflect the available components. Where modifications are impossible, the component analysis activity may be re-entered to search for alternative solutions.</a:t>
            </a:r>
          </a:p>
          <a:p>
            <a:pPr>
              <a:buFont typeface="Wingdings" panose="05000000000000000000" pitchFamily="2" charset="2"/>
              <a:buChar char="q"/>
            </a:pPr>
            <a:endParaRPr lang="en-US" sz="2400" dirty="0">
              <a:solidFill>
                <a:srgbClr val="131313"/>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solidFill>
                  <a:srgbClr val="131313"/>
                </a:solidFill>
                <a:effectLst/>
                <a:latin typeface="Times New Roman" panose="02020603050405020304" pitchFamily="18" charset="0"/>
                <a:cs typeface="Times New Roman" panose="02020603050405020304" pitchFamily="18" charset="0"/>
              </a:rPr>
              <a:t> System design with reuse During this phase, the framework of the system is designed, or an existing framework is reused. The designers take into account the components that are reused and organize the framework to cater to this. Some new software may have to be designed if reusable components are not available.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3796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9CA03-5C49-2F74-CC30-3C805F500A71}"/>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Component-Based Software Engineering</a:t>
            </a:r>
          </a:p>
        </p:txBody>
      </p:sp>
      <p:sp>
        <p:nvSpPr>
          <p:cNvPr id="3" name="Content Placeholder 2">
            <a:extLst>
              <a:ext uri="{FF2B5EF4-FFF2-40B4-BE49-F238E27FC236}">
                <a16:creationId xmlns:a16="http://schemas.microsoft.com/office/drawing/2014/main" id="{A72BAA82-5EAC-54AA-926A-0053CE739AF4}"/>
              </a:ext>
            </a:extLst>
          </p:cNvPr>
          <p:cNvSpPr>
            <a:spLocks noGrp="1"/>
          </p:cNvSpPr>
          <p:nvPr>
            <p:ph idx="1"/>
          </p:nvPr>
        </p:nvSpPr>
        <p:spPr/>
        <p:txBody>
          <a:bodyPr>
            <a:noAutofit/>
          </a:bodyPr>
          <a:lstStyle/>
          <a:p>
            <a:pPr>
              <a:buFont typeface="Wingdings" panose="05000000000000000000" pitchFamily="2" charset="2"/>
              <a:buChar char="q"/>
            </a:pPr>
            <a:r>
              <a:rPr lang="en-US" sz="2200" dirty="0">
                <a:solidFill>
                  <a:srgbClr val="131313"/>
                </a:solidFill>
                <a:effectLst/>
                <a:latin typeface="Times New Roman" panose="02020603050405020304" pitchFamily="18" charset="0"/>
                <a:cs typeface="Times New Roman" panose="02020603050405020304" pitchFamily="18" charset="0"/>
              </a:rPr>
              <a:t> Development and integration Software that cannot be externally procured is developed, and the components and COTS systems are integrated to create the new system. System integration, in this model, may be part of the development process rather than a separate activity.</a:t>
            </a:r>
          </a:p>
          <a:p>
            <a:pPr>
              <a:buFont typeface="Wingdings" panose="05000000000000000000" pitchFamily="2" charset="2"/>
              <a:buChar char="q"/>
            </a:pPr>
            <a:r>
              <a:rPr lang="en-US" sz="2200" dirty="0">
                <a:solidFill>
                  <a:srgbClr val="131313"/>
                </a:solidFill>
                <a:latin typeface="Times New Roman" panose="02020603050405020304" pitchFamily="18" charset="0"/>
                <a:cs typeface="Times New Roman" panose="02020603050405020304" pitchFamily="18" charset="0"/>
              </a:rPr>
              <a:t>Advantage:</a:t>
            </a:r>
          </a:p>
          <a:p>
            <a:pPr lvl="1">
              <a:buFont typeface="Wingdings" panose="05000000000000000000" pitchFamily="2" charset="2"/>
              <a:buChar char="§"/>
            </a:pPr>
            <a:r>
              <a:rPr lang="en-US" sz="2200" dirty="0">
                <a:solidFill>
                  <a:srgbClr val="131313"/>
                </a:solidFill>
                <a:effectLst/>
                <a:latin typeface="Times New Roman" panose="02020603050405020304" pitchFamily="18" charset="0"/>
                <a:cs typeface="Times New Roman" panose="02020603050405020304" pitchFamily="18" charset="0"/>
              </a:rPr>
              <a:t>Reduce the amount of software to be developed and so’ reducing cost and risks. </a:t>
            </a:r>
          </a:p>
          <a:p>
            <a:pPr lvl="1">
              <a:buFont typeface="Wingdings" panose="05000000000000000000" pitchFamily="2" charset="2"/>
              <a:buChar char="§"/>
            </a:pPr>
            <a:r>
              <a:rPr lang="en-US" sz="2200" dirty="0">
                <a:solidFill>
                  <a:srgbClr val="131313"/>
                </a:solidFill>
                <a:effectLst/>
                <a:latin typeface="Times New Roman" panose="02020603050405020304" pitchFamily="18" charset="0"/>
                <a:cs typeface="Times New Roman" panose="02020603050405020304" pitchFamily="18" charset="0"/>
              </a:rPr>
              <a:t>It usually also leads to faster delivery of the software. </a:t>
            </a:r>
          </a:p>
          <a:p>
            <a:pPr>
              <a:buFont typeface="Wingdings" panose="05000000000000000000" pitchFamily="2" charset="2"/>
              <a:buChar char="q"/>
            </a:pPr>
            <a:r>
              <a:rPr lang="en-US" sz="2200" dirty="0">
                <a:solidFill>
                  <a:srgbClr val="131313"/>
                </a:solidFill>
                <a:effectLst/>
                <a:latin typeface="Times New Roman" panose="02020603050405020304" pitchFamily="18" charset="0"/>
                <a:cs typeface="Times New Roman" panose="02020603050405020304" pitchFamily="18" charset="0"/>
              </a:rPr>
              <a:t>Disadvantage:</a:t>
            </a:r>
          </a:p>
          <a:p>
            <a:pPr lvl="1">
              <a:buFont typeface="Wingdings" panose="05000000000000000000" pitchFamily="2" charset="2"/>
              <a:buChar char="§"/>
            </a:pPr>
            <a:r>
              <a:rPr lang="en-US" sz="2200" dirty="0">
                <a:solidFill>
                  <a:srgbClr val="131313"/>
                </a:solidFill>
                <a:effectLst/>
                <a:latin typeface="Times New Roman" panose="02020603050405020304" pitchFamily="18" charset="0"/>
                <a:cs typeface="Times New Roman" panose="02020603050405020304" pitchFamily="18" charset="0"/>
              </a:rPr>
              <a:t>However, requirements compromises are inevitable, and this may lead to a system that does not meet the real needs of users. </a:t>
            </a:r>
          </a:p>
          <a:p>
            <a:pPr lvl="1">
              <a:buFont typeface="Wingdings" panose="05000000000000000000" pitchFamily="2" charset="2"/>
              <a:buChar char="§"/>
            </a:pPr>
            <a:r>
              <a:rPr lang="en-US" sz="2200" dirty="0">
                <a:solidFill>
                  <a:srgbClr val="131313"/>
                </a:solidFill>
                <a:effectLst/>
                <a:latin typeface="Times New Roman" panose="02020603050405020304" pitchFamily="18" charset="0"/>
                <a:cs typeface="Times New Roman" panose="02020603050405020304" pitchFamily="18" charset="0"/>
              </a:rPr>
              <a:t>Furthermore, some control over the system evolution is lost as new versions of the reusable components are not under the control of the organization using them.</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8597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9EBF2-1FFF-E95D-3934-594FF9C46C12}"/>
              </a:ext>
            </a:extLst>
          </p:cNvPr>
          <p:cNvSpPr>
            <a:spLocks noGrp="1"/>
          </p:cNvSpPr>
          <p:nvPr>
            <p:ph type="title"/>
          </p:nvPr>
        </p:nvSpPr>
        <p:spPr>
          <a:xfrm>
            <a:off x="747712" y="0"/>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Spiral Model</a:t>
            </a:r>
          </a:p>
        </p:txBody>
      </p:sp>
      <p:cxnSp>
        <p:nvCxnSpPr>
          <p:cNvPr id="7" name="Straight Arrow Connector 6">
            <a:extLst>
              <a:ext uri="{FF2B5EF4-FFF2-40B4-BE49-F238E27FC236}">
                <a16:creationId xmlns:a16="http://schemas.microsoft.com/office/drawing/2014/main" id="{05A5A87D-2EB3-7896-7680-E3328F434755}"/>
              </a:ext>
            </a:extLst>
          </p:cNvPr>
          <p:cNvCxnSpPr>
            <a:cxnSpLocks/>
          </p:cNvCxnSpPr>
          <p:nvPr/>
        </p:nvCxnSpPr>
        <p:spPr>
          <a:xfrm flipV="1">
            <a:off x="2286000" y="3504664"/>
            <a:ext cx="7439025" cy="33337"/>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0D935A95-907D-9391-2832-B679C1B56ECE}"/>
              </a:ext>
            </a:extLst>
          </p:cNvPr>
          <p:cNvCxnSpPr>
            <a:cxnSpLocks/>
          </p:cNvCxnSpPr>
          <p:nvPr/>
        </p:nvCxnSpPr>
        <p:spPr>
          <a:xfrm>
            <a:off x="5972175" y="1790700"/>
            <a:ext cx="0" cy="3741738"/>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97861A76-6675-5D8F-B365-3C5263E6B906}"/>
              </a:ext>
            </a:extLst>
          </p:cNvPr>
          <p:cNvSpPr txBox="1"/>
          <p:nvPr/>
        </p:nvSpPr>
        <p:spPr>
          <a:xfrm>
            <a:off x="1476375" y="2001063"/>
            <a:ext cx="2749471" cy="646331"/>
          </a:xfrm>
          <a:prstGeom prst="rect">
            <a:avLst/>
          </a:prstGeom>
          <a:noFill/>
        </p:spPr>
        <p:txBody>
          <a:bodyPr wrap="none" rtlCol="0">
            <a:spAutoFit/>
          </a:bodyPr>
          <a:lstStyle/>
          <a:p>
            <a:pPr marL="342900" indent="-342900">
              <a:buAutoNum type="arabicPeriod"/>
            </a:pPr>
            <a:r>
              <a:rPr lang="en-US" dirty="0">
                <a:latin typeface="Times New Roman" panose="02020603050405020304" pitchFamily="18" charset="0"/>
                <a:cs typeface="Times New Roman" panose="02020603050405020304" pitchFamily="18" charset="0"/>
              </a:rPr>
              <a:t>Determining objectives,</a:t>
            </a:r>
          </a:p>
          <a:p>
            <a:r>
              <a:rPr lang="en-US" dirty="0">
                <a:latin typeface="Times New Roman" panose="02020603050405020304" pitchFamily="18" charset="0"/>
                <a:cs typeface="Times New Roman" panose="02020603050405020304" pitchFamily="18" charset="0"/>
              </a:rPr>
              <a:t>Alternatives &amp; constraints</a:t>
            </a:r>
          </a:p>
        </p:txBody>
      </p:sp>
      <p:sp>
        <p:nvSpPr>
          <p:cNvPr id="15" name="TextBox 14">
            <a:extLst>
              <a:ext uri="{FF2B5EF4-FFF2-40B4-BE49-F238E27FC236}">
                <a16:creationId xmlns:a16="http://schemas.microsoft.com/office/drawing/2014/main" id="{A7AF01F0-322A-2FCE-57D1-465B8C4E0FE8}"/>
              </a:ext>
            </a:extLst>
          </p:cNvPr>
          <p:cNvSpPr txBox="1"/>
          <p:nvPr/>
        </p:nvSpPr>
        <p:spPr>
          <a:xfrm>
            <a:off x="7154990" y="2139562"/>
            <a:ext cx="3166251"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 Risk assessment &amp; Reduction</a:t>
            </a:r>
          </a:p>
        </p:txBody>
      </p:sp>
      <p:sp>
        <p:nvSpPr>
          <p:cNvPr id="16" name="TextBox 15">
            <a:extLst>
              <a:ext uri="{FF2B5EF4-FFF2-40B4-BE49-F238E27FC236}">
                <a16:creationId xmlns:a16="http://schemas.microsoft.com/office/drawing/2014/main" id="{4B9C75A9-0635-2951-BCA7-27A246C07417}"/>
              </a:ext>
            </a:extLst>
          </p:cNvPr>
          <p:cNvSpPr txBox="1"/>
          <p:nvPr/>
        </p:nvSpPr>
        <p:spPr>
          <a:xfrm>
            <a:off x="2390690" y="4978440"/>
            <a:ext cx="2463623"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4. Review and Planning</a:t>
            </a:r>
          </a:p>
        </p:txBody>
      </p:sp>
      <p:sp>
        <p:nvSpPr>
          <p:cNvPr id="17" name="TextBox 16">
            <a:extLst>
              <a:ext uri="{FF2B5EF4-FFF2-40B4-BE49-F238E27FC236}">
                <a16:creationId xmlns:a16="http://schemas.microsoft.com/office/drawing/2014/main" id="{345973CB-EEE1-2CCF-93DE-AC324ABC5D4B}"/>
              </a:ext>
            </a:extLst>
          </p:cNvPr>
          <p:cNvSpPr txBox="1"/>
          <p:nvPr/>
        </p:nvSpPr>
        <p:spPr>
          <a:xfrm>
            <a:off x="7442375" y="4836121"/>
            <a:ext cx="2591479"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3. Develop and Validation</a:t>
            </a:r>
          </a:p>
        </p:txBody>
      </p:sp>
      <p:sp>
        <p:nvSpPr>
          <p:cNvPr id="25" name="Freeform: Shape 24">
            <a:extLst>
              <a:ext uri="{FF2B5EF4-FFF2-40B4-BE49-F238E27FC236}">
                <a16:creationId xmlns:a16="http://schemas.microsoft.com/office/drawing/2014/main" id="{E54658A0-1723-A3D4-7F89-0599F9BB6637}"/>
              </a:ext>
            </a:extLst>
          </p:cNvPr>
          <p:cNvSpPr/>
          <p:nvPr/>
        </p:nvSpPr>
        <p:spPr>
          <a:xfrm>
            <a:off x="4609560" y="2766002"/>
            <a:ext cx="2461428" cy="2090738"/>
          </a:xfrm>
          <a:custGeom>
            <a:avLst/>
            <a:gdLst>
              <a:gd name="connsiteX0" fmla="*/ 743490 w 2461428"/>
              <a:gd name="connsiteY0" fmla="*/ 704850 h 1924050"/>
              <a:gd name="connsiteX1" fmla="*/ 753015 w 2461428"/>
              <a:gd name="connsiteY1" fmla="*/ 628650 h 1924050"/>
              <a:gd name="connsiteX2" fmla="*/ 800640 w 2461428"/>
              <a:gd name="connsiteY2" fmla="*/ 561975 h 1924050"/>
              <a:gd name="connsiteX3" fmla="*/ 829215 w 2461428"/>
              <a:gd name="connsiteY3" fmla="*/ 523875 h 1924050"/>
              <a:gd name="connsiteX4" fmla="*/ 848265 w 2461428"/>
              <a:gd name="connsiteY4" fmla="*/ 495300 h 1924050"/>
              <a:gd name="connsiteX5" fmla="*/ 876840 w 2461428"/>
              <a:gd name="connsiteY5" fmla="*/ 476250 h 1924050"/>
              <a:gd name="connsiteX6" fmla="*/ 905415 w 2461428"/>
              <a:gd name="connsiteY6" fmla="*/ 447675 h 1924050"/>
              <a:gd name="connsiteX7" fmla="*/ 933990 w 2461428"/>
              <a:gd name="connsiteY7" fmla="*/ 409575 h 1924050"/>
              <a:gd name="connsiteX8" fmla="*/ 1057815 w 2461428"/>
              <a:gd name="connsiteY8" fmla="*/ 352425 h 1924050"/>
              <a:gd name="connsiteX9" fmla="*/ 1086390 w 2461428"/>
              <a:gd name="connsiteY9" fmla="*/ 333375 h 1924050"/>
              <a:gd name="connsiteX10" fmla="*/ 1238790 w 2461428"/>
              <a:gd name="connsiteY10" fmla="*/ 314325 h 1924050"/>
              <a:gd name="connsiteX11" fmla="*/ 1667415 w 2461428"/>
              <a:gd name="connsiteY11" fmla="*/ 323850 h 1924050"/>
              <a:gd name="connsiteX12" fmla="*/ 1695990 w 2461428"/>
              <a:gd name="connsiteY12" fmla="*/ 342900 h 1924050"/>
              <a:gd name="connsiteX13" fmla="*/ 1753140 w 2461428"/>
              <a:gd name="connsiteY13" fmla="*/ 400050 h 1924050"/>
              <a:gd name="connsiteX14" fmla="*/ 1800765 w 2461428"/>
              <a:gd name="connsiteY14" fmla="*/ 457200 h 1924050"/>
              <a:gd name="connsiteX15" fmla="*/ 1848390 w 2461428"/>
              <a:gd name="connsiteY15" fmla="*/ 542925 h 1924050"/>
              <a:gd name="connsiteX16" fmla="*/ 1876965 w 2461428"/>
              <a:gd name="connsiteY16" fmla="*/ 666750 h 1924050"/>
              <a:gd name="connsiteX17" fmla="*/ 1886490 w 2461428"/>
              <a:gd name="connsiteY17" fmla="*/ 723900 h 1924050"/>
              <a:gd name="connsiteX18" fmla="*/ 1905540 w 2461428"/>
              <a:gd name="connsiteY18" fmla="*/ 828675 h 1924050"/>
              <a:gd name="connsiteX19" fmla="*/ 1876965 w 2461428"/>
              <a:gd name="connsiteY19" fmla="*/ 990600 h 1924050"/>
              <a:gd name="connsiteX20" fmla="*/ 1838865 w 2461428"/>
              <a:gd name="connsiteY20" fmla="*/ 1028700 h 1924050"/>
              <a:gd name="connsiteX21" fmla="*/ 1819815 w 2461428"/>
              <a:gd name="connsiteY21" fmla="*/ 1066800 h 1924050"/>
              <a:gd name="connsiteX22" fmla="*/ 1791240 w 2461428"/>
              <a:gd name="connsiteY22" fmla="*/ 1085850 h 1924050"/>
              <a:gd name="connsiteX23" fmla="*/ 1619790 w 2461428"/>
              <a:gd name="connsiteY23" fmla="*/ 1162050 h 1924050"/>
              <a:gd name="connsiteX24" fmla="*/ 1476915 w 2461428"/>
              <a:gd name="connsiteY24" fmla="*/ 1181100 h 1924050"/>
              <a:gd name="connsiteX25" fmla="*/ 933990 w 2461428"/>
              <a:gd name="connsiteY25" fmla="*/ 1152525 h 1924050"/>
              <a:gd name="connsiteX26" fmla="*/ 857790 w 2461428"/>
              <a:gd name="connsiteY26" fmla="*/ 1123950 h 1924050"/>
              <a:gd name="connsiteX27" fmla="*/ 753015 w 2461428"/>
              <a:gd name="connsiteY27" fmla="*/ 1066800 h 1924050"/>
              <a:gd name="connsiteX28" fmla="*/ 705390 w 2461428"/>
              <a:gd name="connsiteY28" fmla="*/ 1047750 h 1924050"/>
              <a:gd name="connsiteX29" fmla="*/ 657765 w 2461428"/>
              <a:gd name="connsiteY29" fmla="*/ 1000125 h 1924050"/>
              <a:gd name="connsiteX30" fmla="*/ 619665 w 2461428"/>
              <a:gd name="connsiteY30" fmla="*/ 933450 h 1924050"/>
              <a:gd name="connsiteX31" fmla="*/ 591090 w 2461428"/>
              <a:gd name="connsiteY31" fmla="*/ 914400 h 1924050"/>
              <a:gd name="connsiteX32" fmla="*/ 581565 w 2461428"/>
              <a:gd name="connsiteY32" fmla="*/ 885825 h 1924050"/>
              <a:gd name="connsiteX33" fmla="*/ 562515 w 2461428"/>
              <a:gd name="connsiteY33" fmla="*/ 838200 h 1924050"/>
              <a:gd name="connsiteX34" fmla="*/ 552990 w 2461428"/>
              <a:gd name="connsiteY34" fmla="*/ 771525 h 1924050"/>
              <a:gd name="connsiteX35" fmla="*/ 562515 w 2461428"/>
              <a:gd name="connsiteY35" fmla="*/ 504825 h 1924050"/>
              <a:gd name="connsiteX36" fmla="*/ 572040 w 2461428"/>
              <a:gd name="connsiteY36" fmla="*/ 466725 h 1924050"/>
              <a:gd name="connsiteX37" fmla="*/ 705390 w 2461428"/>
              <a:gd name="connsiteY37" fmla="*/ 361950 h 1924050"/>
              <a:gd name="connsiteX38" fmla="*/ 772065 w 2461428"/>
              <a:gd name="connsiteY38" fmla="*/ 333375 h 1924050"/>
              <a:gd name="connsiteX39" fmla="*/ 953040 w 2461428"/>
              <a:gd name="connsiteY39" fmla="*/ 228600 h 1924050"/>
              <a:gd name="connsiteX40" fmla="*/ 1019715 w 2461428"/>
              <a:gd name="connsiteY40" fmla="*/ 209550 h 1924050"/>
              <a:gd name="connsiteX41" fmla="*/ 1314990 w 2461428"/>
              <a:gd name="connsiteY41" fmla="*/ 161925 h 1924050"/>
              <a:gd name="connsiteX42" fmla="*/ 1667415 w 2461428"/>
              <a:gd name="connsiteY42" fmla="*/ 200025 h 1924050"/>
              <a:gd name="connsiteX43" fmla="*/ 1724565 w 2461428"/>
              <a:gd name="connsiteY43" fmla="*/ 238125 h 1924050"/>
              <a:gd name="connsiteX44" fmla="*/ 1781715 w 2461428"/>
              <a:gd name="connsiteY44" fmla="*/ 257175 h 1924050"/>
              <a:gd name="connsiteX45" fmla="*/ 1819815 w 2461428"/>
              <a:gd name="connsiteY45" fmla="*/ 285750 h 1924050"/>
              <a:gd name="connsiteX46" fmla="*/ 1867440 w 2461428"/>
              <a:gd name="connsiteY46" fmla="*/ 314325 h 1924050"/>
              <a:gd name="connsiteX47" fmla="*/ 1896015 w 2461428"/>
              <a:gd name="connsiteY47" fmla="*/ 333375 h 1924050"/>
              <a:gd name="connsiteX48" fmla="*/ 1934115 w 2461428"/>
              <a:gd name="connsiteY48" fmla="*/ 381000 h 1924050"/>
              <a:gd name="connsiteX49" fmla="*/ 2010315 w 2461428"/>
              <a:gd name="connsiteY49" fmla="*/ 476250 h 1924050"/>
              <a:gd name="connsiteX50" fmla="*/ 2019840 w 2461428"/>
              <a:gd name="connsiteY50" fmla="*/ 542925 h 1924050"/>
              <a:gd name="connsiteX51" fmla="*/ 2057940 w 2461428"/>
              <a:gd name="connsiteY51" fmla="*/ 752475 h 1924050"/>
              <a:gd name="connsiteX52" fmla="*/ 2086515 w 2461428"/>
              <a:gd name="connsiteY52" fmla="*/ 962025 h 1924050"/>
              <a:gd name="connsiteX53" fmla="*/ 2067465 w 2461428"/>
              <a:gd name="connsiteY53" fmla="*/ 1181100 h 1924050"/>
              <a:gd name="connsiteX54" fmla="*/ 1838865 w 2461428"/>
              <a:gd name="connsiteY54" fmla="*/ 1333500 h 1924050"/>
              <a:gd name="connsiteX55" fmla="*/ 1762665 w 2461428"/>
              <a:gd name="connsiteY55" fmla="*/ 1381125 h 1924050"/>
              <a:gd name="connsiteX56" fmla="*/ 1657890 w 2461428"/>
              <a:gd name="connsiteY56" fmla="*/ 1409700 h 1924050"/>
              <a:gd name="connsiteX57" fmla="*/ 1362615 w 2461428"/>
              <a:gd name="connsiteY57" fmla="*/ 1457325 h 1924050"/>
              <a:gd name="connsiteX58" fmla="*/ 1019715 w 2461428"/>
              <a:gd name="connsiteY58" fmla="*/ 1466850 h 1924050"/>
              <a:gd name="connsiteX59" fmla="*/ 552990 w 2461428"/>
              <a:gd name="connsiteY59" fmla="*/ 1419225 h 1924050"/>
              <a:gd name="connsiteX60" fmla="*/ 486315 w 2461428"/>
              <a:gd name="connsiteY60" fmla="*/ 1390650 h 1924050"/>
              <a:gd name="connsiteX61" fmla="*/ 429165 w 2461428"/>
              <a:gd name="connsiteY61" fmla="*/ 1333500 h 1924050"/>
              <a:gd name="connsiteX62" fmla="*/ 362490 w 2461428"/>
              <a:gd name="connsiteY62" fmla="*/ 1247775 h 1924050"/>
              <a:gd name="connsiteX63" fmla="*/ 295815 w 2461428"/>
              <a:gd name="connsiteY63" fmla="*/ 1028700 h 1924050"/>
              <a:gd name="connsiteX64" fmla="*/ 276765 w 2461428"/>
              <a:gd name="connsiteY64" fmla="*/ 876300 h 1924050"/>
              <a:gd name="connsiteX65" fmla="*/ 267240 w 2461428"/>
              <a:gd name="connsiteY65" fmla="*/ 819150 h 1924050"/>
              <a:gd name="connsiteX66" fmla="*/ 295815 w 2461428"/>
              <a:gd name="connsiteY66" fmla="*/ 619125 h 1924050"/>
              <a:gd name="connsiteX67" fmla="*/ 448215 w 2461428"/>
              <a:gd name="connsiteY67" fmla="*/ 285750 h 1924050"/>
              <a:gd name="connsiteX68" fmla="*/ 600615 w 2461428"/>
              <a:gd name="connsiteY68" fmla="*/ 133350 h 1924050"/>
              <a:gd name="connsiteX69" fmla="*/ 686340 w 2461428"/>
              <a:gd name="connsiteY69" fmla="*/ 76200 h 1924050"/>
              <a:gd name="connsiteX70" fmla="*/ 762540 w 2461428"/>
              <a:gd name="connsiteY70" fmla="*/ 47625 h 1924050"/>
              <a:gd name="connsiteX71" fmla="*/ 895890 w 2461428"/>
              <a:gd name="connsiteY71" fmla="*/ 19050 h 1924050"/>
              <a:gd name="connsiteX72" fmla="*/ 1067340 w 2461428"/>
              <a:gd name="connsiteY72" fmla="*/ 0 h 1924050"/>
              <a:gd name="connsiteX73" fmla="*/ 1543590 w 2461428"/>
              <a:gd name="connsiteY73" fmla="*/ 38100 h 1924050"/>
              <a:gd name="connsiteX74" fmla="*/ 1638840 w 2461428"/>
              <a:gd name="connsiteY74" fmla="*/ 76200 h 1924050"/>
              <a:gd name="connsiteX75" fmla="*/ 1896015 w 2461428"/>
              <a:gd name="connsiteY75" fmla="*/ 190500 h 1924050"/>
              <a:gd name="connsiteX76" fmla="*/ 2153190 w 2461428"/>
              <a:gd name="connsiteY76" fmla="*/ 314325 h 1924050"/>
              <a:gd name="connsiteX77" fmla="*/ 2257965 w 2461428"/>
              <a:gd name="connsiteY77" fmla="*/ 400050 h 1924050"/>
              <a:gd name="connsiteX78" fmla="*/ 2391315 w 2461428"/>
              <a:gd name="connsiteY78" fmla="*/ 723900 h 1924050"/>
              <a:gd name="connsiteX79" fmla="*/ 2457990 w 2461428"/>
              <a:gd name="connsiteY79" fmla="*/ 1114425 h 1924050"/>
              <a:gd name="connsiteX80" fmla="*/ 2448465 w 2461428"/>
              <a:gd name="connsiteY80" fmla="*/ 1466850 h 1924050"/>
              <a:gd name="connsiteX81" fmla="*/ 2248440 w 2461428"/>
              <a:gd name="connsiteY81" fmla="*/ 1695450 h 1924050"/>
              <a:gd name="connsiteX82" fmla="*/ 1791240 w 2461428"/>
              <a:gd name="connsiteY82" fmla="*/ 1895475 h 1924050"/>
              <a:gd name="connsiteX83" fmla="*/ 1562640 w 2461428"/>
              <a:gd name="connsiteY83" fmla="*/ 1924050 h 1924050"/>
              <a:gd name="connsiteX84" fmla="*/ 943515 w 2461428"/>
              <a:gd name="connsiteY84" fmla="*/ 1866900 h 1924050"/>
              <a:gd name="connsiteX85" fmla="*/ 410115 w 2461428"/>
              <a:gd name="connsiteY85" fmla="*/ 1657350 h 1924050"/>
              <a:gd name="connsiteX86" fmla="*/ 238665 w 2461428"/>
              <a:gd name="connsiteY86" fmla="*/ 1543050 h 1924050"/>
              <a:gd name="connsiteX87" fmla="*/ 67215 w 2461428"/>
              <a:gd name="connsiteY87" fmla="*/ 1266825 h 1924050"/>
              <a:gd name="connsiteX88" fmla="*/ 48165 w 2461428"/>
              <a:gd name="connsiteY88" fmla="*/ 1181100 h 1924050"/>
              <a:gd name="connsiteX89" fmla="*/ 10065 w 2461428"/>
              <a:gd name="connsiteY89" fmla="*/ 981075 h 1924050"/>
              <a:gd name="connsiteX90" fmla="*/ 540 w 2461428"/>
              <a:gd name="connsiteY90" fmla="*/ 723900 h 192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461428" h="1924050">
                <a:moveTo>
                  <a:pt x="743490" y="704850"/>
                </a:moveTo>
                <a:cubicBezTo>
                  <a:pt x="746665" y="679450"/>
                  <a:pt x="746807" y="653483"/>
                  <a:pt x="753015" y="628650"/>
                </a:cubicBezTo>
                <a:cubicBezTo>
                  <a:pt x="762784" y="589574"/>
                  <a:pt x="776544" y="590087"/>
                  <a:pt x="800640" y="561975"/>
                </a:cubicBezTo>
                <a:cubicBezTo>
                  <a:pt x="810971" y="549922"/>
                  <a:pt x="819988" y="536793"/>
                  <a:pt x="829215" y="523875"/>
                </a:cubicBezTo>
                <a:cubicBezTo>
                  <a:pt x="835869" y="514560"/>
                  <a:pt x="840170" y="503395"/>
                  <a:pt x="848265" y="495300"/>
                </a:cubicBezTo>
                <a:cubicBezTo>
                  <a:pt x="856360" y="487205"/>
                  <a:pt x="868046" y="483579"/>
                  <a:pt x="876840" y="476250"/>
                </a:cubicBezTo>
                <a:cubicBezTo>
                  <a:pt x="887188" y="467626"/>
                  <a:pt x="896649" y="457902"/>
                  <a:pt x="905415" y="447675"/>
                </a:cubicBezTo>
                <a:cubicBezTo>
                  <a:pt x="915746" y="435622"/>
                  <a:pt x="921703" y="419628"/>
                  <a:pt x="933990" y="409575"/>
                </a:cubicBezTo>
                <a:cubicBezTo>
                  <a:pt x="995816" y="358990"/>
                  <a:pt x="996008" y="364786"/>
                  <a:pt x="1057815" y="352425"/>
                </a:cubicBezTo>
                <a:cubicBezTo>
                  <a:pt x="1067340" y="346075"/>
                  <a:pt x="1075425" y="336664"/>
                  <a:pt x="1086390" y="333375"/>
                </a:cubicBezTo>
                <a:cubicBezTo>
                  <a:pt x="1102379" y="328578"/>
                  <a:pt x="1232110" y="315067"/>
                  <a:pt x="1238790" y="314325"/>
                </a:cubicBezTo>
                <a:cubicBezTo>
                  <a:pt x="1381665" y="317500"/>
                  <a:pt x="1524783" y="314936"/>
                  <a:pt x="1667415" y="323850"/>
                </a:cubicBezTo>
                <a:cubicBezTo>
                  <a:pt x="1678840" y="324564"/>
                  <a:pt x="1687434" y="335295"/>
                  <a:pt x="1695990" y="342900"/>
                </a:cubicBezTo>
                <a:cubicBezTo>
                  <a:pt x="1716126" y="360798"/>
                  <a:pt x="1734935" y="380191"/>
                  <a:pt x="1753140" y="400050"/>
                </a:cubicBezTo>
                <a:cubicBezTo>
                  <a:pt x="1769896" y="418330"/>
                  <a:pt x="1786180" y="437145"/>
                  <a:pt x="1800765" y="457200"/>
                </a:cubicBezTo>
                <a:cubicBezTo>
                  <a:pt x="1813331" y="474478"/>
                  <a:pt x="1838942" y="520879"/>
                  <a:pt x="1848390" y="542925"/>
                </a:cubicBezTo>
                <a:cubicBezTo>
                  <a:pt x="1863038" y="577103"/>
                  <a:pt x="1872445" y="642645"/>
                  <a:pt x="1876965" y="666750"/>
                </a:cubicBezTo>
                <a:cubicBezTo>
                  <a:pt x="1880524" y="685732"/>
                  <a:pt x="1883035" y="704899"/>
                  <a:pt x="1886490" y="723900"/>
                </a:cubicBezTo>
                <a:cubicBezTo>
                  <a:pt x="1913115" y="870338"/>
                  <a:pt x="1877473" y="660270"/>
                  <a:pt x="1905540" y="828675"/>
                </a:cubicBezTo>
                <a:cubicBezTo>
                  <a:pt x="1896015" y="882650"/>
                  <a:pt x="1894297" y="938604"/>
                  <a:pt x="1876965" y="990600"/>
                </a:cubicBezTo>
                <a:cubicBezTo>
                  <a:pt x="1871285" y="1007639"/>
                  <a:pt x="1849641" y="1014332"/>
                  <a:pt x="1838865" y="1028700"/>
                </a:cubicBezTo>
                <a:cubicBezTo>
                  <a:pt x="1830346" y="1040059"/>
                  <a:pt x="1828905" y="1055892"/>
                  <a:pt x="1819815" y="1066800"/>
                </a:cubicBezTo>
                <a:cubicBezTo>
                  <a:pt x="1812486" y="1075594"/>
                  <a:pt x="1801319" y="1080423"/>
                  <a:pt x="1791240" y="1085850"/>
                </a:cubicBezTo>
                <a:cubicBezTo>
                  <a:pt x="1756341" y="1104642"/>
                  <a:pt x="1664565" y="1152316"/>
                  <a:pt x="1619790" y="1162050"/>
                </a:cubicBezTo>
                <a:cubicBezTo>
                  <a:pt x="1572840" y="1172256"/>
                  <a:pt x="1524540" y="1174750"/>
                  <a:pt x="1476915" y="1181100"/>
                </a:cubicBezTo>
                <a:cubicBezTo>
                  <a:pt x="1295940" y="1171575"/>
                  <a:pt x="1103677" y="1216158"/>
                  <a:pt x="933990" y="1152525"/>
                </a:cubicBezTo>
                <a:cubicBezTo>
                  <a:pt x="908590" y="1143000"/>
                  <a:pt x="882724" y="1134636"/>
                  <a:pt x="857790" y="1123950"/>
                </a:cubicBezTo>
                <a:cubicBezTo>
                  <a:pt x="751668" y="1078469"/>
                  <a:pt x="847077" y="1113831"/>
                  <a:pt x="753015" y="1066800"/>
                </a:cubicBezTo>
                <a:cubicBezTo>
                  <a:pt x="737722" y="1059154"/>
                  <a:pt x="721265" y="1054100"/>
                  <a:pt x="705390" y="1047750"/>
                </a:cubicBezTo>
                <a:cubicBezTo>
                  <a:pt x="689515" y="1031875"/>
                  <a:pt x="671548" y="1017846"/>
                  <a:pt x="657765" y="1000125"/>
                </a:cubicBezTo>
                <a:cubicBezTo>
                  <a:pt x="631618" y="966507"/>
                  <a:pt x="648186" y="961971"/>
                  <a:pt x="619665" y="933450"/>
                </a:cubicBezTo>
                <a:cubicBezTo>
                  <a:pt x="611570" y="925355"/>
                  <a:pt x="600615" y="920750"/>
                  <a:pt x="591090" y="914400"/>
                </a:cubicBezTo>
                <a:cubicBezTo>
                  <a:pt x="587915" y="904875"/>
                  <a:pt x="585090" y="895226"/>
                  <a:pt x="581565" y="885825"/>
                </a:cubicBezTo>
                <a:cubicBezTo>
                  <a:pt x="575562" y="869816"/>
                  <a:pt x="566662" y="854787"/>
                  <a:pt x="562515" y="838200"/>
                </a:cubicBezTo>
                <a:cubicBezTo>
                  <a:pt x="557070" y="816420"/>
                  <a:pt x="556165" y="793750"/>
                  <a:pt x="552990" y="771525"/>
                </a:cubicBezTo>
                <a:cubicBezTo>
                  <a:pt x="556165" y="682625"/>
                  <a:pt x="556966" y="593608"/>
                  <a:pt x="562515" y="504825"/>
                </a:cubicBezTo>
                <a:cubicBezTo>
                  <a:pt x="563332" y="491760"/>
                  <a:pt x="564533" y="477449"/>
                  <a:pt x="572040" y="466725"/>
                </a:cubicBezTo>
                <a:cubicBezTo>
                  <a:pt x="603750" y="421425"/>
                  <a:pt x="658177" y="387130"/>
                  <a:pt x="705390" y="361950"/>
                </a:cubicBezTo>
                <a:cubicBezTo>
                  <a:pt x="726725" y="350571"/>
                  <a:pt x="750990" y="345230"/>
                  <a:pt x="772065" y="333375"/>
                </a:cubicBezTo>
                <a:cubicBezTo>
                  <a:pt x="895639" y="263865"/>
                  <a:pt x="818480" y="284007"/>
                  <a:pt x="953040" y="228600"/>
                </a:cubicBezTo>
                <a:cubicBezTo>
                  <a:pt x="974413" y="219799"/>
                  <a:pt x="997291" y="215156"/>
                  <a:pt x="1019715" y="209550"/>
                </a:cubicBezTo>
                <a:cubicBezTo>
                  <a:pt x="1174666" y="170812"/>
                  <a:pt x="1135244" y="181897"/>
                  <a:pt x="1314990" y="161925"/>
                </a:cubicBezTo>
                <a:cubicBezTo>
                  <a:pt x="1432465" y="174625"/>
                  <a:pt x="1551249" y="178413"/>
                  <a:pt x="1667415" y="200025"/>
                </a:cubicBezTo>
                <a:cubicBezTo>
                  <a:pt x="1689924" y="204213"/>
                  <a:pt x="1704087" y="227886"/>
                  <a:pt x="1724565" y="238125"/>
                </a:cubicBezTo>
                <a:cubicBezTo>
                  <a:pt x="1742526" y="247105"/>
                  <a:pt x="1762665" y="250825"/>
                  <a:pt x="1781715" y="257175"/>
                </a:cubicBezTo>
                <a:cubicBezTo>
                  <a:pt x="1794415" y="266700"/>
                  <a:pt x="1806606" y="276944"/>
                  <a:pt x="1819815" y="285750"/>
                </a:cubicBezTo>
                <a:cubicBezTo>
                  <a:pt x="1835219" y="296019"/>
                  <a:pt x="1851741" y="304513"/>
                  <a:pt x="1867440" y="314325"/>
                </a:cubicBezTo>
                <a:cubicBezTo>
                  <a:pt x="1877148" y="320392"/>
                  <a:pt x="1887920" y="325280"/>
                  <a:pt x="1896015" y="333375"/>
                </a:cubicBezTo>
                <a:cubicBezTo>
                  <a:pt x="1910390" y="347750"/>
                  <a:pt x="1920609" y="365805"/>
                  <a:pt x="1934115" y="381000"/>
                </a:cubicBezTo>
                <a:cubicBezTo>
                  <a:pt x="2006501" y="462434"/>
                  <a:pt x="1939184" y="369553"/>
                  <a:pt x="2010315" y="476250"/>
                </a:cubicBezTo>
                <a:cubicBezTo>
                  <a:pt x="2013490" y="498475"/>
                  <a:pt x="2016025" y="520801"/>
                  <a:pt x="2019840" y="542925"/>
                </a:cubicBezTo>
                <a:cubicBezTo>
                  <a:pt x="2031903" y="612888"/>
                  <a:pt x="2049134" y="682028"/>
                  <a:pt x="2057940" y="752475"/>
                </a:cubicBezTo>
                <a:cubicBezTo>
                  <a:pt x="2073034" y="873230"/>
                  <a:pt x="2063845" y="803335"/>
                  <a:pt x="2086515" y="962025"/>
                </a:cubicBezTo>
                <a:cubicBezTo>
                  <a:pt x="2080165" y="1035050"/>
                  <a:pt x="2097052" y="1114036"/>
                  <a:pt x="2067465" y="1181100"/>
                </a:cubicBezTo>
                <a:cubicBezTo>
                  <a:pt x="2030376" y="1265168"/>
                  <a:pt x="1910539" y="1295777"/>
                  <a:pt x="1838865" y="1333500"/>
                </a:cubicBezTo>
                <a:cubicBezTo>
                  <a:pt x="1812359" y="1347450"/>
                  <a:pt x="1790271" y="1369502"/>
                  <a:pt x="1762665" y="1381125"/>
                </a:cubicBezTo>
                <a:cubicBezTo>
                  <a:pt x="1729301" y="1395173"/>
                  <a:pt x="1693091" y="1401252"/>
                  <a:pt x="1657890" y="1409700"/>
                </a:cubicBezTo>
                <a:cubicBezTo>
                  <a:pt x="1555199" y="1434346"/>
                  <a:pt x="1469503" y="1451275"/>
                  <a:pt x="1362615" y="1457325"/>
                </a:cubicBezTo>
                <a:cubicBezTo>
                  <a:pt x="1248454" y="1463787"/>
                  <a:pt x="1134015" y="1463675"/>
                  <a:pt x="1019715" y="1466850"/>
                </a:cubicBezTo>
                <a:cubicBezTo>
                  <a:pt x="864140" y="1450975"/>
                  <a:pt x="707801" y="1441341"/>
                  <a:pt x="552990" y="1419225"/>
                </a:cubicBezTo>
                <a:cubicBezTo>
                  <a:pt x="529053" y="1415805"/>
                  <a:pt x="506196" y="1404414"/>
                  <a:pt x="486315" y="1390650"/>
                </a:cubicBezTo>
                <a:cubicBezTo>
                  <a:pt x="464165" y="1375315"/>
                  <a:pt x="446809" y="1353859"/>
                  <a:pt x="429165" y="1333500"/>
                </a:cubicBezTo>
                <a:cubicBezTo>
                  <a:pt x="405456" y="1306144"/>
                  <a:pt x="384715" y="1276350"/>
                  <a:pt x="362490" y="1247775"/>
                </a:cubicBezTo>
                <a:cubicBezTo>
                  <a:pt x="330535" y="1151909"/>
                  <a:pt x="314550" y="1116132"/>
                  <a:pt x="295815" y="1028700"/>
                </a:cubicBezTo>
                <a:cubicBezTo>
                  <a:pt x="282796" y="967943"/>
                  <a:pt x="285318" y="944725"/>
                  <a:pt x="276765" y="876300"/>
                </a:cubicBezTo>
                <a:cubicBezTo>
                  <a:pt x="274370" y="857136"/>
                  <a:pt x="270415" y="838200"/>
                  <a:pt x="267240" y="819150"/>
                </a:cubicBezTo>
                <a:cubicBezTo>
                  <a:pt x="276765" y="752475"/>
                  <a:pt x="278461" y="684203"/>
                  <a:pt x="295815" y="619125"/>
                </a:cubicBezTo>
                <a:cubicBezTo>
                  <a:pt x="320432" y="526811"/>
                  <a:pt x="376326" y="370141"/>
                  <a:pt x="448215" y="285750"/>
                </a:cubicBezTo>
                <a:cubicBezTo>
                  <a:pt x="494802" y="231061"/>
                  <a:pt x="540839" y="173201"/>
                  <a:pt x="600615" y="133350"/>
                </a:cubicBezTo>
                <a:cubicBezTo>
                  <a:pt x="629190" y="114300"/>
                  <a:pt x="655988" y="92269"/>
                  <a:pt x="686340" y="76200"/>
                </a:cubicBezTo>
                <a:cubicBezTo>
                  <a:pt x="710315" y="63508"/>
                  <a:pt x="736993" y="56749"/>
                  <a:pt x="762540" y="47625"/>
                </a:cubicBezTo>
                <a:cubicBezTo>
                  <a:pt x="841210" y="19529"/>
                  <a:pt x="803288" y="32279"/>
                  <a:pt x="895890" y="19050"/>
                </a:cubicBezTo>
                <a:cubicBezTo>
                  <a:pt x="1028697" y="78"/>
                  <a:pt x="858678" y="17389"/>
                  <a:pt x="1067340" y="0"/>
                </a:cubicBezTo>
                <a:cubicBezTo>
                  <a:pt x="1226090" y="12700"/>
                  <a:pt x="1385730" y="17052"/>
                  <a:pt x="1543590" y="38100"/>
                </a:cubicBezTo>
                <a:cubicBezTo>
                  <a:pt x="1577486" y="42619"/>
                  <a:pt x="1606821" y="64193"/>
                  <a:pt x="1638840" y="76200"/>
                </a:cubicBezTo>
                <a:cubicBezTo>
                  <a:pt x="1931828" y="186070"/>
                  <a:pt x="1615928" y="55286"/>
                  <a:pt x="1896015" y="190500"/>
                </a:cubicBezTo>
                <a:cubicBezTo>
                  <a:pt x="1981280" y="231663"/>
                  <a:pt x="2074053" y="260368"/>
                  <a:pt x="2153190" y="314325"/>
                </a:cubicBezTo>
                <a:cubicBezTo>
                  <a:pt x="2190474" y="339746"/>
                  <a:pt x="2257965" y="400050"/>
                  <a:pt x="2257965" y="400050"/>
                </a:cubicBezTo>
                <a:cubicBezTo>
                  <a:pt x="2320195" y="524510"/>
                  <a:pt x="2343082" y="561974"/>
                  <a:pt x="2391315" y="723900"/>
                </a:cubicBezTo>
                <a:cubicBezTo>
                  <a:pt x="2437975" y="880545"/>
                  <a:pt x="2440829" y="959974"/>
                  <a:pt x="2457990" y="1114425"/>
                </a:cubicBezTo>
                <a:cubicBezTo>
                  <a:pt x="2454815" y="1231900"/>
                  <a:pt x="2472786" y="1351876"/>
                  <a:pt x="2448465" y="1466850"/>
                </a:cubicBezTo>
                <a:cubicBezTo>
                  <a:pt x="2431291" y="1548034"/>
                  <a:pt x="2316227" y="1651716"/>
                  <a:pt x="2248440" y="1695450"/>
                </a:cubicBezTo>
                <a:cubicBezTo>
                  <a:pt x="2110741" y="1784288"/>
                  <a:pt x="1949669" y="1855868"/>
                  <a:pt x="1791240" y="1895475"/>
                </a:cubicBezTo>
                <a:cubicBezTo>
                  <a:pt x="1716740" y="1914100"/>
                  <a:pt x="1638840" y="1914525"/>
                  <a:pt x="1562640" y="1924050"/>
                </a:cubicBezTo>
                <a:cubicBezTo>
                  <a:pt x="1356265" y="1905000"/>
                  <a:pt x="1148639" y="1896529"/>
                  <a:pt x="943515" y="1866900"/>
                </a:cubicBezTo>
                <a:cubicBezTo>
                  <a:pt x="760597" y="1840479"/>
                  <a:pt x="566683" y="1743622"/>
                  <a:pt x="410115" y="1657350"/>
                </a:cubicBezTo>
                <a:cubicBezTo>
                  <a:pt x="349957" y="1624202"/>
                  <a:pt x="295815" y="1581150"/>
                  <a:pt x="238665" y="1543050"/>
                </a:cubicBezTo>
                <a:cubicBezTo>
                  <a:pt x="107332" y="1352020"/>
                  <a:pt x="163117" y="1444929"/>
                  <a:pt x="67215" y="1266825"/>
                </a:cubicBezTo>
                <a:cubicBezTo>
                  <a:pt x="60865" y="1238250"/>
                  <a:pt x="53906" y="1209804"/>
                  <a:pt x="48165" y="1181100"/>
                </a:cubicBezTo>
                <a:cubicBezTo>
                  <a:pt x="34854" y="1114544"/>
                  <a:pt x="10065" y="981075"/>
                  <a:pt x="10065" y="981075"/>
                </a:cubicBezTo>
                <a:cubicBezTo>
                  <a:pt x="-3415" y="819315"/>
                  <a:pt x="540" y="905007"/>
                  <a:pt x="540" y="72390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2489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FE177-2E70-9FE0-1507-162821426F99}"/>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Spiral Model (Continued)</a:t>
            </a:r>
          </a:p>
        </p:txBody>
      </p:sp>
      <p:sp>
        <p:nvSpPr>
          <p:cNvPr id="3" name="Content Placeholder 2">
            <a:extLst>
              <a:ext uri="{FF2B5EF4-FFF2-40B4-BE49-F238E27FC236}">
                <a16:creationId xmlns:a16="http://schemas.microsoft.com/office/drawing/2014/main" id="{B7D400B5-F4C3-F8F4-6CC4-419C3499BF23}"/>
              </a:ext>
            </a:extLst>
          </p:cNvPr>
          <p:cNvSpPr>
            <a:spLocks noGrp="1"/>
          </p:cNvSpPr>
          <p:nvPr>
            <p:ph idx="1"/>
          </p:nvPr>
        </p:nvSpPr>
        <p:spPr/>
        <p:txBody>
          <a:bodyPr>
            <a:normAutofit/>
          </a:bodyPr>
          <a:lstStyle/>
          <a:p>
            <a:pPr>
              <a:buFont typeface="Wingdings" panose="05000000000000000000" pitchFamily="2" charset="2"/>
              <a:buChar char="q"/>
            </a:pPr>
            <a:r>
              <a:rPr lang="en-US" sz="2400" dirty="0">
                <a:solidFill>
                  <a:schemeClr val="tx1"/>
                </a:solidFill>
                <a:effectLst/>
                <a:latin typeface="Times New Roman" panose="02020603050405020304" pitchFamily="18" charset="0"/>
                <a:cs typeface="Times New Roman" panose="02020603050405020304" pitchFamily="18" charset="0"/>
              </a:rPr>
              <a:t> The spiral model is a software process model that couples the iterative nature of prototyping with the controlled and systematic aspects of the linear sequential model. </a:t>
            </a:r>
          </a:p>
          <a:p>
            <a:pPr>
              <a:buFont typeface="Wingdings" panose="05000000000000000000" pitchFamily="2" charset="2"/>
              <a:buChar char="q"/>
            </a:pPr>
            <a:r>
              <a:rPr lang="en-US" sz="2400" dirty="0">
                <a:solidFill>
                  <a:schemeClr val="tx1"/>
                </a:solidFill>
                <a:effectLst/>
                <a:latin typeface="Times New Roman" panose="02020603050405020304" pitchFamily="18" charset="0"/>
                <a:cs typeface="Times New Roman" panose="02020603050405020304" pitchFamily="18" charset="0"/>
              </a:rPr>
              <a:t> The spiral model is also known as </a:t>
            </a:r>
            <a:r>
              <a:rPr lang="en-US" sz="2400" dirty="0">
                <a:solidFill>
                  <a:schemeClr val="tx1"/>
                </a:solidFill>
                <a:latin typeface="Times New Roman" panose="02020603050405020304" pitchFamily="18" charset="0"/>
                <a:cs typeface="Times New Roman" panose="02020603050405020304" pitchFamily="18" charset="0"/>
              </a:rPr>
              <a:t>meta model </a:t>
            </a:r>
            <a:r>
              <a:rPr lang="en-US" sz="2400" dirty="0">
                <a:solidFill>
                  <a:schemeClr val="tx1"/>
                </a:solidFill>
                <a:effectLst/>
                <a:latin typeface="Times New Roman" panose="02020603050405020304" pitchFamily="18" charset="0"/>
                <a:cs typeface="Times New Roman" panose="02020603050405020304" pitchFamily="18" charset="0"/>
              </a:rPr>
              <a:t>since it encompasses all other life cycle models. There are four phases:</a:t>
            </a:r>
          </a:p>
          <a:p>
            <a:pPr>
              <a:buFont typeface="Wingdings" panose="05000000000000000000" pitchFamily="2" charset="2"/>
              <a:buChar char="q"/>
            </a:pPr>
            <a:r>
              <a:rPr lang="en-US" sz="2400" dirty="0">
                <a:solidFill>
                  <a:schemeClr val="tx1"/>
                </a:solidFill>
                <a:effectLst/>
                <a:latin typeface="Times New Roman" panose="02020603050405020304" pitchFamily="18" charset="0"/>
                <a:cs typeface="Times New Roman" panose="02020603050405020304" pitchFamily="18" charset="0"/>
              </a:rPr>
              <a:t> First Quadrant (Objective Setting)</a:t>
            </a:r>
            <a:endParaRPr lang="en-US" sz="2400" dirty="0">
              <a:solidFill>
                <a:schemeClr val="tx1"/>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2400" dirty="0">
                <a:solidFill>
                  <a:schemeClr val="tx1"/>
                </a:solidFill>
                <a:effectLst/>
                <a:latin typeface="Times New Roman" panose="02020603050405020304" pitchFamily="18" charset="0"/>
                <a:cs typeface="Times New Roman" panose="02020603050405020304" pitchFamily="18" charset="0"/>
              </a:rPr>
              <a:t>Identify the objectives of the phase.</a:t>
            </a:r>
          </a:p>
          <a:p>
            <a:pPr lvl="1">
              <a:buFont typeface="Wingdings" panose="05000000000000000000" pitchFamily="2" charset="2"/>
              <a:buChar char="§"/>
            </a:pPr>
            <a:r>
              <a:rPr lang="en-US" sz="2400" dirty="0">
                <a:solidFill>
                  <a:schemeClr val="tx1"/>
                </a:solidFill>
                <a:effectLst/>
                <a:latin typeface="Times New Roman" panose="02020603050405020304" pitchFamily="18" charset="0"/>
                <a:cs typeface="Times New Roman" panose="02020603050405020304" pitchFamily="18" charset="0"/>
              </a:rPr>
              <a:t>Examine the risks associated with these objectives.</a:t>
            </a:r>
            <a:endParaRPr lang="en-US" sz="24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813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18AE5-EB23-157F-A840-6983C1B1707A}"/>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Spiral Model (Continued)</a:t>
            </a:r>
          </a:p>
        </p:txBody>
      </p:sp>
      <p:sp>
        <p:nvSpPr>
          <p:cNvPr id="3" name="Content Placeholder 2">
            <a:extLst>
              <a:ext uri="{FF2B5EF4-FFF2-40B4-BE49-F238E27FC236}">
                <a16:creationId xmlns:a16="http://schemas.microsoft.com/office/drawing/2014/main" id="{284C54F2-B3E3-9592-8B67-130B803DA9F4}"/>
              </a:ext>
            </a:extLst>
          </p:cNvPr>
          <p:cNvSpPr>
            <a:spLocks noGrp="1"/>
          </p:cNvSpPr>
          <p:nvPr>
            <p:ph idx="1"/>
          </p:nvPr>
        </p:nvSpPr>
        <p:spPr/>
        <p:txBody>
          <a:bodyPr>
            <a:normAutofit/>
          </a:bodyPr>
          <a:lstStyle/>
          <a:p>
            <a:pPr>
              <a:buFont typeface="Wingdings" panose="05000000000000000000" pitchFamily="2" charset="2"/>
              <a:buChar char="q"/>
            </a:pPr>
            <a:r>
              <a:rPr lang="en-US" dirty="0">
                <a:solidFill>
                  <a:srgbClr val="131313"/>
                </a:solidFill>
                <a:effectLst/>
              </a:rPr>
              <a:t> Second Quadrant (Risk Assessment and Reduction)</a:t>
            </a:r>
          </a:p>
          <a:p>
            <a:pPr lvl="1">
              <a:buFont typeface="Wingdings" panose="05000000000000000000" pitchFamily="2" charset="2"/>
              <a:buChar char="§"/>
            </a:pPr>
            <a:r>
              <a:rPr lang="en-US" sz="2000" dirty="0">
                <a:solidFill>
                  <a:srgbClr val="131313"/>
                </a:solidFill>
                <a:effectLst/>
              </a:rPr>
              <a:t> A detailed analysis is carried out for each identified project risk.</a:t>
            </a:r>
            <a:endParaRPr lang="en-US" sz="2000" dirty="0">
              <a:solidFill>
                <a:srgbClr val="131313"/>
              </a:solidFill>
            </a:endParaRPr>
          </a:p>
          <a:p>
            <a:pPr lvl="1">
              <a:buFont typeface="Wingdings" panose="05000000000000000000" pitchFamily="2" charset="2"/>
              <a:buChar char="§"/>
            </a:pPr>
            <a:r>
              <a:rPr lang="en-US" sz="2000" dirty="0">
                <a:solidFill>
                  <a:srgbClr val="131313"/>
                </a:solidFill>
                <a:effectLst/>
              </a:rPr>
              <a:t> Steps are taken to reduce the risks.</a:t>
            </a:r>
          </a:p>
          <a:p>
            <a:pPr lvl="1">
              <a:buFont typeface="Wingdings" panose="05000000000000000000" pitchFamily="2" charset="2"/>
              <a:buChar char="q"/>
            </a:pPr>
            <a:endParaRPr lang="en-US" sz="2000" dirty="0">
              <a:solidFill>
                <a:srgbClr val="131313"/>
              </a:solidFill>
            </a:endParaRPr>
          </a:p>
          <a:p>
            <a:pPr>
              <a:buFont typeface="Wingdings" panose="05000000000000000000" pitchFamily="2" charset="2"/>
              <a:buChar char="q"/>
            </a:pPr>
            <a:r>
              <a:rPr lang="en-US" dirty="0">
                <a:solidFill>
                  <a:srgbClr val="131313"/>
                </a:solidFill>
                <a:effectLst/>
              </a:rPr>
              <a:t> Third Quadrant (Development and Validation)</a:t>
            </a:r>
          </a:p>
          <a:p>
            <a:pPr lvl="1">
              <a:buFont typeface="Wingdings" panose="05000000000000000000" pitchFamily="2" charset="2"/>
              <a:buChar char="§"/>
            </a:pPr>
            <a:r>
              <a:rPr lang="en-US" sz="2000" dirty="0">
                <a:solidFill>
                  <a:srgbClr val="131313"/>
                </a:solidFill>
                <a:effectLst/>
              </a:rPr>
              <a:t> Develop and validate the next level of the product after resolving the identified risks.</a:t>
            </a:r>
            <a:endParaRPr lang="en-US" sz="2000" dirty="0">
              <a:solidFill>
                <a:srgbClr val="131313"/>
              </a:solidFill>
            </a:endParaRPr>
          </a:p>
          <a:p>
            <a:pPr>
              <a:buFont typeface="Wingdings" panose="05000000000000000000" pitchFamily="2" charset="2"/>
              <a:buChar char="q"/>
            </a:pPr>
            <a:r>
              <a:rPr lang="en-US" dirty="0">
                <a:solidFill>
                  <a:srgbClr val="131313"/>
                </a:solidFill>
                <a:effectLst/>
              </a:rPr>
              <a:t> Fourth Quadrant (Review and Planning)</a:t>
            </a:r>
          </a:p>
          <a:p>
            <a:pPr lvl="1">
              <a:buFont typeface="Wingdings" panose="05000000000000000000" pitchFamily="2" charset="2"/>
              <a:buChar char="§"/>
            </a:pPr>
            <a:r>
              <a:rPr lang="en-US" sz="2000" dirty="0">
                <a:solidFill>
                  <a:srgbClr val="131313"/>
                </a:solidFill>
                <a:effectLst/>
              </a:rPr>
              <a:t> Review the results achieved so far with the customer and plan the next iteration.</a:t>
            </a:r>
            <a:endParaRPr lang="en-US" sz="2000" dirty="0">
              <a:solidFill>
                <a:srgbClr val="131313"/>
              </a:solidFill>
            </a:endParaRPr>
          </a:p>
          <a:p>
            <a:pPr lvl="1">
              <a:buFont typeface="Wingdings" panose="05000000000000000000" pitchFamily="2" charset="2"/>
              <a:buChar char="§"/>
            </a:pPr>
            <a:r>
              <a:rPr lang="en-US" sz="2000" dirty="0">
                <a:solidFill>
                  <a:srgbClr val="131313"/>
                </a:solidFill>
                <a:effectLst/>
              </a:rPr>
              <a:t> Progressively more complete version of the software gets built with each iteration around the spiral.</a:t>
            </a:r>
            <a:endParaRPr lang="en-US" sz="2000" dirty="0"/>
          </a:p>
        </p:txBody>
      </p:sp>
    </p:spTree>
    <p:extLst>
      <p:ext uri="{BB962C8B-B14F-4D97-AF65-F5344CB8AC3E}">
        <p14:creationId xmlns:p14="http://schemas.microsoft.com/office/powerpoint/2010/main" val="4174254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E114A-2786-CB28-3C21-4DE5ABB1BECE}"/>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Spiral Model (Continued)</a:t>
            </a:r>
          </a:p>
        </p:txBody>
      </p:sp>
      <p:sp>
        <p:nvSpPr>
          <p:cNvPr id="3" name="Content Placeholder 2">
            <a:extLst>
              <a:ext uri="{FF2B5EF4-FFF2-40B4-BE49-F238E27FC236}">
                <a16:creationId xmlns:a16="http://schemas.microsoft.com/office/drawing/2014/main" id="{162006AB-FF89-C4DD-4296-682127578566}"/>
              </a:ext>
            </a:extLst>
          </p:cNvPr>
          <p:cNvSpPr>
            <a:spLocks noGrp="1"/>
          </p:cNvSpPr>
          <p:nvPr>
            <p:ph idx="1"/>
          </p:nvPr>
        </p:nvSpPr>
        <p:spPr/>
        <p:txBody>
          <a:bodyPr>
            <a:noAutofit/>
          </a:bodyPr>
          <a:lstStyle/>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Advantage:</a:t>
            </a:r>
          </a:p>
          <a:p>
            <a:pPr lvl="1">
              <a:buFont typeface="Wingdings" panose="05000000000000000000" pitchFamily="2" charset="2"/>
              <a:buChar char="§"/>
            </a:pPr>
            <a:r>
              <a:rPr lang="en-US" dirty="0">
                <a:solidFill>
                  <a:srgbClr val="131313"/>
                </a:solidFill>
                <a:effectLst/>
                <a:latin typeface="Times New Roman" panose="02020603050405020304" pitchFamily="18" charset="0"/>
                <a:cs typeface="Times New Roman" panose="02020603050405020304" pitchFamily="18" charset="0"/>
              </a:rPr>
              <a:t> Suitable for large projects: It is suggested to use the spiral model for large and complex projects.</a:t>
            </a:r>
          </a:p>
          <a:p>
            <a:pPr lvl="1">
              <a:buFont typeface="Wingdings" panose="05000000000000000000" pitchFamily="2" charset="2"/>
              <a:buChar char="§"/>
            </a:pPr>
            <a:r>
              <a:rPr lang="en-US" dirty="0">
                <a:solidFill>
                  <a:srgbClr val="131313"/>
                </a:solidFill>
                <a:effectLst/>
                <a:latin typeface="Times New Roman" panose="02020603050405020304" pitchFamily="18" charset="0"/>
                <a:cs typeface="Times New Roman" panose="02020603050405020304" pitchFamily="18" charset="0"/>
              </a:rPr>
              <a:t> Risk handling capability: Project which is complex and large are prone to unknown risk and error. </a:t>
            </a:r>
          </a:p>
          <a:p>
            <a:pPr lvl="1">
              <a:buFont typeface="Wingdings" panose="05000000000000000000" pitchFamily="2" charset="2"/>
              <a:buChar char="§"/>
            </a:pPr>
            <a:r>
              <a:rPr lang="en-US" dirty="0">
                <a:solidFill>
                  <a:srgbClr val="131313"/>
                </a:solidFill>
                <a:effectLst/>
                <a:latin typeface="Times New Roman" panose="02020603050405020304" pitchFamily="18" charset="0"/>
                <a:cs typeface="Times New Roman" panose="02020603050405020304" pitchFamily="18" charset="0"/>
              </a:rPr>
              <a:t> The spiral model is suitable under these high-risk environments. New requirement: Based on the feedback, the requirements are redefined.</a:t>
            </a: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Disadvantage:</a:t>
            </a:r>
          </a:p>
          <a:p>
            <a:pPr lvl="1">
              <a:buFont typeface="Wingdings" panose="05000000000000000000" pitchFamily="2" charset="2"/>
              <a:buChar char="§"/>
            </a:pPr>
            <a:r>
              <a:rPr lang="en-US" dirty="0">
                <a:solidFill>
                  <a:srgbClr val="131313"/>
                </a:solidFill>
                <a:effectLst/>
                <a:latin typeface="Times New Roman" panose="02020603050405020304" pitchFamily="18" charset="0"/>
                <a:cs typeface="Times New Roman" panose="02020603050405020304" pitchFamily="18" charset="0"/>
              </a:rPr>
              <a:t> It is one of the most complex SDLC models.</a:t>
            </a:r>
          </a:p>
          <a:p>
            <a:pPr lvl="1">
              <a:buFont typeface="Wingdings" panose="05000000000000000000" pitchFamily="2" charset="2"/>
              <a:buChar char="§"/>
            </a:pPr>
            <a:r>
              <a:rPr lang="en-US" dirty="0">
                <a:solidFill>
                  <a:srgbClr val="131313"/>
                </a:solidFill>
                <a:effectLst/>
                <a:latin typeface="Times New Roman" panose="02020603050405020304" pitchFamily="18" charset="0"/>
                <a:cs typeface="Times New Roman" panose="02020603050405020304" pitchFamily="18" charset="0"/>
              </a:rPr>
              <a:t> Documentation is more as it has many loop iteration.</a:t>
            </a:r>
            <a:endParaRPr lang="en-US" dirty="0">
              <a:solidFill>
                <a:srgbClr val="131313"/>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dirty="0">
                <a:solidFill>
                  <a:srgbClr val="131313"/>
                </a:solidFill>
                <a:effectLst/>
                <a:latin typeface="Times New Roman" panose="02020603050405020304" pitchFamily="18" charset="0"/>
                <a:cs typeface="Times New Roman" panose="02020603050405020304" pitchFamily="18" charset="0"/>
              </a:rPr>
              <a:t> It is not suitable for small projects.</a:t>
            </a:r>
          </a:p>
          <a:p>
            <a:pPr lvl="1">
              <a:buFont typeface="Wingdings" panose="05000000000000000000" pitchFamily="2" charset="2"/>
              <a:buChar char="§"/>
            </a:pPr>
            <a:r>
              <a:rPr lang="en-US" dirty="0">
                <a:solidFill>
                  <a:srgbClr val="131313"/>
                </a:solidFill>
                <a:effectLst/>
                <a:latin typeface="Times New Roman" panose="02020603050405020304" pitchFamily="18" charset="0"/>
                <a:cs typeface="Times New Roman" panose="02020603050405020304" pitchFamily="18" charset="0"/>
              </a:rPr>
              <a:t> Management is more complex here.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871744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125</TotalTime>
  <Words>1050</Words>
  <Application>Microsoft Office PowerPoint</Application>
  <PresentationFormat>Widescreen</PresentationFormat>
  <Paragraphs>111</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Calibri</vt:lpstr>
      <vt:lpstr>Calibri Light</vt:lpstr>
      <vt:lpstr>Times New Roman</vt:lpstr>
      <vt:lpstr>Wingdings</vt:lpstr>
      <vt:lpstr>Retrospect</vt:lpstr>
      <vt:lpstr>CSE327  Software Engineering</vt:lpstr>
      <vt:lpstr>Evolutionary Model / Incremental Model</vt:lpstr>
      <vt:lpstr>Evolutionary Model / Incremental Model (Continued)</vt:lpstr>
      <vt:lpstr>Evolutionary Model / Incremental Model (Continued)</vt:lpstr>
      <vt:lpstr>Re-use Oriented Software Engineering</vt:lpstr>
      <vt:lpstr>Re-use Oriented Software Engineering</vt:lpstr>
      <vt:lpstr>Component-Based Software Engineering</vt:lpstr>
      <vt:lpstr>Component-Based Software Engineering</vt:lpstr>
      <vt:lpstr>Component-Based Software Engineering</vt:lpstr>
      <vt:lpstr>Component-Based Software Engineering</vt:lpstr>
      <vt:lpstr>Spiral Model</vt:lpstr>
      <vt:lpstr>Spiral Model (Continued)</vt:lpstr>
      <vt:lpstr>Spiral Model (Continued)</vt:lpstr>
      <vt:lpstr>Spiral Model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 K M Iqtidar Newaz</dc:creator>
  <cp:lastModifiedBy>A K M Iqtidar Newaz</cp:lastModifiedBy>
  <cp:revision>46</cp:revision>
  <dcterms:created xsi:type="dcterms:W3CDTF">2024-09-04T12:07:32Z</dcterms:created>
  <dcterms:modified xsi:type="dcterms:W3CDTF">2024-09-08T05:59:26Z</dcterms:modified>
</cp:coreProperties>
</file>