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3" autoAdjust="0"/>
    <p:restoredTop sz="87025" autoAdjust="0"/>
  </p:normalViewPr>
  <p:slideViewPr>
    <p:cSldViewPr snapToGrid="0">
      <p:cViewPr varScale="1">
        <p:scale>
          <a:sx n="103" d="100"/>
          <a:sy n="103" d="100"/>
        </p:scale>
        <p:origin x="8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0CA33-806B-4F54-A6B9-BD827E2168F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194F8-6598-4824-B2DB-DE7496B31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5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94F8-6598-4824-B2DB-DE7496B310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59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94F8-6598-4824-B2DB-DE7496B310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53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94F8-6598-4824-B2DB-DE7496B310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89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508B7E8-FFFA-4B69-B722-EE8EB26FCEFB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- 15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Builder Design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8330"/>
            <a:ext cx="10058400" cy="3838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 is a </a:t>
            </a:r>
            <a:r>
              <a:rPr lang="en-US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creational design pattern </a:t>
            </a: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lets you construct complex objects step by step. The pattern allows you to produce different types and representations of an object using the same construction code.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instance, let’s open up a sandwich shop.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assume that Burgers, Hotdogs, and BLT are all types of sandwiches.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 though they’re all sandwiches, but the composition of the sandwich is different.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can be represented with a </a:t>
            </a:r>
            <a:r>
              <a:rPr lang="en-US" altLang="en-US" sz="2400" kern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 class</a:t>
            </a:r>
            <a:r>
              <a:rPr lang="en-US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0543" y="127"/>
            <a:ext cx="10058400" cy="16093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OOP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8143" y="1418266"/>
            <a:ext cx="2025480" cy="455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#pragma </a:t>
            </a:r>
            <a:r>
              <a:rPr sz="1400" b="0" dirty="0">
                <a:solidFill>
                  <a:srgbClr val="E50000"/>
                </a:solidFill>
                <a:latin typeface="Consolas" panose="020B0609020204030204"/>
                <a:ea typeface="Consolas" panose="020B0609020204030204"/>
              </a:rPr>
              <a:t>once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sz="1400" b="0" dirty="0" err="1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iostream</a:t>
            </a:r>
            <a:r>
              <a:rPr sz="1400" b="0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&gt;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&lt;string&gt;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 dirty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&lt;vector&gt;</a:t>
            </a:r>
          </a:p>
          <a:p>
            <a:pPr>
              <a:lnSpc>
                <a:spcPts val="1200"/>
              </a:lnSpc>
            </a:pPr>
            <a:r>
              <a:rPr sz="1400" b="0" dirty="0" err="1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usingnamespace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std</a:t>
            </a: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sz="1400" b="0" dirty="0" smtClean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 dirty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enum</a:t>
            </a:r>
            <a:r>
              <a:rPr lang="en-US"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Bread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Toast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 err="1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HotdogBun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 err="1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BurgerBun</a:t>
            </a:r>
            <a:endParaRPr sz="1400" b="0" dirty="0">
              <a:solidFill>
                <a:srgbClr val="098658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lang="en-US" sz="1400" b="0" dirty="0" smtClean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 dirty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num</a:t>
            </a:r>
            <a:r>
              <a:rPr lang="en-US"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Protein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 err="1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BeefPatty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Dog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Bacon</a:t>
            </a:r>
          </a:p>
          <a:p>
            <a:pPr>
              <a:lnSpc>
                <a:spcPts val="1200"/>
              </a:lnSpc>
            </a:pP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lang="en-US" sz="1400" b="0" dirty="0" smtClean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 dirty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e</a:t>
            </a: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num</a:t>
            </a:r>
            <a:r>
              <a:rPr lang="en-US"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 smtClean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 dirty="0" smtClean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Side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Lettuce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Tomato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Onions</a:t>
            </a: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,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 dirty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Cheese</a:t>
            </a:r>
          </a:p>
          <a:p>
            <a:pPr>
              <a:lnSpc>
                <a:spcPts val="1200"/>
              </a:lnSpc>
            </a:pPr>
            <a:r>
              <a:rPr sz="1400" b="0" dirty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</a:p>
        </p:txBody>
      </p:sp>
      <p:sp>
        <p:nvSpPr>
          <p:cNvPr id="3" name="Rectangle 2"/>
          <p:cNvSpPr/>
          <p:nvPr/>
        </p:nvSpPr>
        <p:spPr>
          <a:xfrm>
            <a:off x="2183114" y="1417972"/>
            <a:ext cx="1981200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Sauce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Mayo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Ketchup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YumYum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Mustard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Wrapper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Paper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Plastic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0820" y="2061845"/>
            <a:ext cx="8124190" cy="4092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Sandwich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Sandwich() =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Sandwich(Bread b, Protein p, vector&lt;Side&gt; sides, vector&lt;Sauce&gt; sauces, Wrapper w) : 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b{b}, p{p}, sides{sides}, sauces{sauces}, w{w}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 Sandwich is constructed"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Bread b;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Protein p;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vector&lt;Side&gt; sides;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vector&lt;Sauce&gt; sauces;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Wrapper w;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2159034" y="2201162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058404" y="2201160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76661" y="2113005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88353" y="5013527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908" y="5972167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313" y="127"/>
            <a:ext cx="10058400" cy="1609344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OOP (Object Creation)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3090" y="1737360"/>
            <a:ext cx="826643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sandwich.h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burger(Bread::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BurgerBun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Protein::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BeefPatty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vector&lt;Side&gt;{Side::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Cheese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vector&lt;Sauce&gt;{Sauce::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YumYum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Wrapper::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Paper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hotdog(Bread::</a:t>
            </a:r>
            <a:r>
              <a:rPr lang="en-US" sz="1400" dirty="0" err="1">
                <a:solidFill>
                  <a:srgbClr val="098658"/>
                </a:solidFill>
                <a:latin typeface="Consolas" panose="020B0609020204030204" pitchFamily="49" charset="0"/>
              </a:rPr>
              <a:t>HotdogBun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Protein::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Dog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vector&lt;Side&gt;{Side::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Onions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vector&lt;Sauce&gt;{Sauce::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Ketchup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Sauce::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Mustard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Wrapper::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Box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BLT(Bread::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Toast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Protein::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Bacon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vector&lt;Side&gt;{Side::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Side::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vector&lt;Sauce&gt;{Sauce::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Mayo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 Wrapper::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Plastic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9131644" y="3511032"/>
            <a:ext cx="27123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 is constructed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Sandwich is constructed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Sandwich is constructed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8859795" y="1936671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78700" y="2014152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noBuilderMain.cpp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135" y="37954"/>
            <a:ext cx="10058400" cy="160934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Builder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4565" y="1232535"/>
            <a:ext cx="3904615" cy="5292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3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sandwich.h</a:t>
            </a:r>
            <a:r>
              <a:rPr lang="en-US" sz="13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// Abstract builder class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(Side s)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product.sides.push_back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(Sauce s)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product.sauces.push_back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product;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product;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7744" y="1180367"/>
            <a:ext cx="6096000" cy="56775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1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sandwichBuilder.h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"Heating up the 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Seasame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Sprinked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Bun"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Bread 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BurgerBun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"Grilling the Wagyu"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BeefPatty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"Wrapping with 100% recycled paper"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Paper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Burger"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"Drizzling the sauces"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YumYum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239266" y="2091130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6526" y="1797908"/>
            <a:ext cx="16092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sandwichBuilder.h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9915" y="1797908"/>
            <a:ext cx="1537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848" y="23512"/>
            <a:ext cx="10058400" cy="160934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Builder Pattern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74590" y="1125898"/>
            <a:ext cx="4701746" cy="5815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"Steaming up the buns"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Bread::</a:t>
            </a:r>
            <a:r>
              <a:rPr lang="en-US" sz="1200" dirty="0" err="1">
                <a:solidFill>
                  <a:srgbClr val="098658"/>
                </a:solidFill>
                <a:latin typeface="Consolas" panose="020B0609020204030204" pitchFamily="49" charset="0"/>
              </a:rPr>
              <a:t>HotdogBun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"Boiling the hotdog in brine"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Dog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"Placing the hotdog into box"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Box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Hotdog"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Onions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"Drizzling the sauces"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Mustard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2058" y="1125898"/>
            <a:ext cx="6096000" cy="56311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"Toasting bread in toaster"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Bread::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Toast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"Sizzling bacon in cast iron pan"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Bacon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"Wrapping up in a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decompostable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plastic wrap"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Plastic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BLT"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"Drizzling with the sauces"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Mayo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9915" y="1797908"/>
            <a:ext cx="1537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85840" y="1685096"/>
            <a:ext cx="1537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5592462" y="2105684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84582"/>
            <a:ext cx="10058400" cy="160934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Builder Pattern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87425" y="1319941"/>
            <a:ext cx="4562115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concreteBuilder.h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Sandwich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builder)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builder-&gt;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Bruger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: ------"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Hotdog: -----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BLT: ----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1354" y="1782618"/>
            <a:ext cx="4271318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Bruger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------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up the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Burger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with 100% recycled paper</a:t>
            </a: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Hotdog: -----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Hotdog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Placing the hotdog into box</a:t>
            </a: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BLT: ----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BLT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up in a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decompostable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plastic </a:t>
            </a:r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123390" y="2065907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2308" y="2656703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builderMain.cpp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58400" cy="840259"/>
          </a:xfrm>
        </p:spPr>
        <p:txBody>
          <a:bodyPr>
            <a:normAutofit/>
          </a:bodyPr>
          <a:lstStyle/>
          <a:p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Chaining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" y="565150"/>
            <a:ext cx="5268595" cy="569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3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sandwich.h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// Abstract chain builder class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(Side s)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product.sides.push_back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(Sauce s)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product.sauces.push_back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product;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product;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80225" y="333375"/>
            <a:ext cx="5153025" cy="6523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1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chainSandwichBuilder.h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"Heating up the 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Seasame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Sprinked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Bun"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Bread 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BurgerBun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"Grilling the Wagyu"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BeefPatty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"Wrapping with 100% recycled paper"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Paper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Burger"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"Drizzling the sauces"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100" dirty="0" err="1">
                <a:solidFill>
                  <a:srgbClr val="098658"/>
                </a:solidFill>
                <a:latin typeface="Consolas" panose="020B0609020204030204" pitchFamily="49" charset="0"/>
              </a:rPr>
              <a:t>YumYum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771223" y="1963626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06654" y="1356693"/>
            <a:ext cx="2056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chainSandwichBuilder.h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85421" y="470927"/>
            <a:ext cx="2005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concreteChainBuilder.h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10895" y="6089650"/>
            <a:ext cx="59601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sz="1600" b="1" i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source-serif-pro"/>
                <a:cs typeface="Times New Roman" panose="02020603050405020304" pitchFamily="18" charset="0"/>
              </a:rPr>
              <a:t>W</a:t>
            </a:r>
            <a:r>
              <a:rPr sz="1600" b="1" i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source-serif-pro"/>
                <a:cs typeface="Times New Roman" panose="02020603050405020304" pitchFamily="18" charset="0"/>
              </a:rPr>
              <a:t>e need to return an object reference so that the expression can continue to be chained onwards</a:t>
            </a:r>
          </a:p>
        </p:txBody>
      </p:sp>
      <p:cxnSp>
        <p:nvCxnSpPr>
          <p:cNvPr id="10" name="Curved Connector 9"/>
          <p:cNvCxnSpPr>
            <a:stCxn id="3" idx="1"/>
          </p:cNvCxnSpPr>
          <p:nvPr/>
        </p:nvCxnSpPr>
        <p:spPr>
          <a:xfrm rot="10800000" flipH="1">
            <a:off x="810894" y="2984157"/>
            <a:ext cx="2327721" cy="3397276"/>
          </a:xfrm>
          <a:prstGeom prst="curvedConnector4">
            <a:avLst>
              <a:gd name="adj1" fmla="val -9821"/>
              <a:gd name="adj2" fmla="val 5429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 flipH="1" flipV="1">
            <a:off x="5142595" y="3115316"/>
            <a:ext cx="4079503" cy="2205717"/>
          </a:xfrm>
          <a:prstGeom prst="curvedConnector3">
            <a:avLst>
              <a:gd name="adj1" fmla="val 6681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231" y="1"/>
            <a:ext cx="10058400" cy="648730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Chaining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builder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335692" y="595842"/>
            <a:ext cx="6096000" cy="63709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"Steaming up the buns"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Bread::</a:t>
            </a:r>
            <a:r>
              <a:rPr lang="en-US" sz="1200" dirty="0" err="1">
                <a:solidFill>
                  <a:srgbClr val="098658"/>
                </a:solidFill>
                <a:latin typeface="Consolas" panose="020B0609020204030204" pitchFamily="49" charset="0"/>
              </a:rPr>
              <a:t>HotdogBun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"Boiling the hotdog in brine"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Dog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"Placing the hotdog into box"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Box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Hotdog"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Onions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"Drizzling the sauces"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Mustard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04080" y="411176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"Toasting bread in toaster"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Bread::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Toast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"Sizzling bacon in cast iron pan"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Protein::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Bacon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"Wrapping up in a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decompostable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plastic wrap"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Wrapper::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Plastic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"Loading up the BLT"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Lettuce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(Side::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Tomato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"Drizzling with the sauces"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AddSauce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(Sauce::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Mayo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771223" y="1963626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67321" y="829637"/>
            <a:ext cx="2005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concreteChainBuilder.h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1321" y="1137414"/>
            <a:ext cx="2005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concreteChainBuilder.h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821" y="58324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Chaining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builder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247135" y="1667668"/>
            <a:ext cx="846437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concreteChainBuilder.h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Sandwich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CreateChainSandwich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ChainSandwichBuilder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builder)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builder.AddBread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builder.ReturnProduct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Burger: ------"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</a:t>
            </a:r>
            <a:endParaRPr lang="en-US" sz="1400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CreateChainSandwich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// Pass by reference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Hotdog: -----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CreateChainSandwich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"Creating BLT: ----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CreateChainSandwich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12211" y="1896920"/>
            <a:ext cx="331161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Burger: ------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up the </a:t>
            </a:r>
            <a:r>
              <a:rPr lang="en-US" sz="1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Burger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with 100% recycled </a:t>
            </a:r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</a:p>
          <a:p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Hotdog: -----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Hotdog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Placing the hotdog into </a:t>
            </a:r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</a:p>
          <a:p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BLT: ----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BLT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up in a </a:t>
            </a:r>
            <a:r>
              <a:rPr lang="en-US" sz="1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decompostable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plastic wrap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8020153" y="2179869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90611" y="4971044"/>
            <a:ext cx="1763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builderChainMain.h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99" y="0"/>
            <a:ext cx="10058400" cy="104102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Director Class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5946" y="1041023"/>
            <a:ext cx="6713838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concreteBuilder.h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Director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*builder;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SetBuilderType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SandwichBuilder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builder)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-&gt;builder = builder;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Dine In Order: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DrizzleSauces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DineInOrder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Takeout Order: Steps from Dine In Order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AddWrapper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TakeoutOrder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LoadSides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AddWrapper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63497" y="1749964"/>
            <a:ext cx="6096000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Order without Sauces: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LoadSides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NoSauce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Order No Sides: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-&gt;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DrizzleSauces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NoSides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AddBread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AddProtein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DrizzleSauces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builder-&gt;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ReturnProduct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74000" y="1442187"/>
            <a:ext cx="927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director.h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1422" y="5283977"/>
            <a:ext cx="854057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17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go further and extract a series of calls to the builder steps </a:t>
            </a:r>
            <a:r>
              <a:rPr lang="en-US" sz="17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sz="17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a product into a separate class called 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</a:t>
            </a:r>
            <a:r>
              <a:rPr lang="en-US" sz="17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700" i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7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 class defines the order in which to execute the building steps, while the builder provides the implementation for those steps.</a:t>
            </a:r>
            <a:endParaRPr lang="en-US" sz="17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563497" y="1419115"/>
            <a:ext cx="6179" cy="37710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81" y="-59065"/>
            <a:ext cx="10121172" cy="128475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 Class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8798" y="764024"/>
            <a:ext cx="479853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director.h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Director d;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Sandwich s;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Make Burger Orders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d.SetBuilderType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BurgerBuilder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d.TakeoutOrder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d.DineInOrder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d.NoSauce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d.NoSides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"------------"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Make Hotdog Orders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d.SetBuilderType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HotdogBuilder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d.TakeoutOrder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d.DineInOrder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d.NoSauce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d.NoSides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"------------"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Make BLT Orders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d.SetBuilderType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BLTBuilder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d.TakeoutOrder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d.DineInOrder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d.NoSauce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d.NoSides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51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7362" y="804672"/>
            <a:ext cx="367514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the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Burger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with 100% recycled paper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up the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Burger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up the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up the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Seasame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Sprinked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Grilling the Wagyu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Hotdog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Placing the hotdog into box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Hotdog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Steaming up the buns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Boiling the hotdog in brine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the sauces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2081" y="1609344"/>
            <a:ext cx="318598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BLT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Wrapping up in a </a:t>
            </a:r>
            <a:r>
              <a:rPr lang="en-US" sz="11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decompostable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plastic wrap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up the BLT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Toasting bread in toaster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Sizzling bacon in cast iron pan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Drizzling with the sauces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00966" y="1271648"/>
            <a:ext cx="19564" cy="38069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</TotalTime>
  <Words>703</Words>
  <Application>Microsoft Office PowerPoint</Application>
  <PresentationFormat>Widescreen</PresentationFormat>
  <Paragraphs>564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Consolas</vt:lpstr>
      <vt:lpstr>Rockwell</vt:lpstr>
      <vt:lpstr>Rockwell Condensed</vt:lpstr>
      <vt:lpstr>source-serif-pro</vt:lpstr>
      <vt:lpstr>Times New Roman</vt:lpstr>
      <vt:lpstr>Wingdings</vt:lpstr>
      <vt:lpstr>Wood Type</vt:lpstr>
      <vt:lpstr>CSE327  Software Engineering</vt:lpstr>
      <vt:lpstr>Builder Design Pattern</vt:lpstr>
      <vt:lpstr>Traditional OOP</vt:lpstr>
      <vt:lpstr>Traditional OOP (Object Creation)</vt:lpstr>
      <vt:lpstr>Builder Pattern</vt:lpstr>
      <vt:lpstr>Builder Pattern</vt:lpstr>
      <vt:lpstr>Builder Pattern</vt:lpstr>
      <vt:lpstr>Method Chaining in builder</vt:lpstr>
      <vt:lpstr>Method Chaining in builder</vt:lpstr>
      <vt:lpstr>Method Chaining in builder</vt:lpstr>
      <vt:lpstr>Director Class</vt:lpstr>
      <vt:lpstr>Director Class</vt:lpstr>
      <vt:lpstr>Output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75</cp:revision>
  <dcterms:created xsi:type="dcterms:W3CDTF">2024-09-23T05:24:00Z</dcterms:created>
  <dcterms:modified xsi:type="dcterms:W3CDTF">2025-03-12T14:26:01Z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2FD73A925CA14DAF973D375199E28D94_12</vt:lpwstr>
  </property>
  <property fmtid="{D5CDD505-2E9C-101B-9397-08002B2CF9AE}" pid="3" name="KSOProductBuildVer">
    <vt:lpwstr>1033-12.2.0.20326</vt:lpwstr>
  </property>
</Properties>
</file>